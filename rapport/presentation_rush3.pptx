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valeurs</c:v>
                </c:pt>
              </c:strCache>
            </c:strRef>
          </c:tx>
          <c:invertIfNegative val="0"/>
          <c:dPt>
            <c:idx val="0"/>
            <c:invertIfNegative val="0"/>
            <c:spPr>
              <a:solidFill>
                <a:srgbClr val="009925"/>
              </a:solidFill>
              <a:ln>
                <a:noFill/>
              </a:ln>
            </c:spPr>
          </c:dPt>
          <c:dPt>
            <c:idx val="1"/>
            <c:invertIfNegative val="0"/>
            <c:spPr>
              <a:solidFill>
                <a:srgbClr val="009925"/>
              </a:solidFill>
              <a:ln>
                <a:noFill/>
              </a:ln>
            </c:spPr>
          </c:dPt>
          <c:dPt>
            <c:idx val="2"/>
            <c:invertIfNegative val="0"/>
            <c:spPr>
              <a:solidFill>
                <a:srgbClr val="009925"/>
              </a:solidFill>
              <a:ln>
                <a:noFill/>
              </a:ln>
            </c:spPr>
          </c:dPt>
          <c:dPt>
            <c:idx val="3"/>
            <c:invertIfNegative val="0"/>
            <c:spPr>
              <a:solidFill>
                <a:srgbClr val="009925"/>
              </a:solidFill>
              <a:ln>
                <a:noFill/>
              </a:ln>
            </c:spPr>
          </c:dPt>
          <c:dPt>
            <c:idx val="4"/>
            <c:invertIfNegative val="0"/>
            <c:spPr>
              <a:solidFill>
                <a:srgbClr val="009925"/>
              </a:solidFill>
              <a:ln>
                <a:noFill/>
              </a:ln>
            </c:spPr>
          </c:dPt>
          <c:dPt>
            <c:idx val="5"/>
            <c:invertIfNegative val="0"/>
            <c:spPr>
              <a:solidFill>
                <a:srgbClr val="009925"/>
              </a:solidFill>
              <a:ln>
                <a:noFill/>
              </a:ln>
            </c:spPr>
          </c:dPt>
          <c:dPt>
            <c:idx val="6"/>
            <c:invertIfNegative val="0"/>
            <c:spPr>
              <a:solidFill>
                <a:srgbClr val="009925"/>
              </a:solidFill>
              <a:ln>
                <a:noFill/>
              </a:ln>
            </c:spPr>
          </c:dPt>
          <c:cat>
            <c:strRef>
              <c:f>Sheet1!$A$2:$A$8</c:f>
              <c:strCache>
                <c:ptCount val="7"/>
                <c:pt idx="0">
                  <c:v>Voyage pro</c:v>
                </c:pt>
                <c:pt idx="1">
                  <c:v>Voyage perso</c:v>
                </c:pt>
                <c:pt idx="2">
                  <c:v>Classe Business</c:v>
                </c:pt>
                <c:pt idx="3">
                  <c:v>Classe Eco Plus</c:v>
                </c:pt>
                <c:pt idx="4">
                  <c:v>Classe Eco</c:v>
                </c:pt>
                <c:pt idx="5">
                  <c:v>Clients fidèles</c:v>
                </c:pt>
                <c:pt idx="6">
                  <c:v>Clients non fidèles</c:v>
                </c:pt>
              </c:strCache>
            </c:strRef>
          </c:cat>
          <c:val>
            <c:numRef>
              <c:f>Sheet1!$B$2:$B$8</c:f>
              <c:numCache>
                <c:formatCode>General</c:formatCode>
                <c:ptCount val="7"/>
                <c:pt idx="0">
                  <c:v>58.3</c:v>
                </c:pt>
                <c:pt idx="1">
                  <c:v>10.2</c:v>
                </c:pt>
                <c:pt idx="2">
                  <c:v>69.4</c:v>
                </c:pt>
                <c:pt idx="3">
                  <c:v>24.6</c:v>
                </c:pt>
                <c:pt idx="4">
                  <c:v>18.6</c:v>
                </c:pt>
                <c:pt idx="5">
                  <c:v>47.7</c:v>
                </c:pt>
                <c:pt idx="6">
                  <c:v>23.7</c:v>
                </c:pt>
              </c:numCache>
            </c:numRef>
          </c:val>
        </c:ser>
        <c:dLbls>
          <c:numFmt formatCode="0.0&quot; %&quot;" sourceLinked="0"/>
          <c:txPr>
            <a:bodyPr/>
            <a:lstStyle/>
            <a:p>
              <a:pPr>
                <a:defRPr sz="1300" b="1">
                  <a:solidFill>
                    <a:srgbClr val="000000"/>
                  </a:solidFill>
                  <a:latin typeface="Aria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low"/>
        <c:spPr>
          <a:ln>
            <a:solidFill>
              <a:srgbClr val="D9D9D9"/>
            </a:solidFill>
          </a:ln>
        </c:spPr>
        <c:txPr>
          <a:bodyPr/>
          <a:lstStyle/>
          <a:p>
            <a:pPr>
              <a:defRPr sz="1300">
                <a:solidFill>
                  <a:srgbClr val="000000"/>
                </a:solidFill>
                <a:latin typeface="Arial"/>
              </a:defRPr>
            </a:pPr>
          </a:p>
        </c:txPr>
        <c:crossAx val="-2113994440"/>
        <c:crosses val="autoZero"/>
        <c:auto val="1"/>
        <c:lblAlgn val="ctr"/>
        <c:lblOffset val="100"/>
        <c:noMultiLvlLbl val="0"/>
      </c:catAx>
      <c:valAx>
        <c:axId val="-2113994440"/>
        <c:scaling>
          <c:max val="85.0"/>
          <c:min val="0.0"/>
        </c:scaling>
        <c:delete/>
        <c:axPos val="b"/>
        <c:majorTickMark val="out"/>
        <c:minorTickMark val="none"/>
        <c:tickLblPos val="nextTo"/>
        <c:crossAx val="-2068027336"/>
        <c:crosses val="autoZero"/>
      </c:valAx>
    </c:plotArea>
    <c:dispBlanksAs val="gap"/>
  </c:chart>
  <c:txPr>
    <a:bodyPr/>
    <a:lstStyle/>
    <a:p>
      <a:pPr>
        <a:defRPr sz="13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valeurs</c:v>
                </c:pt>
              </c:strCache>
            </c:strRef>
          </c:tx>
          <c:invertIfNegative val="0"/>
          <c:dPt>
            <c:idx val="0"/>
            <c:invertIfNegative val="0"/>
            <c:spPr>
              <a:solidFill>
                <a:srgbClr val="0055FF"/>
              </a:solidFill>
              <a:ln>
                <a:noFill/>
              </a:ln>
            </c:spPr>
          </c:dPt>
          <c:dPt>
            <c:idx val="1"/>
            <c:invertIfNegative val="0"/>
            <c:spPr>
              <a:solidFill>
                <a:srgbClr val="0055FF"/>
              </a:solidFill>
              <a:ln>
                <a:noFill/>
              </a:ln>
            </c:spPr>
          </c:dPt>
          <c:dPt>
            <c:idx val="2"/>
            <c:invertIfNegative val="0"/>
            <c:spPr>
              <a:solidFill>
                <a:srgbClr val="0055FF"/>
              </a:solidFill>
              <a:ln>
                <a:noFill/>
              </a:ln>
            </c:spPr>
          </c:dPt>
          <c:dPt>
            <c:idx val="3"/>
            <c:invertIfNegative val="0"/>
            <c:spPr>
              <a:solidFill>
                <a:srgbClr val="D9D9D9"/>
              </a:solidFill>
              <a:ln>
                <a:noFill/>
              </a:ln>
            </c:spPr>
          </c:dPt>
          <c:dPt>
            <c:idx val="4"/>
            <c:invertIfNegative val="0"/>
            <c:spPr>
              <a:solidFill>
                <a:srgbClr val="D9D9D9"/>
              </a:solidFill>
              <a:ln>
                <a:noFill/>
              </a:ln>
            </c:spPr>
          </c:dPt>
          <c:dPt>
            <c:idx val="5"/>
            <c:invertIfNegative val="0"/>
            <c:spPr>
              <a:solidFill>
                <a:srgbClr val="D9D9D9"/>
              </a:solidFill>
              <a:ln>
                <a:noFill/>
              </a:ln>
            </c:spPr>
          </c:dPt>
          <c:dPt>
            <c:idx val="6"/>
            <c:invertIfNegative val="0"/>
            <c:spPr>
              <a:solidFill>
                <a:srgbClr val="D9D9D9"/>
              </a:solidFill>
              <a:ln>
                <a:noFill/>
              </a:ln>
            </c:spPr>
          </c:dPt>
          <c:dPt>
            <c:idx val="7"/>
            <c:invertIfNegative val="0"/>
            <c:spPr>
              <a:solidFill>
                <a:srgbClr val="D9D9D9"/>
              </a:solidFill>
              <a:ln>
                <a:noFill/>
              </a:ln>
            </c:spPr>
          </c:dPt>
          <c:dPt>
            <c:idx val="8"/>
            <c:invertIfNegative val="0"/>
            <c:spPr>
              <a:solidFill>
                <a:srgbClr val="D9D9D9"/>
              </a:solidFill>
              <a:ln>
                <a:noFill/>
              </a:ln>
            </c:spPr>
          </c:dPt>
          <c:dPt>
            <c:idx val="9"/>
            <c:invertIfNegative val="0"/>
            <c:spPr>
              <a:solidFill>
                <a:srgbClr val="D9D9D9"/>
              </a:solidFill>
              <a:ln>
                <a:noFill/>
              </a:ln>
            </c:spPr>
          </c:dPt>
          <c:dPt>
            <c:idx val="10"/>
            <c:invertIfNegative val="0"/>
            <c:spPr>
              <a:solidFill>
                <a:srgbClr val="D9D9D9"/>
              </a:solidFill>
              <a:ln>
                <a:noFill/>
              </a:ln>
            </c:spPr>
          </c:dPt>
          <c:dPt>
            <c:idx val="11"/>
            <c:invertIfNegative val="0"/>
            <c:spPr>
              <a:solidFill>
                <a:srgbClr val="D9D9D9"/>
              </a:solidFill>
              <a:ln>
                <a:noFill/>
              </a:ln>
            </c:spPr>
          </c:dPt>
          <c:dPt>
            <c:idx val="12"/>
            <c:invertIfNegative val="0"/>
            <c:spPr>
              <a:solidFill>
                <a:srgbClr val="D9D9D9"/>
              </a:solidFill>
              <a:ln>
                <a:noFill/>
              </a:ln>
            </c:spPr>
          </c:dPt>
          <c:dPt>
            <c:idx val="13"/>
            <c:invertIfNegative val="0"/>
            <c:spPr>
              <a:solidFill>
                <a:srgbClr val="D9D9D9"/>
              </a:solidFill>
              <a:ln>
                <a:noFill/>
              </a:ln>
            </c:spPr>
          </c:dPt>
          <c:cat>
            <c:strRef>
              <c:f>Sheet1!$A$2:$A$15</c:f>
              <c:strCache>
                <c:ptCount val="14"/>
                <c:pt idx="0">
                  <c:v>Embarquement en ligne</c:v>
                </c:pt>
                <c:pt idx="1">
                  <c:v>Divertissement à bord</c:v>
                </c:pt>
                <c:pt idx="2">
                  <c:v>Wi-Fi en vol</c:v>
                </c:pt>
                <c:pt idx="3">
                  <c:v>Confort du siège</c:v>
                </c:pt>
                <c:pt idx="4">
                  <c:v>Service à bord</c:v>
                </c:pt>
                <c:pt idx="5">
                  <c:v>Espace pour les jambes</c:v>
                </c:pt>
                <c:pt idx="6">
                  <c:v>Propreté</c:v>
                </c:pt>
                <c:pt idx="7">
                  <c:v>Réservation en ligne</c:v>
                </c:pt>
                <c:pt idx="8">
                  <c:v>Enregistrement</c:v>
                </c:pt>
                <c:pt idx="9">
                  <c:v>Bagages</c:v>
                </c:pt>
                <c:pt idx="10">
                  <c:v>Service en vol</c:v>
                </c:pt>
                <c:pt idx="11">
                  <c:v>Repas et boissons</c:v>
                </c:pt>
                <c:pt idx="12">
                  <c:v>Porte d'embarquement</c:v>
                </c:pt>
                <c:pt idx="13">
                  <c:v>Horaires pratiques</c:v>
                </c:pt>
              </c:strCache>
            </c:strRef>
          </c:cat>
          <c:val>
            <c:numRef>
              <c:f>Sheet1!$B$2:$B$15</c:f>
              <c:numCache>
                <c:formatCode>General</c:formatCode>
                <c:ptCount val="14"/>
                <c:pt idx="0">
                  <c:v>1.45</c:v>
                </c:pt>
                <c:pt idx="1">
                  <c:v>1.07</c:v>
                </c:pt>
                <c:pt idx="2">
                  <c:v>0.99</c:v>
                </c:pt>
                <c:pt idx="3">
                  <c:v>0.93</c:v>
                </c:pt>
                <c:pt idx="4">
                  <c:v>0.84</c:v>
                </c:pt>
                <c:pt idx="5">
                  <c:v>0.83</c:v>
                </c:pt>
                <c:pt idx="6">
                  <c:v>0.81</c:v>
                </c:pt>
                <c:pt idx="7">
                  <c:v>0.63</c:v>
                </c:pt>
                <c:pt idx="8">
                  <c:v>0.6</c:v>
                </c:pt>
                <c:pt idx="9">
                  <c:v>0.59</c:v>
                </c:pt>
                <c:pt idx="10">
                  <c:v>0.58</c:v>
                </c:pt>
                <c:pt idx="11">
                  <c:v>0.56</c:v>
                </c:pt>
                <c:pt idx="12">
                  <c:v>0.0</c:v>
                </c:pt>
                <c:pt idx="13">
                  <c:v>-0.14</c:v>
                </c:pt>
              </c:numCache>
            </c:numRef>
          </c:val>
        </c:ser>
        <c:dLbls>
          <c:numFmt formatCode="0.00" sourceLinked="0"/>
          <c:txPr>
            <a:bodyPr/>
            <a:lstStyle/>
            <a:p>
              <a:pPr>
                <a:defRPr sz="1300" b="1">
                  <a:solidFill>
                    <a:srgbClr val="000000"/>
                  </a:solidFill>
                  <a:latin typeface="Aria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low"/>
        <c:spPr>
          <a:ln>
            <a:solidFill>
              <a:srgbClr val="D9D9D9"/>
            </a:solidFill>
          </a:ln>
        </c:spPr>
        <c:txPr>
          <a:bodyPr/>
          <a:lstStyle/>
          <a:p>
            <a:pPr>
              <a:defRPr sz="1300">
                <a:solidFill>
                  <a:srgbClr val="000000"/>
                </a:solidFill>
                <a:latin typeface="Arial"/>
              </a:defRPr>
            </a:pPr>
          </a:p>
        </c:txPr>
        <c:crossAx val="-2113994440"/>
        <c:crosses val="autoZero"/>
        <c:auto val="1"/>
        <c:lblAlgn val="ctr"/>
        <c:lblOffset val="100"/>
        <c:noMultiLvlLbl val="0"/>
      </c:catAx>
      <c:valAx>
        <c:axId val="-2113994440"/>
        <c:scaling>
          <c:max val="1.75"/>
          <c:min val="-0.3"/>
        </c:scaling>
        <c:delete/>
        <c:axPos val="b"/>
        <c:majorTickMark val="out"/>
        <c:minorTickMark val="none"/>
        <c:tickLblPos val="nextTo"/>
        <c:crossAx val="-2068027336"/>
        <c:crosses val="autoZero"/>
      </c:valAx>
    </c:plotArea>
    <c:dispBlanksAs val="gap"/>
  </c:chart>
  <c:txPr>
    <a:bodyPr/>
    <a:lstStyle/>
    <a:p>
      <a:pPr>
        <a:defRPr sz="13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valeurs</c:v>
                </c:pt>
              </c:strCache>
            </c:strRef>
          </c:tx>
          <c:invertIfNegative val="0"/>
          <c:dPt>
            <c:idx val="0"/>
            <c:invertIfNegative val="0"/>
            <c:spPr>
              <a:solidFill>
                <a:srgbClr val="D9D9D9"/>
              </a:solidFill>
              <a:ln>
                <a:noFill/>
              </a:ln>
            </c:spPr>
          </c:dPt>
          <c:dPt>
            <c:idx val="1"/>
            <c:invertIfNegative val="0"/>
            <c:spPr>
              <a:solidFill>
                <a:srgbClr val="D9D9D9"/>
              </a:solidFill>
              <a:ln>
                <a:noFill/>
              </a:ln>
            </c:spPr>
          </c:dPt>
          <c:dPt>
            <c:idx val="2"/>
            <c:invertIfNegative val="0"/>
            <c:spPr>
              <a:solidFill>
                <a:srgbClr val="0055FF"/>
              </a:solidFill>
              <a:ln>
                <a:noFill/>
              </a:ln>
            </c:spPr>
          </c:dPt>
          <c:cat>
            <c:strRef>
              <c:f>Sheet1!$A$2:$A$4</c:f>
              <c:strCache>
                <c:ptCount val="3"/>
                <c:pt idx="0">
                  <c:v>Hasard</c:v>
                </c:pt>
                <c:pt idx="1">
                  <c:v>Règle : Eco puis retard</c:v>
                </c:pt>
                <c:pt idx="2">
                  <c:v>Modèle retenu</c:v>
                </c:pt>
              </c:strCache>
            </c:strRef>
          </c:cat>
          <c:val>
            <c:numRef>
              <c:f>Sheet1!$B$2:$B$4</c:f>
              <c:numCache>
                <c:formatCode>General</c:formatCode>
                <c:ptCount val="3"/>
                <c:pt idx="0">
                  <c:v>1429</c:v>
                </c:pt>
                <c:pt idx="1">
                  <c:v>4459</c:v>
                </c:pt>
                <c:pt idx="2">
                  <c:v>5375</c:v>
                </c:pt>
              </c:numCache>
            </c:numRef>
          </c:val>
        </c:ser>
        <c:dLbls>
          <c:numFmt formatCode="#,##0&quot; €&quot;" sourceLinked="0"/>
          <c:txPr>
            <a:bodyPr/>
            <a:lstStyle/>
            <a:p>
              <a:pPr>
                <a:defRPr sz="1300" b="1">
                  <a:solidFill>
                    <a:srgbClr val="000000"/>
                  </a:solidFill>
                  <a:latin typeface="Aria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low"/>
        <c:spPr>
          <a:ln>
            <a:solidFill>
              <a:srgbClr val="D9D9D9"/>
            </a:solidFill>
          </a:ln>
        </c:spPr>
        <c:txPr>
          <a:bodyPr/>
          <a:lstStyle/>
          <a:p>
            <a:pPr>
              <a:defRPr sz="1300">
                <a:solidFill>
                  <a:srgbClr val="000000"/>
                </a:solidFill>
                <a:latin typeface="Arial"/>
              </a:defRPr>
            </a:pPr>
          </a:p>
        </c:txPr>
        <c:crossAx val="-2113994440"/>
        <c:crosses val="autoZero"/>
        <c:auto val="1"/>
        <c:lblAlgn val="ctr"/>
        <c:lblOffset val="100"/>
        <c:noMultiLvlLbl val="0"/>
      </c:catAx>
      <c:valAx>
        <c:axId val="-2113994440"/>
        <c:scaling>
          <c:max val="6600.0"/>
          <c:min val="0.0"/>
        </c:scaling>
        <c:delete/>
        <c:axPos val="b"/>
        <c:majorTickMark val="out"/>
        <c:minorTickMark val="none"/>
        <c:tickLblPos val="nextTo"/>
        <c:crossAx val="-2068027336"/>
        <c:crosses val="autoZero"/>
      </c:valAx>
    </c:plotArea>
    <c:dispBlanksAs val="gap"/>
  </c:chart>
  <c:txPr>
    <a:bodyPr/>
    <a:lstStyle/>
    <a:p>
      <a:pPr>
        <a:defRPr sz="13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Côme — Introduction (20 s). Nous sommes consultants data pour la direction Expérience Client. Plus de la moitié des passagers jugent leur vol neutre ou décevant. Vous nous avez posé deux questions : où investir votre budget, et qui aborder à l'arrivée avant qu'il quitte l'aéroport. Léa répond à la première, Jeanne à la seconde, et je vous présenterai les conditions pour le faire dans le respect des données.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Côme — Synthèse (40 s). Trois messages : 1) la satisfaction est de 43 %, et elle dépend surtout du motif du voyage et de la classe ; le budget doit cibler le parcours numérique, le wi-fi et les cabines. 2) Notre modèle permet d'aborder les bons passagers : sur 100 abordés, 94 sont vraiment mécontents, soit 5 375 € gagnés pour 1 000 passagers. 3) Le dispositif respecte les données : aucun enfant signalé, le minimum d'information pour les agents.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Léa — Données (40 s). Nous avons travaillé sur 103 904 réponses. Le second fichier, 25 976 passagers, représente le mois prochain : nous ne l'avons ouvert qu'une fois, à la fin, pour mesurer le modèle retenu. Nos choix : un 0 veut dire « pas de réponse », pas une mauvaise note ; les 310 retards manquants sont remplacés par le retard au départ, presque identique ; l'identifiant est retiré. Tout est reproductible.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Léa — Profils (50 s). 58 % de satisfaits en voyage pro, seulement 10 % en voyage perso. En classe Business, 69 % ; en Eco, 19 %. Les clients fidèles sont deux fois plus satisfaits. Le genre ne joue presque pas (43 % chez les hommes comme chez les femmes). La classe et le motif du voyage sont de loin les liens les plus forts.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Léa — Services (50 s). Pour chaque service, nous comparons la note moyenne des satisfaits et des mécontents. L'embarquement en ligne arrive en tête (1,45 point d'écart), puis le divertissement et le wi-fi. À l'inverse, l'emplacement de la porte et la commodité des horaires ne sont pas liés à la satisfaction.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Léa — Segments (50 s). Chez les voyageurs pro, la satisfaction se joue sur l'embarquement en ligne, le divertissement et le siège. Chez les voyageurs perso, c'est presque uniquement le numérique : wi-fi (2,10 points d'écart) et réservation en ligne. Une même dépense n'aura donc pas le même effet partout.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Léa — Associé, actionnable, causal (50 s). Un lien statistique ne prouve pas une cause. La classe et le motif du voyage sont très liés à la satisfaction, mais ce sont des caractéristiques du client : on ne peut pas agir dessus directement. Le wi-fi et l'embarquement en ligne, eux, sont des leviers sur lesquels investir. Pour prouver l'effet, il faudra tester l'amélioration sur une partie des vols et comparer.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Jeanne — Variables (40 s). Vos équipes agissent à l'atterrissage : l'enquête n'existe pas encore, et la plupart des passagers n'y répondront jamais. Nous n'utilisons donc que ce que la compagnie sait déjà : classe, âge, fidélité, distance et retards. Nous écartons les notes de service, le motif du voyage, déclaré dans l'enquête, et le genre, qui ne change rien et poserait un risque de discrimination.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Jeanne — Règle du jeu (50 s). Pour comparer les approches, il faut la même règle du jeu. D'abord, on juge en euros avec vos propres chiffres : chaque approche classe les passagers et vos équipes abordent les 10 % en tête. Un vrai mécontent abordé rapporte 60 € en moyenne, un passager satisfait abordé coûte 40 €. Ensuite, on fait passer à tous le même examen : on coupe les 103 904 avis en 5 parts, on apprend sur 4 et on note la 5e, cinq fois. Chaque passager est ainsi noté par un modèle qui ne l'a jamais vu, comme vos passagers du mois prochain. Le fichier test, lui, est resté fermé jusqu'à la toute fin.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Jeanne — Les approches (60 s). Nous sommes partis du plus simple. Au hasard : 1 655 € pour 1 000 passagers. Aborder les plus retardés : 2 422 €. La meilleure règle qu'un agent peut appliquer seul, la classe Eco d'abord puis les plus retardés : 4 744 €. C'est le score à battre. La régression logistique, le modèle le plus classique, fait moins bien que cette règle : elle additionne un poids par information, sans voir les combinaisons. Le gradient boosting atteint 5 512 €, soit 768 € de plus que la règle. Nous avons aussi testé une forêt aléatoire, écartée car elle ne donnait pas les mêmes chiffres d'une exécution à l'autre.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Jeanne — Le gradient boosting (60 s). Le principe est simple. Une première petite règle trie grossièrement les passagers, par exemple : est-il en classe Eco ? Elle se trompe sur certains. Une deuxième règle se concentre sur ces erreurs : est-il peu fidèle, a-t-il eu du retard ? Et ainsi de suite, une centaine de fois. Le score final est la somme de tous ces avis. C'est pour ça qu'il fait mieux que la régression logistique : il voit les combinaisons, comme « Eco et peu fidèle et en retard ». L'idée vient de Robert Schapire en 1990 : des règles faibles, combinées, donnent une règle forte. Jerome Friedman, à Stanford, a formalisé le gradient boosting en 2001. C'est aujourd'hui la méthode de référence sur ce type de données.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Jeanne — Le choix (50 s). Nous n'avons pas choisi seulement sur le score. Quatre critères : ce que ça rapporte, le fait de n'utiliser que des informations connues à l'atterrissage, la reproductibilité, et la possibilité de vous l'expliquer. La règle simple est la plus facile à expliquer, mais elle rapporte 768 € de moins pour 1 000 passagers. La régression logistique fait moins bien que la règle. La forêt aléatoire ne donne pas deux fois le même résultat. Le gradient boosting coche les quatre cases, et je vais vous montrer sur quoi il se base.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Jeanne — Pourquoi un modèle (50 s). Le motif du voyage prédit très bien l'insatisfaction : si on le connaissait, une règle simple, « voyage perso d'abord », rapporterait presque autant qu'un modèle. Mais la compagnie ne le connaît pas pour les passagers qui n'ont pas répondu. Sans lui, la meilleure règle tombe à 4 744 €, et notre modèle rapporte 768 € de plus pour 1 000 passagers. C'est là qu'il se justifie.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Jeanne — Ce qui guide le modèle (50 s). Pour savoir sur quoi il se base, on brouille une information à la fois et on regarde combien il se trompe ensuite. La classe du billet compte de loin le plus, puis l'âge et la fidélité ; les retards et la distance comptent peu. Résultat : il désigne surtout des passagers en Eco, 80 % contre 45 % en moyenne, peu fidèles, plutôt jeunes et un peu retardés. Et 95 % d'entre eux sont vraiment mécontents. Vous pouvez l'expliquer en une phrase à votre comité.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Jeanne — Résultat (50 s). Vos équipes peuvent aborder un passager sur dix. Le modèle donne un score de risque à chacun et désigne les 10 % les plus à risque. Testé sur 26 000 passagers qu'il n'avait jamais vus : 94 abordés sur 100 sont vraiment mécontents. Calcul : 94 mécontents, un sur trois serait parti, l'approche en ramène la moitié, soit environ 16 clients gardés à 600 € ; moins 100 approches à 40 €. Environ 5 400 € pour 1 000 passagers.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Jeanne — Comparaison (40 s). Au hasard, on gagnerait 1 429 € ; avec la meilleure règle qu'un agent pourrait appliquer sans outil, 4 459 € ; avec le modèle, 5 375 €. Le résultat sur ces passagers jamais vus est presque identique à celui de notre validation croisée : 5 386 €. La performance annoncée n'est pas surestimée. Je passe la parole à Côme pour les conditions d'usage.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Côme — Mineurs (50 s). Sans précaution, près d'un passager signalé sur quatre serait un enfant. Nous avons décidé qu'aucun mineur n'est jamais signalé : cela ne coûte que 2 % du gain. Retirer l'âge du modèle semblait plus respectueux, mais le modèle retrouverait quand même des enfants par d'autres indices, et perdrait plus : c'est justement l'âge qui permet de les exclure. L'âge n'est jamais montré aux agents.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Côme — Conditions (50 s). L'enquête servait à mesurer la satisfaction ; signaler des passagers qui n'ont jamais répondu est un nouvel usage. Il est acceptable à quatre conditions : informer les passagers et leur permettre de refuser, sur la base de l'intérêt légitime et après une analyse d'impact ; protéger les enfants ; limiter les informations utilisées ; montrer le minimum aux agents et ne pas conserver les signalements.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Côme — Écran agent (40 s). Concrètement, l'agent ne voit qu'un siège, un motif factuel comme un retard, et une action simple et positive. Il ne voit jamais le score, l'âge, le genre, ni une étiquette « mécontent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Léa — Budget (50 s). Même avec le meilleur modèle, les équipes ne peuvent aborder qu'un passager sur dix : environ 470 mécontents sur 1 000 ne seront jamais abordés. Pour eux, le seul levier est le service. Nos priorités : le parcours numérique, le wi-fi en vol, puis les cabines sur les lignes affaires. Pas de budget pour les portes ou les horaires, qui ne sont pas liés à la satisfaction.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Côme — Décision (40 s). Nous vous demandons trois décisions : financer les services prioritaires ; lancer un pilote d'accueil avec un groupe témoin, car c'est le seul moyen de prouver que l'approche fait revenir les clients ; et encadrer l'usage des données avant tout déploiement. Merci, nous sommes prêts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9.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png"/><Relationship Id="rId7" Type="http://schemas.openxmlformats.org/officeDocument/2006/relationships/image" Target="../media/image13.png"/><Relationship Id="rId8" Type="http://schemas.openxmlformats.org/officeDocument/2006/relationships/image" Target="../media/image6.png"/><Relationship Id="rId9" Type="http://schemas.openxmlformats.org/officeDocument/2006/relationships/image" Target="../media/image4.png"/><Relationship Id="rId10" Type="http://schemas.openxmlformats.org/officeDocument/2006/relationships/image" Target="../media/image20.png"/><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5.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10.png"/><Relationship Id="rId4" Type="http://schemas.openxmlformats.org/officeDocument/2006/relationships/image" Target="../media/image9.png"/><Relationship Id="rId5" Type="http://schemas.openxmlformats.org/officeDocument/2006/relationships/image" Target="../media/image22.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3.png"/><Relationship Id="rId4" Type="http://schemas.openxmlformats.org/officeDocument/2006/relationships/image" Target="../media/image14.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7.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14.png"/><Relationship Id="rId6" Type="http://schemas.openxmlformats.org/officeDocument/2006/relationships/image" Target="../media/image21.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4.png"/><Relationship Id="rId4" Type="http://schemas.openxmlformats.org/officeDocument/2006/relationships/image" Target="../media/image23.png"/><Relationship Id="rId5"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ounded Rectangle 1"/>
          <p:cNvSpPr/>
          <p:nvPr/>
        </p:nvSpPr>
        <p:spPr>
          <a:xfrm>
            <a:off x="508406" y="685800"/>
            <a:ext cx="11174882" cy="3246120"/>
          </a:xfrm>
          <a:prstGeom prst="roundRect">
            <a:avLst>
              <a:gd name="adj" fmla="val 845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9886" y="1024128"/>
            <a:ext cx="164592" cy="164592"/>
          </a:xfrm>
          <a:prstGeom prst="ellipse">
            <a:avLst/>
          </a:prstGeom>
          <a:solidFill>
            <a:srgbClr val="009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48486" y="1024128"/>
            <a:ext cx="164592" cy="164592"/>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377086" y="1024128"/>
            <a:ext cx="164592" cy="164592"/>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605686" y="1024128"/>
            <a:ext cx="164592" cy="164592"/>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834286" y="1024128"/>
            <a:ext cx="164592" cy="164592"/>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9886" y="1325880"/>
            <a:ext cx="7863840" cy="1188720"/>
          </a:xfrm>
          <a:prstGeom prst="rect">
            <a:avLst/>
          </a:prstGeom>
          <a:noFill/>
        </p:spPr>
        <p:txBody>
          <a:bodyPr wrap="square" lIns="0" rIns="0" tIns="0" bIns="0" anchor="ctr">
            <a:spAutoFit/>
          </a:bodyPr>
          <a:lstStyle/>
          <a:p>
            <a:pPr algn="l"/>
            <a:r>
              <a:rPr sz="8400" b="1">
                <a:solidFill>
                  <a:srgbClr val="000000"/>
                </a:solidFill>
                <a:latin typeface="Arial"/>
              </a:rPr>
              <a:t>Satisfaction</a:t>
            </a:r>
          </a:p>
        </p:txBody>
      </p:sp>
      <p:pic>
        <p:nvPicPr>
          <p:cNvPr id="9" name="Picture 8" descr="satisfait.png"/>
          <p:cNvPicPr>
            <a:picLocks noChangeAspect="1"/>
          </p:cNvPicPr>
          <p:nvPr/>
        </p:nvPicPr>
        <p:blipFill>
          <a:blip r:embed="rId2"/>
          <a:stretch>
            <a:fillRect/>
          </a:stretch>
        </p:blipFill>
        <p:spPr>
          <a:xfrm>
            <a:off x="8549640" y="1481328"/>
            <a:ext cx="896112" cy="896112"/>
          </a:xfrm>
          <a:prstGeom prst="rect">
            <a:avLst/>
          </a:prstGeom>
        </p:spPr>
      </p:pic>
      <p:pic>
        <p:nvPicPr>
          <p:cNvPr id="10" name="Picture 9" descr="avion.png"/>
          <p:cNvPicPr>
            <a:picLocks noChangeAspect="1"/>
          </p:cNvPicPr>
          <p:nvPr/>
        </p:nvPicPr>
        <p:blipFill>
          <a:blip r:embed="rId3"/>
          <a:stretch>
            <a:fillRect/>
          </a:stretch>
        </p:blipFill>
        <p:spPr>
          <a:xfrm>
            <a:off x="9582912" y="1481328"/>
            <a:ext cx="896112" cy="896112"/>
          </a:xfrm>
          <a:prstGeom prst="rect">
            <a:avLst/>
          </a:prstGeom>
        </p:spPr>
      </p:pic>
      <p:pic>
        <p:nvPicPr>
          <p:cNvPr id="11" name="Picture 10" descr="passager.png"/>
          <p:cNvPicPr>
            <a:picLocks noChangeAspect="1"/>
          </p:cNvPicPr>
          <p:nvPr/>
        </p:nvPicPr>
        <p:blipFill>
          <a:blip r:embed="rId4"/>
          <a:stretch>
            <a:fillRect/>
          </a:stretch>
        </p:blipFill>
        <p:spPr>
          <a:xfrm>
            <a:off x="919886" y="2670048"/>
            <a:ext cx="896112" cy="896112"/>
          </a:xfrm>
          <a:prstGeom prst="rect">
            <a:avLst/>
          </a:prstGeom>
        </p:spPr>
      </p:pic>
      <p:sp>
        <p:nvSpPr>
          <p:cNvPr id="12" name="TextBox 11"/>
          <p:cNvSpPr txBox="1"/>
          <p:nvPr/>
        </p:nvSpPr>
        <p:spPr>
          <a:xfrm>
            <a:off x="2017166" y="2514600"/>
            <a:ext cx="7315200" cy="1188720"/>
          </a:xfrm>
          <a:prstGeom prst="rect">
            <a:avLst/>
          </a:prstGeom>
          <a:noFill/>
        </p:spPr>
        <p:txBody>
          <a:bodyPr wrap="square" lIns="0" rIns="0" tIns="0" bIns="0" anchor="ctr">
            <a:spAutoFit/>
          </a:bodyPr>
          <a:lstStyle/>
          <a:p>
            <a:pPr algn="l"/>
            <a:r>
              <a:rPr sz="8400" b="1">
                <a:solidFill>
                  <a:srgbClr val="000000"/>
                </a:solidFill>
                <a:latin typeface="Arial"/>
              </a:rPr>
              <a:t>passagers</a:t>
            </a:r>
          </a:p>
        </p:txBody>
      </p:sp>
      <p:sp>
        <p:nvSpPr>
          <p:cNvPr id="13" name="Rounded Rectangle 12"/>
          <p:cNvSpPr/>
          <p:nvPr/>
        </p:nvSpPr>
        <p:spPr>
          <a:xfrm>
            <a:off x="508406" y="4160520"/>
            <a:ext cx="11174882" cy="1508760"/>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19886" y="4462272"/>
            <a:ext cx="164592" cy="164592"/>
          </a:xfrm>
          <a:prstGeom prst="ellipse">
            <a:avLst/>
          </a:prstGeom>
          <a:solidFill>
            <a:srgbClr val="FFB3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48486" y="4462272"/>
            <a:ext cx="164592" cy="164592"/>
          </a:xfrm>
          <a:prstGeom prst="ellipse">
            <a:avLst/>
          </a:prstGeom>
          <a:solidFill>
            <a:srgbClr val="A885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77086" y="4462272"/>
            <a:ext cx="164592" cy="164592"/>
          </a:xfrm>
          <a:prstGeom prst="ellipse">
            <a:avLst/>
          </a:prstGeom>
          <a:solidFill>
            <a:srgbClr val="FF6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605686" y="4462272"/>
            <a:ext cx="164592" cy="164592"/>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34286" y="4462272"/>
            <a:ext cx="164592" cy="164592"/>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062886" y="4462272"/>
            <a:ext cx="164592" cy="164592"/>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9886" y="4754880"/>
            <a:ext cx="6400800" cy="640080"/>
          </a:xfrm>
          <a:prstGeom prst="rect">
            <a:avLst/>
          </a:prstGeom>
          <a:noFill/>
        </p:spPr>
        <p:txBody>
          <a:bodyPr wrap="square" lIns="0" rIns="0" tIns="0" bIns="0" anchor="ctr">
            <a:spAutoFit/>
          </a:bodyPr>
          <a:lstStyle/>
          <a:p>
            <a:pPr algn="l"/>
            <a:r>
              <a:rPr sz="2600" b="1">
                <a:solidFill>
                  <a:srgbClr val="000000"/>
                </a:solidFill>
                <a:latin typeface="Arial"/>
              </a:rPr>
              <a:t>Où investir, et qui aborder à l'arrivée</a:t>
            </a:r>
          </a:p>
        </p:txBody>
      </p:sp>
      <p:pic>
        <p:nvPicPr>
          <p:cNvPr id="21" name="Picture 20" descr="valise.png"/>
          <p:cNvPicPr>
            <a:picLocks noChangeAspect="1"/>
          </p:cNvPicPr>
          <p:nvPr/>
        </p:nvPicPr>
        <p:blipFill>
          <a:blip r:embed="rId5"/>
          <a:stretch>
            <a:fillRect/>
          </a:stretch>
        </p:blipFill>
        <p:spPr>
          <a:xfrm>
            <a:off x="7269480" y="4544568"/>
            <a:ext cx="713232" cy="713232"/>
          </a:xfrm>
          <a:prstGeom prst="rect">
            <a:avLst/>
          </a:prstGeom>
        </p:spPr>
      </p:pic>
      <p:pic>
        <p:nvPicPr>
          <p:cNvPr id="22" name="Picture 21" descr="horloge.png"/>
          <p:cNvPicPr>
            <a:picLocks noChangeAspect="1"/>
          </p:cNvPicPr>
          <p:nvPr/>
        </p:nvPicPr>
        <p:blipFill>
          <a:blip r:embed="rId6"/>
          <a:stretch>
            <a:fillRect/>
          </a:stretch>
        </p:blipFill>
        <p:spPr>
          <a:xfrm>
            <a:off x="8110728" y="4544568"/>
            <a:ext cx="713232" cy="713232"/>
          </a:xfrm>
          <a:prstGeom prst="rect">
            <a:avLst/>
          </a:prstGeom>
        </p:spPr>
      </p:pic>
      <p:pic>
        <p:nvPicPr>
          <p:cNvPr id="23" name="Picture 22" descr="wifi.png"/>
          <p:cNvPicPr>
            <a:picLocks noChangeAspect="1"/>
          </p:cNvPicPr>
          <p:nvPr/>
        </p:nvPicPr>
        <p:blipFill>
          <a:blip r:embed="rId7"/>
          <a:stretch>
            <a:fillRect/>
          </a:stretch>
        </p:blipFill>
        <p:spPr>
          <a:xfrm>
            <a:off x="8951976" y="4544568"/>
            <a:ext cx="713232" cy="713232"/>
          </a:xfrm>
          <a:prstGeom prst="rect">
            <a:avLst/>
          </a:prstGeom>
        </p:spPr>
      </p:pic>
      <p:pic>
        <p:nvPicPr>
          <p:cNvPr id="24" name="Picture 23" descr="famille.png"/>
          <p:cNvPicPr>
            <a:picLocks noChangeAspect="1"/>
          </p:cNvPicPr>
          <p:nvPr/>
        </p:nvPicPr>
        <p:blipFill>
          <a:blip r:embed="rId8"/>
          <a:stretch>
            <a:fillRect/>
          </a:stretch>
        </p:blipFill>
        <p:spPr>
          <a:xfrm>
            <a:off x="9793224" y="4544568"/>
            <a:ext cx="713232" cy="713232"/>
          </a:xfrm>
          <a:prstGeom prst="rect">
            <a:avLst/>
          </a:prstGeom>
        </p:spPr>
      </p:pic>
      <p:pic>
        <p:nvPicPr>
          <p:cNvPr id="25" name="Picture 24" descr="repas.png"/>
          <p:cNvPicPr>
            <a:picLocks noChangeAspect="1"/>
          </p:cNvPicPr>
          <p:nvPr/>
        </p:nvPicPr>
        <p:blipFill>
          <a:blip r:embed="rId9"/>
          <a:stretch>
            <a:fillRect/>
          </a:stretch>
        </p:blipFill>
        <p:spPr>
          <a:xfrm>
            <a:off x="10634472" y="4544568"/>
            <a:ext cx="713232" cy="713232"/>
          </a:xfrm>
          <a:prstGeom prst="rect">
            <a:avLst/>
          </a:prstGeom>
        </p:spPr>
      </p:pic>
      <p:sp>
        <p:nvSpPr>
          <p:cNvPr id="26" name="TextBox 25"/>
          <p:cNvSpPr txBox="1"/>
          <p:nvPr/>
        </p:nvSpPr>
        <p:spPr>
          <a:xfrm>
            <a:off x="508406" y="6327648"/>
            <a:ext cx="8229600" cy="274320"/>
          </a:xfrm>
          <a:prstGeom prst="rect">
            <a:avLst/>
          </a:prstGeom>
          <a:noFill/>
        </p:spPr>
        <p:txBody>
          <a:bodyPr wrap="square" lIns="0" rIns="0" tIns="0" bIns="0" anchor="ctr">
            <a:spAutoFit/>
          </a:bodyPr>
          <a:lstStyle/>
          <a:p>
            <a:pPr algn="l"/>
            <a:r>
              <a:rPr sz="1100" b="0">
                <a:solidFill>
                  <a:srgbClr val="8A8A8A"/>
                </a:solidFill>
                <a:latin typeface="Arial"/>
              </a:rPr>
              <a:t>Léa · Jeanne · Côme — Epitech Bootcamp Data, Rush 3 · octobre 2026</a:t>
            </a:r>
          </a:p>
        </p:txBody>
      </p:sp>
      <p:sp>
        <p:nvSpPr>
          <p:cNvPr id="27" name="Rounded Rectangle 26"/>
          <p:cNvSpPr/>
          <p:nvPr/>
        </p:nvSpPr>
        <p:spPr>
          <a:xfrm>
            <a:off x="8318296" y="6419088"/>
            <a:ext cx="256032" cy="91440"/>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63833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79378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94923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10468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26012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41557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57102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72647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88192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3736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19281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4826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50371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065916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81460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097005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112550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128095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143640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159184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Oval 1"/>
          <p:cNvSpPr/>
          <p:nvPr/>
        </p:nvSpPr>
        <p:spPr>
          <a:xfrm>
            <a:off x="508406" y="457200"/>
            <a:ext cx="164592" cy="164592"/>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7006" y="457200"/>
            <a:ext cx="164592" cy="164592"/>
          </a:xfrm>
          <a:prstGeom prst="ellipse">
            <a:avLst/>
          </a:prstGeom>
          <a:solidFill>
            <a:srgbClr val="009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65606" y="457200"/>
            <a:ext cx="164592" cy="164592"/>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406" y="777240"/>
            <a:ext cx="11174882" cy="914400"/>
          </a:xfrm>
          <a:prstGeom prst="rect">
            <a:avLst/>
          </a:prstGeom>
          <a:noFill/>
        </p:spPr>
        <p:txBody>
          <a:bodyPr wrap="square" lIns="0" rIns="0" tIns="0" bIns="0" anchor="t">
            <a:spAutoFit/>
          </a:bodyPr>
          <a:lstStyle/>
          <a:p>
            <a:pPr algn="l">
              <a:lnSpc>
                <a:spcPct val="95000"/>
              </a:lnSpc>
            </a:pPr>
            <a:r>
              <a:rPr sz="3000" b="1">
                <a:solidFill>
                  <a:srgbClr val="000000"/>
                </a:solidFill>
                <a:latin typeface="Arial"/>
              </a:rPr>
              <a:t>En bref : trois réponses pour la direction</a:t>
            </a:r>
          </a:p>
        </p:txBody>
      </p:sp>
      <p:sp>
        <p:nvSpPr>
          <p:cNvPr id="6" name="Rounded Rectangle 5"/>
          <p:cNvSpPr/>
          <p:nvPr/>
        </p:nvSpPr>
        <p:spPr>
          <a:xfrm>
            <a:off x="508406" y="1828800"/>
            <a:ext cx="3511600" cy="4160520"/>
          </a:xfrm>
          <a:prstGeom prst="roundRect">
            <a:avLst>
              <a:gd name="adj" fmla="val 572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raphique.png"/>
          <p:cNvPicPr>
            <a:picLocks noChangeAspect="1"/>
          </p:cNvPicPr>
          <p:nvPr/>
        </p:nvPicPr>
        <p:blipFill>
          <a:blip r:embed="rId2"/>
          <a:stretch>
            <a:fillRect/>
          </a:stretch>
        </p:blipFill>
        <p:spPr>
          <a:xfrm>
            <a:off x="874166" y="2194560"/>
            <a:ext cx="731520" cy="731520"/>
          </a:xfrm>
          <a:prstGeom prst="rect">
            <a:avLst/>
          </a:prstGeom>
        </p:spPr>
      </p:pic>
      <p:sp>
        <p:nvSpPr>
          <p:cNvPr id="8" name="TextBox 7"/>
          <p:cNvSpPr txBox="1"/>
          <p:nvPr/>
        </p:nvSpPr>
        <p:spPr>
          <a:xfrm>
            <a:off x="874166" y="3108960"/>
            <a:ext cx="2780080" cy="914400"/>
          </a:xfrm>
          <a:prstGeom prst="rect">
            <a:avLst/>
          </a:prstGeom>
          <a:noFill/>
        </p:spPr>
        <p:txBody>
          <a:bodyPr wrap="square" lIns="0" rIns="0" tIns="0" bIns="0" anchor="t">
            <a:spAutoFit/>
          </a:bodyPr>
          <a:lstStyle/>
          <a:p>
            <a:pPr algn="l"/>
            <a:r>
              <a:rPr sz="5400" b="1">
                <a:solidFill>
                  <a:srgbClr val="000000"/>
                </a:solidFill>
                <a:latin typeface="Arial"/>
              </a:rPr>
              <a:t>43,3 %</a:t>
            </a:r>
          </a:p>
        </p:txBody>
      </p:sp>
      <p:sp>
        <p:nvSpPr>
          <p:cNvPr id="9" name="TextBox 8"/>
          <p:cNvSpPr txBox="1"/>
          <p:nvPr/>
        </p:nvSpPr>
        <p:spPr>
          <a:xfrm>
            <a:off x="874166" y="4069080"/>
            <a:ext cx="2780080" cy="685800"/>
          </a:xfrm>
          <a:prstGeom prst="rect">
            <a:avLst/>
          </a:prstGeom>
          <a:noFill/>
        </p:spPr>
        <p:txBody>
          <a:bodyPr wrap="square" lIns="0" rIns="0" tIns="0" bIns="0" anchor="t">
            <a:spAutoFit/>
          </a:bodyPr>
          <a:lstStyle/>
          <a:p>
            <a:pPr algn="l"/>
            <a:r>
              <a:rPr sz="1800" b="1">
                <a:solidFill>
                  <a:srgbClr val="000000"/>
                </a:solidFill>
                <a:latin typeface="Arial"/>
              </a:rPr>
              <a:t>de passagers satisfaits</a:t>
            </a:r>
          </a:p>
        </p:txBody>
      </p:sp>
      <p:sp>
        <p:nvSpPr>
          <p:cNvPr id="10" name="TextBox 9"/>
          <p:cNvSpPr txBox="1"/>
          <p:nvPr/>
        </p:nvSpPr>
        <p:spPr>
          <a:xfrm>
            <a:off x="874166" y="4846320"/>
            <a:ext cx="2780080" cy="1005840"/>
          </a:xfrm>
          <a:prstGeom prst="rect">
            <a:avLst/>
          </a:prstGeom>
          <a:noFill/>
        </p:spPr>
        <p:txBody>
          <a:bodyPr wrap="square" lIns="0" rIns="0" tIns="0" bIns="0" anchor="t">
            <a:spAutoFit/>
          </a:bodyPr>
          <a:lstStyle/>
          <a:p>
            <a:pPr algn="l"/>
            <a:r>
              <a:rPr sz="1500" b="0">
                <a:solidFill>
                  <a:srgbClr val="444444"/>
                </a:solidFill>
                <a:latin typeface="Arial"/>
              </a:rPr>
              <a:t>58 % en voyage pro, 10 % en voyage perso. Leviers : parcours numérique, wi-fi, cabines.</a:t>
            </a:r>
          </a:p>
        </p:txBody>
      </p:sp>
      <p:sp>
        <p:nvSpPr>
          <p:cNvPr id="11" name="Rounded Rectangle 10"/>
          <p:cNvSpPr/>
          <p:nvPr/>
        </p:nvSpPr>
        <p:spPr>
          <a:xfrm>
            <a:off x="4340047" y="1828800"/>
            <a:ext cx="3511600" cy="4160520"/>
          </a:xfrm>
          <a:prstGeom prst="roundRect">
            <a:avLst>
              <a:gd name="adj" fmla="val 572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euro.png"/>
          <p:cNvPicPr>
            <a:picLocks noChangeAspect="1"/>
          </p:cNvPicPr>
          <p:nvPr/>
        </p:nvPicPr>
        <p:blipFill>
          <a:blip r:embed="rId3"/>
          <a:stretch>
            <a:fillRect/>
          </a:stretch>
        </p:blipFill>
        <p:spPr>
          <a:xfrm>
            <a:off x="4705807" y="2194560"/>
            <a:ext cx="731520" cy="731520"/>
          </a:xfrm>
          <a:prstGeom prst="rect">
            <a:avLst/>
          </a:prstGeom>
        </p:spPr>
      </p:pic>
      <p:sp>
        <p:nvSpPr>
          <p:cNvPr id="13" name="TextBox 12"/>
          <p:cNvSpPr txBox="1"/>
          <p:nvPr/>
        </p:nvSpPr>
        <p:spPr>
          <a:xfrm>
            <a:off x="4705807" y="3108960"/>
            <a:ext cx="2780080" cy="914400"/>
          </a:xfrm>
          <a:prstGeom prst="rect">
            <a:avLst/>
          </a:prstGeom>
          <a:noFill/>
        </p:spPr>
        <p:txBody>
          <a:bodyPr wrap="square" lIns="0" rIns="0" tIns="0" bIns="0" anchor="t">
            <a:spAutoFit/>
          </a:bodyPr>
          <a:lstStyle/>
          <a:p>
            <a:pPr algn="l"/>
            <a:r>
              <a:rPr sz="5400" b="1">
                <a:solidFill>
                  <a:srgbClr val="0055FF"/>
                </a:solidFill>
                <a:latin typeface="Arial"/>
              </a:rPr>
              <a:t>5 375 €</a:t>
            </a:r>
          </a:p>
        </p:txBody>
      </p:sp>
      <p:sp>
        <p:nvSpPr>
          <p:cNvPr id="14" name="TextBox 13"/>
          <p:cNvSpPr txBox="1"/>
          <p:nvPr/>
        </p:nvSpPr>
        <p:spPr>
          <a:xfrm>
            <a:off x="4705807" y="4069080"/>
            <a:ext cx="2780080" cy="685800"/>
          </a:xfrm>
          <a:prstGeom prst="rect">
            <a:avLst/>
          </a:prstGeom>
          <a:noFill/>
        </p:spPr>
        <p:txBody>
          <a:bodyPr wrap="square" lIns="0" rIns="0" tIns="0" bIns="0" anchor="t">
            <a:spAutoFit/>
          </a:bodyPr>
          <a:lstStyle/>
          <a:p>
            <a:pPr algn="l"/>
            <a:r>
              <a:rPr sz="1800" b="1">
                <a:solidFill>
                  <a:srgbClr val="000000"/>
                </a:solidFill>
                <a:latin typeface="Arial"/>
              </a:rPr>
              <a:t>gagnés pour 1 000 passagers</a:t>
            </a:r>
          </a:p>
        </p:txBody>
      </p:sp>
      <p:sp>
        <p:nvSpPr>
          <p:cNvPr id="15" name="TextBox 14"/>
          <p:cNvSpPr txBox="1"/>
          <p:nvPr/>
        </p:nvSpPr>
        <p:spPr>
          <a:xfrm>
            <a:off x="4705807" y="4846320"/>
            <a:ext cx="2780080" cy="1005840"/>
          </a:xfrm>
          <a:prstGeom prst="rect">
            <a:avLst/>
          </a:prstGeom>
          <a:noFill/>
        </p:spPr>
        <p:txBody>
          <a:bodyPr wrap="square" lIns="0" rIns="0" tIns="0" bIns="0" anchor="t">
            <a:spAutoFit/>
          </a:bodyPr>
          <a:lstStyle/>
          <a:p>
            <a:pPr algn="l"/>
            <a:r>
              <a:rPr sz="1500" b="0">
                <a:solidFill>
                  <a:srgbClr val="444444"/>
                </a:solidFill>
                <a:latin typeface="Arial"/>
              </a:rPr>
              <a:t>Le modèle désigne les 10 % à aborder : 94 sur 100 sont vraiment mécontents.</a:t>
            </a:r>
          </a:p>
        </p:txBody>
      </p:sp>
      <p:sp>
        <p:nvSpPr>
          <p:cNvPr id="16" name="Rounded Rectangle 15"/>
          <p:cNvSpPr/>
          <p:nvPr/>
        </p:nvSpPr>
        <p:spPr>
          <a:xfrm>
            <a:off x="8171688" y="1828800"/>
            <a:ext cx="3511600" cy="4160520"/>
          </a:xfrm>
          <a:prstGeom prst="roundRect">
            <a:avLst>
              <a:gd name="adj" fmla="val 572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uclier.png"/>
          <p:cNvPicPr>
            <a:picLocks noChangeAspect="1"/>
          </p:cNvPicPr>
          <p:nvPr/>
        </p:nvPicPr>
        <p:blipFill>
          <a:blip r:embed="rId4"/>
          <a:stretch>
            <a:fillRect/>
          </a:stretch>
        </p:blipFill>
        <p:spPr>
          <a:xfrm>
            <a:off x="8537448" y="2194560"/>
            <a:ext cx="731520" cy="731520"/>
          </a:xfrm>
          <a:prstGeom prst="rect">
            <a:avLst/>
          </a:prstGeom>
        </p:spPr>
      </p:pic>
      <p:sp>
        <p:nvSpPr>
          <p:cNvPr id="18" name="TextBox 17"/>
          <p:cNvSpPr txBox="1"/>
          <p:nvPr/>
        </p:nvSpPr>
        <p:spPr>
          <a:xfrm>
            <a:off x="8537448" y="3108960"/>
            <a:ext cx="2780080" cy="914400"/>
          </a:xfrm>
          <a:prstGeom prst="rect">
            <a:avLst/>
          </a:prstGeom>
          <a:noFill/>
        </p:spPr>
        <p:txBody>
          <a:bodyPr wrap="square" lIns="0" rIns="0" tIns="0" bIns="0" anchor="t">
            <a:spAutoFit/>
          </a:bodyPr>
          <a:lstStyle/>
          <a:p>
            <a:pPr algn="l"/>
            <a:r>
              <a:rPr sz="5400" b="1">
                <a:solidFill>
                  <a:srgbClr val="000000"/>
                </a:solidFill>
                <a:latin typeface="Arial"/>
              </a:rPr>
              <a:t>0 enfant</a:t>
            </a:r>
          </a:p>
        </p:txBody>
      </p:sp>
      <p:sp>
        <p:nvSpPr>
          <p:cNvPr id="19" name="TextBox 18"/>
          <p:cNvSpPr txBox="1"/>
          <p:nvPr/>
        </p:nvSpPr>
        <p:spPr>
          <a:xfrm>
            <a:off x="8537448" y="4069080"/>
            <a:ext cx="2780080" cy="685800"/>
          </a:xfrm>
          <a:prstGeom prst="rect">
            <a:avLst/>
          </a:prstGeom>
          <a:noFill/>
        </p:spPr>
        <p:txBody>
          <a:bodyPr wrap="square" lIns="0" rIns="0" tIns="0" bIns="0" anchor="t">
            <a:spAutoFit/>
          </a:bodyPr>
          <a:lstStyle/>
          <a:p>
            <a:pPr algn="l"/>
            <a:r>
              <a:rPr sz="1800" b="1">
                <a:solidFill>
                  <a:srgbClr val="000000"/>
                </a:solidFill>
                <a:latin typeface="Arial"/>
              </a:rPr>
              <a:t>signalé aux équipes</a:t>
            </a:r>
          </a:p>
        </p:txBody>
      </p:sp>
      <p:sp>
        <p:nvSpPr>
          <p:cNvPr id="20" name="TextBox 19"/>
          <p:cNvSpPr txBox="1"/>
          <p:nvPr/>
        </p:nvSpPr>
        <p:spPr>
          <a:xfrm>
            <a:off x="8537448" y="4846320"/>
            <a:ext cx="2780080" cy="1005840"/>
          </a:xfrm>
          <a:prstGeom prst="rect">
            <a:avLst/>
          </a:prstGeom>
          <a:noFill/>
        </p:spPr>
        <p:txBody>
          <a:bodyPr wrap="square" lIns="0" rIns="0" tIns="0" bIns="0" anchor="t">
            <a:spAutoFit/>
          </a:bodyPr>
          <a:lstStyle/>
          <a:p>
            <a:pPr algn="l"/>
            <a:r>
              <a:rPr sz="1500" b="0">
                <a:solidFill>
                  <a:srgbClr val="444444"/>
                </a:solidFill>
                <a:latin typeface="Arial"/>
              </a:rPr>
              <a:t>Genre exclu ; ni score, ni âge, ni étiquette « mécontent » montrés aux agents.</a:t>
            </a:r>
          </a:p>
        </p:txBody>
      </p:sp>
      <p:sp>
        <p:nvSpPr>
          <p:cNvPr id="21" name="TextBox 20"/>
          <p:cNvSpPr txBox="1"/>
          <p:nvPr/>
        </p:nvSpPr>
        <p:spPr>
          <a:xfrm>
            <a:off x="508406" y="6327648"/>
            <a:ext cx="8229600" cy="274320"/>
          </a:xfrm>
          <a:prstGeom prst="rect">
            <a:avLst/>
          </a:prstGeom>
          <a:noFill/>
        </p:spPr>
        <p:txBody>
          <a:bodyPr wrap="square" lIns="0" rIns="0" tIns="0" bIns="0" anchor="ctr">
            <a:spAutoFit/>
          </a:bodyPr>
          <a:lstStyle/>
          <a:p>
            <a:pPr algn="l"/>
            <a:r>
              <a:rPr sz="1100" b="0">
                <a:solidFill>
                  <a:srgbClr val="8A8A8A"/>
                </a:solidFill>
                <a:latin typeface="Arial"/>
              </a:rPr>
              <a:t>Synthèse</a:t>
            </a:r>
          </a:p>
        </p:txBody>
      </p:sp>
      <p:sp>
        <p:nvSpPr>
          <p:cNvPr id="22" name="Oval 21"/>
          <p:cNvSpPr/>
          <p:nvPr/>
        </p:nvSpPr>
        <p:spPr>
          <a:xfrm>
            <a:off x="831829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73744" y="6419088"/>
            <a:ext cx="256032" cy="91440"/>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79378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94923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10468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26012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41557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57102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72647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88192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03736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9281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4826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50371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65916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81460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97005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112550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128095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143640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159184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Oval 1"/>
          <p:cNvSpPr/>
          <p:nvPr/>
        </p:nvSpPr>
        <p:spPr>
          <a:xfrm>
            <a:off x="508406" y="457200"/>
            <a:ext cx="164592" cy="164592"/>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7006" y="457200"/>
            <a:ext cx="164592" cy="164592"/>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406" y="777240"/>
            <a:ext cx="11174882" cy="914400"/>
          </a:xfrm>
          <a:prstGeom prst="rect">
            <a:avLst/>
          </a:prstGeom>
          <a:noFill/>
        </p:spPr>
        <p:txBody>
          <a:bodyPr wrap="square" lIns="0" rIns="0" tIns="0" bIns="0" anchor="t">
            <a:spAutoFit/>
          </a:bodyPr>
          <a:lstStyle/>
          <a:p>
            <a:pPr algn="l">
              <a:lnSpc>
                <a:spcPct val="95000"/>
              </a:lnSpc>
            </a:pPr>
            <a:r>
              <a:rPr sz="3000" b="1">
                <a:solidFill>
                  <a:srgbClr val="000000"/>
                </a:solidFill>
                <a:latin typeface="Arial"/>
              </a:rPr>
              <a:t>103 904 avis pour analyser, 25 976 pour le test final</a:t>
            </a:r>
          </a:p>
        </p:txBody>
      </p:sp>
      <p:sp>
        <p:nvSpPr>
          <p:cNvPr id="5" name="Rounded Rectangle 4"/>
          <p:cNvSpPr/>
          <p:nvPr/>
        </p:nvSpPr>
        <p:spPr>
          <a:xfrm>
            <a:off x="508406" y="1828800"/>
            <a:ext cx="4206240" cy="4160520"/>
          </a:xfrm>
          <a:prstGeom prst="roundRect">
            <a:avLst>
              <a:gd name="adj" fmla="val 483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4166" y="2148840"/>
            <a:ext cx="3566160" cy="822960"/>
          </a:xfrm>
          <a:prstGeom prst="rect">
            <a:avLst/>
          </a:prstGeom>
          <a:noFill/>
        </p:spPr>
        <p:txBody>
          <a:bodyPr wrap="square" lIns="0" rIns="0" tIns="0" bIns="0" anchor="t">
            <a:spAutoFit/>
          </a:bodyPr>
          <a:lstStyle/>
          <a:p>
            <a:pPr algn="l"/>
            <a:r>
              <a:rPr sz="4800" b="1">
                <a:solidFill>
                  <a:srgbClr val="000000"/>
                </a:solidFill>
                <a:latin typeface="Arial"/>
              </a:rPr>
              <a:t>103 904</a:t>
            </a:r>
          </a:p>
        </p:txBody>
      </p:sp>
      <p:sp>
        <p:nvSpPr>
          <p:cNvPr id="7" name="TextBox 6"/>
          <p:cNvSpPr txBox="1"/>
          <p:nvPr/>
        </p:nvSpPr>
        <p:spPr>
          <a:xfrm>
            <a:off x="874166" y="2926080"/>
            <a:ext cx="3566160" cy="822960"/>
          </a:xfrm>
          <a:prstGeom prst="rect">
            <a:avLst/>
          </a:prstGeom>
          <a:noFill/>
        </p:spPr>
        <p:txBody>
          <a:bodyPr wrap="square" lIns="0" rIns="0" tIns="0" bIns="0" anchor="t">
            <a:spAutoFit/>
          </a:bodyPr>
          <a:lstStyle/>
          <a:p>
            <a:pPr algn="l"/>
            <a:r>
              <a:rPr sz="1500" b="0">
                <a:solidFill>
                  <a:srgbClr val="444444"/>
                </a:solidFill>
                <a:latin typeface="Arial"/>
              </a:rPr>
              <a:t>passagers ayant répondu (train) : exploration, facteurs, choix du modèle</a:t>
            </a:r>
          </a:p>
        </p:txBody>
      </p:sp>
      <p:sp>
        <p:nvSpPr>
          <p:cNvPr id="8" name="TextBox 7"/>
          <p:cNvSpPr txBox="1"/>
          <p:nvPr/>
        </p:nvSpPr>
        <p:spPr>
          <a:xfrm>
            <a:off x="874166" y="3931920"/>
            <a:ext cx="3566160" cy="822960"/>
          </a:xfrm>
          <a:prstGeom prst="rect">
            <a:avLst/>
          </a:prstGeom>
          <a:noFill/>
        </p:spPr>
        <p:txBody>
          <a:bodyPr wrap="square" lIns="0" rIns="0" tIns="0" bIns="0" anchor="t">
            <a:spAutoFit/>
          </a:bodyPr>
          <a:lstStyle/>
          <a:p>
            <a:pPr algn="l"/>
            <a:r>
              <a:rPr sz="4800" b="1">
                <a:solidFill>
                  <a:srgbClr val="0055FF"/>
                </a:solidFill>
                <a:latin typeface="Arial"/>
              </a:rPr>
              <a:t>25 976</a:t>
            </a:r>
          </a:p>
        </p:txBody>
      </p:sp>
      <p:sp>
        <p:nvSpPr>
          <p:cNvPr id="9" name="TextBox 8"/>
          <p:cNvSpPr txBox="1"/>
          <p:nvPr/>
        </p:nvSpPr>
        <p:spPr>
          <a:xfrm>
            <a:off x="874166" y="4709160"/>
            <a:ext cx="3566160" cy="822960"/>
          </a:xfrm>
          <a:prstGeom prst="rect">
            <a:avLst/>
          </a:prstGeom>
          <a:noFill/>
        </p:spPr>
        <p:txBody>
          <a:bodyPr wrap="square" lIns="0" rIns="0" tIns="0" bIns="0" anchor="t">
            <a:spAutoFit/>
          </a:bodyPr>
          <a:lstStyle/>
          <a:p>
            <a:pPr algn="l"/>
            <a:r>
              <a:rPr sz="1500" b="0">
                <a:solidFill>
                  <a:srgbClr val="444444"/>
                </a:solidFill>
                <a:latin typeface="Arial"/>
              </a:rPr>
              <a:t>passagers « du mois prochain » (test) : lus une seule fois, à la toute fin</a:t>
            </a:r>
          </a:p>
        </p:txBody>
      </p:sp>
      <p:sp>
        <p:nvSpPr>
          <p:cNvPr id="10" name="Rounded Rectangle 9"/>
          <p:cNvSpPr/>
          <p:nvPr/>
        </p:nvSpPr>
        <p:spPr>
          <a:xfrm>
            <a:off x="5034686" y="1828800"/>
            <a:ext cx="6648602" cy="4160520"/>
          </a:xfrm>
          <a:prstGeom prst="roundRect">
            <a:avLst>
              <a:gd name="adj" fmla="val 483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valide.png"/>
          <p:cNvPicPr>
            <a:picLocks noChangeAspect="1"/>
          </p:cNvPicPr>
          <p:nvPr/>
        </p:nvPicPr>
        <p:blipFill>
          <a:blip r:embed="rId2"/>
          <a:stretch>
            <a:fillRect/>
          </a:stretch>
        </p:blipFill>
        <p:spPr>
          <a:xfrm>
            <a:off x="5400446" y="2103120"/>
            <a:ext cx="502920" cy="502920"/>
          </a:xfrm>
          <a:prstGeom prst="rect">
            <a:avLst/>
          </a:prstGeom>
        </p:spPr>
      </p:pic>
      <p:sp>
        <p:nvSpPr>
          <p:cNvPr id="12" name="TextBox 11"/>
          <p:cNvSpPr txBox="1"/>
          <p:nvPr/>
        </p:nvSpPr>
        <p:spPr>
          <a:xfrm>
            <a:off x="6131966" y="2084831"/>
            <a:ext cx="5277002" cy="594360"/>
          </a:xfrm>
          <a:prstGeom prst="rect">
            <a:avLst/>
          </a:prstGeom>
          <a:noFill/>
        </p:spPr>
        <p:txBody>
          <a:bodyPr wrap="square" lIns="0" rIns="0" tIns="0" bIns="0" anchor="ctr">
            <a:spAutoFit/>
          </a:bodyPr>
          <a:lstStyle/>
          <a:p>
            <a:pPr algn="l"/>
            <a:r>
              <a:rPr sz="1700" b="1">
                <a:solidFill>
                  <a:srgbClr val="000000"/>
                </a:solidFill>
                <a:latin typeface="Arial"/>
              </a:rPr>
              <a:t>Une note de 0 = pas de réponse</a:t>
            </a:r>
          </a:p>
          <a:p>
            <a:pPr algn="l"/>
            <a:r>
              <a:rPr sz="1300" b="0">
                <a:solidFill>
                  <a:srgbClr val="444444"/>
                </a:solidFill>
                <a:latin typeface="Arial"/>
              </a:rPr>
              <a:t>et non une mauvaise note, comme le précise le sujet</a:t>
            </a:r>
          </a:p>
        </p:txBody>
      </p:sp>
      <p:pic>
        <p:nvPicPr>
          <p:cNvPr id="13" name="Picture 12" descr="horloge.png"/>
          <p:cNvPicPr>
            <a:picLocks noChangeAspect="1"/>
          </p:cNvPicPr>
          <p:nvPr/>
        </p:nvPicPr>
        <p:blipFill>
          <a:blip r:embed="rId3"/>
          <a:stretch>
            <a:fillRect/>
          </a:stretch>
        </p:blipFill>
        <p:spPr>
          <a:xfrm>
            <a:off x="5400446" y="2862072"/>
            <a:ext cx="502920" cy="502920"/>
          </a:xfrm>
          <a:prstGeom prst="rect">
            <a:avLst/>
          </a:prstGeom>
        </p:spPr>
      </p:pic>
      <p:sp>
        <p:nvSpPr>
          <p:cNvPr id="14" name="TextBox 13"/>
          <p:cNvSpPr txBox="1"/>
          <p:nvPr/>
        </p:nvSpPr>
        <p:spPr>
          <a:xfrm>
            <a:off x="6131966" y="2843784"/>
            <a:ext cx="5277002" cy="594360"/>
          </a:xfrm>
          <a:prstGeom prst="rect">
            <a:avLst/>
          </a:prstGeom>
          <a:noFill/>
        </p:spPr>
        <p:txBody>
          <a:bodyPr wrap="square" lIns="0" rIns="0" tIns="0" bIns="0" anchor="ctr">
            <a:spAutoFit/>
          </a:bodyPr>
          <a:lstStyle/>
          <a:p>
            <a:pPr algn="l"/>
            <a:r>
              <a:rPr sz="1700" b="1">
                <a:solidFill>
                  <a:srgbClr val="000000"/>
                </a:solidFill>
                <a:latin typeface="Arial"/>
              </a:rPr>
              <a:t>310 retards d'arrivée manquants</a:t>
            </a:r>
          </a:p>
          <a:p>
            <a:pPr algn="l"/>
            <a:r>
              <a:rPr sz="1300" b="0">
                <a:solidFill>
                  <a:srgbClr val="444444"/>
                </a:solidFill>
                <a:latin typeface="Arial"/>
              </a:rPr>
              <a:t>remplacés par le retard au départ (corrélation 0,965)</a:t>
            </a:r>
          </a:p>
        </p:txBody>
      </p:sp>
      <p:pic>
        <p:nvPicPr>
          <p:cNvPr id="15" name="Picture 14" descr="exclu.png"/>
          <p:cNvPicPr>
            <a:picLocks noChangeAspect="1"/>
          </p:cNvPicPr>
          <p:nvPr/>
        </p:nvPicPr>
        <p:blipFill>
          <a:blip r:embed="rId4"/>
          <a:stretch>
            <a:fillRect/>
          </a:stretch>
        </p:blipFill>
        <p:spPr>
          <a:xfrm>
            <a:off x="5400446" y="3621024"/>
            <a:ext cx="502920" cy="502920"/>
          </a:xfrm>
          <a:prstGeom prst="rect">
            <a:avLst/>
          </a:prstGeom>
        </p:spPr>
      </p:pic>
      <p:sp>
        <p:nvSpPr>
          <p:cNvPr id="16" name="TextBox 15"/>
          <p:cNvSpPr txBox="1"/>
          <p:nvPr/>
        </p:nvSpPr>
        <p:spPr>
          <a:xfrm>
            <a:off x="6131966" y="3602736"/>
            <a:ext cx="5277002" cy="594360"/>
          </a:xfrm>
          <a:prstGeom prst="rect">
            <a:avLst/>
          </a:prstGeom>
          <a:noFill/>
        </p:spPr>
        <p:txBody>
          <a:bodyPr wrap="square" lIns="0" rIns="0" tIns="0" bIns="0" anchor="ctr">
            <a:spAutoFit/>
          </a:bodyPr>
          <a:lstStyle/>
          <a:p>
            <a:pPr algn="l"/>
            <a:r>
              <a:rPr sz="1700" b="1">
                <a:solidFill>
                  <a:srgbClr val="000000"/>
                </a:solidFill>
                <a:latin typeface="Arial"/>
              </a:rPr>
              <a:t>Identifiant retiré, aucun doublon</a:t>
            </a:r>
          </a:p>
          <a:p>
            <a:pPr algn="l"/>
            <a:r>
              <a:rPr sz="1300" b="0">
                <a:solidFill>
                  <a:srgbClr val="444444"/>
                </a:solidFill>
                <a:latin typeface="Arial"/>
              </a:rPr>
              <a:t>il ne dit rien du passager</a:t>
            </a:r>
          </a:p>
        </p:txBody>
      </p:sp>
      <p:pic>
        <p:nvPicPr>
          <p:cNvPr id="17" name="Picture 16" descr="cible.png"/>
          <p:cNvPicPr>
            <a:picLocks noChangeAspect="1"/>
          </p:cNvPicPr>
          <p:nvPr/>
        </p:nvPicPr>
        <p:blipFill>
          <a:blip r:embed="rId5"/>
          <a:stretch>
            <a:fillRect/>
          </a:stretch>
        </p:blipFill>
        <p:spPr>
          <a:xfrm>
            <a:off x="5400446" y="4379975"/>
            <a:ext cx="502920" cy="502920"/>
          </a:xfrm>
          <a:prstGeom prst="rect">
            <a:avLst/>
          </a:prstGeom>
        </p:spPr>
      </p:pic>
      <p:sp>
        <p:nvSpPr>
          <p:cNvPr id="18" name="TextBox 17"/>
          <p:cNvSpPr txBox="1"/>
          <p:nvPr/>
        </p:nvSpPr>
        <p:spPr>
          <a:xfrm>
            <a:off x="6131966" y="4361688"/>
            <a:ext cx="5277002" cy="594360"/>
          </a:xfrm>
          <a:prstGeom prst="rect">
            <a:avLst/>
          </a:prstGeom>
          <a:noFill/>
        </p:spPr>
        <p:txBody>
          <a:bodyPr wrap="square" lIns="0" rIns="0" tIns="0" bIns="0" anchor="ctr">
            <a:spAutoFit/>
          </a:bodyPr>
          <a:lstStyle/>
          <a:p>
            <a:pPr algn="l"/>
            <a:r>
              <a:rPr sz="1700" b="1">
                <a:solidFill>
                  <a:srgbClr val="000000"/>
                </a:solidFill>
                <a:latin typeface="Arial"/>
              </a:rPr>
              <a:t>Modèles comparés en validation croisée</a:t>
            </a:r>
          </a:p>
          <a:p>
            <a:pPr algn="l"/>
            <a:r>
              <a:rPr sz="1300" b="0">
                <a:solidFill>
                  <a:srgbClr val="444444"/>
                </a:solidFill>
                <a:latin typeface="Arial"/>
              </a:rPr>
              <a:t>sur train uniquement, en 5 parts</a:t>
            </a:r>
          </a:p>
        </p:txBody>
      </p:sp>
      <p:pic>
        <p:nvPicPr>
          <p:cNvPr id="19" name="Picture 18" descr="graphique.png"/>
          <p:cNvPicPr>
            <a:picLocks noChangeAspect="1"/>
          </p:cNvPicPr>
          <p:nvPr/>
        </p:nvPicPr>
        <p:blipFill>
          <a:blip r:embed="rId6"/>
          <a:stretch>
            <a:fillRect/>
          </a:stretch>
        </p:blipFill>
        <p:spPr>
          <a:xfrm>
            <a:off x="5400446" y="5138927"/>
            <a:ext cx="502920" cy="502920"/>
          </a:xfrm>
          <a:prstGeom prst="rect">
            <a:avLst/>
          </a:prstGeom>
        </p:spPr>
      </p:pic>
      <p:sp>
        <p:nvSpPr>
          <p:cNvPr id="20" name="TextBox 19"/>
          <p:cNvSpPr txBox="1"/>
          <p:nvPr/>
        </p:nvSpPr>
        <p:spPr>
          <a:xfrm>
            <a:off x="6131966" y="5120640"/>
            <a:ext cx="5277002" cy="594360"/>
          </a:xfrm>
          <a:prstGeom prst="rect">
            <a:avLst/>
          </a:prstGeom>
          <a:noFill/>
        </p:spPr>
        <p:txBody>
          <a:bodyPr wrap="square" lIns="0" rIns="0" tIns="0" bIns="0" anchor="ctr">
            <a:spAutoFit/>
          </a:bodyPr>
          <a:lstStyle/>
          <a:p>
            <a:pPr algn="l"/>
            <a:r>
              <a:rPr sz="1700" b="1">
                <a:solidFill>
                  <a:srgbClr val="000000"/>
                </a:solidFill>
                <a:latin typeface="Arial"/>
              </a:rPr>
              <a:t>Résultats reproductibles</a:t>
            </a:r>
          </a:p>
          <a:p>
            <a:pPr algn="l"/>
            <a:r>
              <a:rPr sz="1300" b="0">
                <a:solidFill>
                  <a:srgbClr val="444444"/>
                </a:solidFill>
                <a:latin typeface="Arial"/>
              </a:rPr>
              <a:t>graines fixées : mêmes chiffres à chaque exécution</a:t>
            </a:r>
          </a:p>
        </p:txBody>
      </p:sp>
      <p:sp>
        <p:nvSpPr>
          <p:cNvPr id="21" name="TextBox 20"/>
          <p:cNvSpPr txBox="1"/>
          <p:nvPr/>
        </p:nvSpPr>
        <p:spPr>
          <a:xfrm>
            <a:off x="508406" y="6327648"/>
            <a:ext cx="8229600" cy="274320"/>
          </a:xfrm>
          <a:prstGeom prst="rect">
            <a:avLst/>
          </a:prstGeom>
          <a:noFill/>
        </p:spPr>
        <p:txBody>
          <a:bodyPr wrap="square" lIns="0" rIns="0" tIns="0" bIns="0" anchor="ctr">
            <a:spAutoFit/>
          </a:bodyPr>
          <a:lstStyle/>
          <a:p>
            <a:pPr algn="l"/>
            <a:r>
              <a:rPr sz="1100" b="0">
                <a:solidFill>
                  <a:srgbClr val="8A8A8A"/>
                </a:solidFill>
                <a:latin typeface="Arial"/>
              </a:rPr>
              <a:t>Données et méthode — Léa</a:t>
            </a:r>
          </a:p>
        </p:txBody>
      </p:sp>
      <p:sp>
        <p:nvSpPr>
          <p:cNvPr id="22" name="Oval 21"/>
          <p:cNvSpPr/>
          <p:nvPr/>
        </p:nvSpPr>
        <p:spPr>
          <a:xfrm>
            <a:off x="831829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47374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9192" y="6419088"/>
            <a:ext cx="256032" cy="91440"/>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94923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10468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26012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41557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57102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72647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88192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03736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9281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4826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50371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65916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81460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97005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112550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128095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143640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159184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Oval 1"/>
          <p:cNvSpPr/>
          <p:nvPr/>
        </p:nvSpPr>
        <p:spPr>
          <a:xfrm>
            <a:off x="508406" y="457200"/>
            <a:ext cx="164592" cy="164592"/>
          </a:xfrm>
          <a:prstGeom prst="ellipse">
            <a:avLst/>
          </a:prstGeom>
          <a:solidFill>
            <a:srgbClr val="009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7006" y="457200"/>
            <a:ext cx="164592" cy="164592"/>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406" y="777240"/>
            <a:ext cx="11174882" cy="914400"/>
          </a:xfrm>
          <a:prstGeom prst="rect">
            <a:avLst/>
          </a:prstGeom>
          <a:noFill/>
        </p:spPr>
        <p:txBody>
          <a:bodyPr wrap="square" lIns="0" rIns="0" tIns="0" bIns="0" anchor="t">
            <a:spAutoFit/>
          </a:bodyPr>
          <a:lstStyle/>
          <a:p>
            <a:pPr algn="l">
              <a:lnSpc>
                <a:spcPct val="95000"/>
              </a:lnSpc>
            </a:pPr>
            <a:r>
              <a:rPr sz="3000" b="1">
                <a:solidFill>
                  <a:srgbClr val="000000"/>
                </a:solidFill>
                <a:latin typeface="Arial"/>
              </a:rPr>
              <a:t>La satisfaction dépend surtout du motif et de la classe</a:t>
            </a:r>
          </a:p>
        </p:txBody>
      </p:sp>
      <p:sp>
        <p:nvSpPr>
          <p:cNvPr id="5" name="Rounded Rectangle 4"/>
          <p:cNvSpPr/>
          <p:nvPr/>
        </p:nvSpPr>
        <p:spPr>
          <a:xfrm>
            <a:off x="508406" y="1828800"/>
            <a:ext cx="7589520" cy="4160520"/>
          </a:xfrm>
          <a:prstGeom prst="roundRect">
            <a:avLst>
              <a:gd name="adj" fmla="val 483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Chart 5"/>
          <p:cNvGraphicFramePr>
            <a:graphicFrameLocks noGrp="1"/>
          </p:cNvGraphicFramePr>
          <p:nvPr/>
        </p:nvGraphicFramePr>
        <p:xfrm>
          <a:off x="782726" y="2011680"/>
          <a:ext cx="7040880" cy="3794760"/>
        </p:xfrm>
        <a:graphic>
          <a:graphicData uri="http://schemas.openxmlformats.org/drawingml/2006/chart">
            <c:chart xmlns:c="http://schemas.openxmlformats.org/drawingml/2006/chart" r:id="rId2"/>
          </a:graphicData>
        </a:graphic>
      </p:graphicFrame>
      <p:sp>
        <p:nvSpPr>
          <p:cNvPr id="7" name="Rounded Rectangle 6"/>
          <p:cNvSpPr/>
          <p:nvPr/>
        </p:nvSpPr>
        <p:spPr>
          <a:xfrm>
            <a:off x="8417966" y="1828800"/>
            <a:ext cx="3265322" cy="4160520"/>
          </a:xfrm>
          <a:prstGeom prst="roundRect">
            <a:avLst>
              <a:gd name="adj" fmla="val 616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8006" y="2148840"/>
            <a:ext cx="2743200" cy="731520"/>
          </a:xfrm>
          <a:prstGeom prst="rect">
            <a:avLst/>
          </a:prstGeom>
          <a:noFill/>
        </p:spPr>
        <p:txBody>
          <a:bodyPr wrap="square" lIns="0" rIns="0" tIns="0" bIns="0" anchor="t">
            <a:spAutoFit/>
          </a:bodyPr>
          <a:lstStyle/>
          <a:p>
            <a:pPr algn="l"/>
            <a:r>
              <a:rPr sz="4400" b="1">
                <a:solidFill>
                  <a:srgbClr val="000000"/>
                </a:solidFill>
                <a:latin typeface="Arial"/>
              </a:rPr>
              <a:t>43,3 %</a:t>
            </a:r>
          </a:p>
        </p:txBody>
      </p:sp>
      <p:sp>
        <p:nvSpPr>
          <p:cNvPr id="9" name="TextBox 8"/>
          <p:cNvSpPr txBox="1"/>
          <p:nvPr/>
        </p:nvSpPr>
        <p:spPr>
          <a:xfrm>
            <a:off x="8738006" y="2880360"/>
            <a:ext cx="2743200" cy="457200"/>
          </a:xfrm>
          <a:prstGeom prst="rect">
            <a:avLst/>
          </a:prstGeom>
          <a:noFill/>
        </p:spPr>
        <p:txBody>
          <a:bodyPr wrap="square" lIns="0" rIns="0" tIns="0" bIns="0" anchor="t">
            <a:spAutoFit/>
          </a:bodyPr>
          <a:lstStyle/>
          <a:p>
            <a:pPr algn="l"/>
            <a:r>
              <a:rPr sz="1500" b="0">
                <a:solidFill>
                  <a:srgbClr val="444444"/>
                </a:solidFill>
                <a:latin typeface="Arial"/>
              </a:rPr>
              <a:t>de satisfaits en moyenne</a:t>
            </a:r>
          </a:p>
        </p:txBody>
      </p:sp>
      <p:sp>
        <p:nvSpPr>
          <p:cNvPr id="10" name="TextBox 9"/>
          <p:cNvSpPr txBox="1"/>
          <p:nvPr/>
        </p:nvSpPr>
        <p:spPr>
          <a:xfrm>
            <a:off x="8738006" y="3520440"/>
            <a:ext cx="2926080" cy="365760"/>
          </a:xfrm>
          <a:prstGeom prst="rect">
            <a:avLst/>
          </a:prstGeom>
          <a:noFill/>
        </p:spPr>
        <p:txBody>
          <a:bodyPr wrap="square" lIns="0" rIns="0" tIns="0" bIns="0" anchor="t">
            <a:spAutoFit/>
          </a:bodyPr>
          <a:lstStyle/>
          <a:p>
            <a:pPr algn="l"/>
            <a:r>
              <a:rPr sz="1500" b="1">
                <a:solidFill>
                  <a:srgbClr val="000000"/>
                </a:solidFill>
                <a:latin typeface="Arial"/>
              </a:rPr>
              <a:t>Force du lien (V de Cramér)</a:t>
            </a:r>
          </a:p>
        </p:txBody>
      </p:sp>
      <p:sp>
        <p:nvSpPr>
          <p:cNvPr id="11" name="TextBox 10"/>
          <p:cNvSpPr txBox="1"/>
          <p:nvPr/>
        </p:nvSpPr>
        <p:spPr>
          <a:xfrm>
            <a:off x="8738006" y="3977639"/>
            <a:ext cx="1737360" cy="274320"/>
          </a:xfrm>
          <a:prstGeom prst="rect">
            <a:avLst/>
          </a:prstGeom>
          <a:noFill/>
        </p:spPr>
        <p:txBody>
          <a:bodyPr wrap="square" lIns="0" rIns="0" tIns="0" bIns="0" anchor="t">
            <a:spAutoFit/>
          </a:bodyPr>
          <a:lstStyle/>
          <a:p>
            <a:pPr algn="l"/>
            <a:r>
              <a:rPr sz="1300" b="0">
                <a:solidFill>
                  <a:srgbClr val="000000"/>
                </a:solidFill>
                <a:latin typeface="Arial"/>
              </a:rPr>
              <a:t>Classe</a:t>
            </a:r>
          </a:p>
        </p:txBody>
      </p:sp>
      <p:sp>
        <p:nvSpPr>
          <p:cNvPr id="12" name="TextBox 11"/>
          <p:cNvSpPr txBox="1"/>
          <p:nvPr/>
        </p:nvSpPr>
        <p:spPr>
          <a:xfrm>
            <a:off x="10841126" y="3977639"/>
            <a:ext cx="731520" cy="274320"/>
          </a:xfrm>
          <a:prstGeom prst="rect">
            <a:avLst/>
          </a:prstGeom>
          <a:noFill/>
        </p:spPr>
        <p:txBody>
          <a:bodyPr wrap="square" lIns="0" rIns="0" tIns="0" bIns="0" anchor="t">
            <a:spAutoFit/>
          </a:bodyPr>
          <a:lstStyle/>
          <a:p>
            <a:pPr algn="r"/>
            <a:r>
              <a:rPr sz="1300" b="1">
                <a:solidFill>
                  <a:srgbClr val="000000"/>
                </a:solidFill>
                <a:latin typeface="Arial"/>
              </a:rPr>
              <a:t>0,51</a:t>
            </a:r>
          </a:p>
        </p:txBody>
      </p:sp>
      <p:sp>
        <p:nvSpPr>
          <p:cNvPr id="13" name="Rounded Rectangle 12"/>
          <p:cNvSpPr/>
          <p:nvPr/>
        </p:nvSpPr>
        <p:spPr>
          <a:xfrm>
            <a:off x="8738006" y="4251959"/>
            <a:ext cx="2834640" cy="91440"/>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738006" y="4251959"/>
            <a:ext cx="2602714" cy="91440"/>
          </a:xfrm>
          <a:prstGeom prst="roundRect">
            <a:avLst>
              <a:gd name="adj" fmla="val 50000"/>
            </a:avLst>
          </a:prstGeom>
          <a:solidFill>
            <a:srgbClr val="009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38006" y="4453127"/>
            <a:ext cx="1737360" cy="274320"/>
          </a:xfrm>
          <a:prstGeom prst="rect">
            <a:avLst/>
          </a:prstGeom>
          <a:noFill/>
        </p:spPr>
        <p:txBody>
          <a:bodyPr wrap="square" lIns="0" rIns="0" tIns="0" bIns="0" anchor="t">
            <a:spAutoFit/>
          </a:bodyPr>
          <a:lstStyle/>
          <a:p>
            <a:pPr algn="l"/>
            <a:r>
              <a:rPr sz="1300" b="0">
                <a:solidFill>
                  <a:srgbClr val="000000"/>
                </a:solidFill>
                <a:latin typeface="Arial"/>
              </a:rPr>
              <a:t>Motif du voyage</a:t>
            </a:r>
          </a:p>
        </p:txBody>
      </p:sp>
      <p:sp>
        <p:nvSpPr>
          <p:cNvPr id="16" name="TextBox 15"/>
          <p:cNvSpPr txBox="1"/>
          <p:nvPr/>
        </p:nvSpPr>
        <p:spPr>
          <a:xfrm>
            <a:off x="10841126" y="4453127"/>
            <a:ext cx="731520" cy="274320"/>
          </a:xfrm>
          <a:prstGeom prst="rect">
            <a:avLst/>
          </a:prstGeom>
          <a:noFill/>
        </p:spPr>
        <p:txBody>
          <a:bodyPr wrap="square" lIns="0" rIns="0" tIns="0" bIns="0" anchor="t">
            <a:spAutoFit/>
          </a:bodyPr>
          <a:lstStyle/>
          <a:p>
            <a:pPr algn="r"/>
            <a:r>
              <a:rPr sz="1300" b="1">
                <a:solidFill>
                  <a:srgbClr val="000000"/>
                </a:solidFill>
                <a:latin typeface="Arial"/>
              </a:rPr>
              <a:t>0,45</a:t>
            </a:r>
          </a:p>
        </p:txBody>
      </p:sp>
      <p:sp>
        <p:nvSpPr>
          <p:cNvPr id="17" name="Rounded Rectangle 16"/>
          <p:cNvSpPr/>
          <p:nvPr/>
        </p:nvSpPr>
        <p:spPr>
          <a:xfrm>
            <a:off x="8738006" y="4727447"/>
            <a:ext cx="2834640" cy="91440"/>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738006" y="4727447"/>
            <a:ext cx="2314097" cy="91440"/>
          </a:xfrm>
          <a:prstGeom prst="roundRect">
            <a:avLst>
              <a:gd name="adj" fmla="val 50000"/>
            </a:avLst>
          </a:prstGeom>
          <a:solidFill>
            <a:srgbClr val="009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38006" y="4928616"/>
            <a:ext cx="1737360" cy="274320"/>
          </a:xfrm>
          <a:prstGeom prst="rect">
            <a:avLst/>
          </a:prstGeom>
          <a:noFill/>
        </p:spPr>
        <p:txBody>
          <a:bodyPr wrap="square" lIns="0" rIns="0" tIns="0" bIns="0" anchor="t">
            <a:spAutoFit/>
          </a:bodyPr>
          <a:lstStyle/>
          <a:p>
            <a:pPr algn="l"/>
            <a:r>
              <a:rPr sz="1300" b="0">
                <a:solidFill>
                  <a:srgbClr val="000000"/>
                </a:solidFill>
                <a:latin typeface="Arial"/>
              </a:rPr>
              <a:t>Âge</a:t>
            </a:r>
          </a:p>
        </p:txBody>
      </p:sp>
      <p:sp>
        <p:nvSpPr>
          <p:cNvPr id="20" name="TextBox 19"/>
          <p:cNvSpPr txBox="1"/>
          <p:nvPr/>
        </p:nvSpPr>
        <p:spPr>
          <a:xfrm>
            <a:off x="10841126" y="4928616"/>
            <a:ext cx="731520" cy="274320"/>
          </a:xfrm>
          <a:prstGeom prst="rect">
            <a:avLst/>
          </a:prstGeom>
          <a:noFill/>
        </p:spPr>
        <p:txBody>
          <a:bodyPr wrap="square" lIns="0" rIns="0" tIns="0" bIns="0" anchor="t">
            <a:spAutoFit/>
          </a:bodyPr>
          <a:lstStyle/>
          <a:p>
            <a:pPr algn="r"/>
            <a:r>
              <a:rPr sz="1300" b="1">
                <a:solidFill>
                  <a:srgbClr val="000000"/>
                </a:solidFill>
                <a:latin typeface="Arial"/>
              </a:rPr>
              <a:t>0,27</a:t>
            </a:r>
          </a:p>
        </p:txBody>
      </p:sp>
      <p:sp>
        <p:nvSpPr>
          <p:cNvPr id="21" name="Rounded Rectangle 20"/>
          <p:cNvSpPr/>
          <p:nvPr/>
        </p:nvSpPr>
        <p:spPr>
          <a:xfrm>
            <a:off x="8738006" y="5202936"/>
            <a:ext cx="2834640" cy="91440"/>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738006" y="5202936"/>
            <a:ext cx="1386396" cy="91440"/>
          </a:xfrm>
          <a:prstGeom prst="roundRect">
            <a:avLst>
              <a:gd name="adj" fmla="val 50000"/>
            </a:avLst>
          </a:prstGeom>
          <a:solidFill>
            <a:srgbClr val="009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38006" y="5404104"/>
            <a:ext cx="1737360" cy="274320"/>
          </a:xfrm>
          <a:prstGeom prst="rect">
            <a:avLst/>
          </a:prstGeom>
          <a:noFill/>
        </p:spPr>
        <p:txBody>
          <a:bodyPr wrap="square" lIns="0" rIns="0" tIns="0" bIns="0" anchor="t">
            <a:spAutoFit/>
          </a:bodyPr>
          <a:lstStyle/>
          <a:p>
            <a:pPr algn="l"/>
            <a:r>
              <a:rPr sz="1300" b="0">
                <a:solidFill>
                  <a:srgbClr val="000000"/>
                </a:solidFill>
                <a:latin typeface="Arial"/>
              </a:rPr>
              <a:t>Genre</a:t>
            </a:r>
          </a:p>
        </p:txBody>
      </p:sp>
      <p:sp>
        <p:nvSpPr>
          <p:cNvPr id="24" name="TextBox 23"/>
          <p:cNvSpPr txBox="1"/>
          <p:nvPr/>
        </p:nvSpPr>
        <p:spPr>
          <a:xfrm>
            <a:off x="10841126" y="5404104"/>
            <a:ext cx="731520" cy="274320"/>
          </a:xfrm>
          <a:prstGeom prst="rect">
            <a:avLst/>
          </a:prstGeom>
          <a:noFill/>
        </p:spPr>
        <p:txBody>
          <a:bodyPr wrap="square" lIns="0" rIns="0" tIns="0" bIns="0" anchor="t">
            <a:spAutoFit/>
          </a:bodyPr>
          <a:lstStyle/>
          <a:p>
            <a:pPr algn="r"/>
            <a:r>
              <a:rPr sz="1300" b="1">
                <a:solidFill>
                  <a:srgbClr val="000000"/>
                </a:solidFill>
                <a:latin typeface="Arial"/>
              </a:rPr>
              <a:t>0,01</a:t>
            </a:r>
          </a:p>
        </p:txBody>
      </p:sp>
      <p:sp>
        <p:nvSpPr>
          <p:cNvPr id="25" name="Rounded Rectangle 24"/>
          <p:cNvSpPr/>
          <p:nvPr/>
        </p:nvSpPr>
        <p:spPr>
          <a:xfrm>
            <a:off x="8738006" y="5678424"/>
            <a:ext cx="2834640" cy="91440"/>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738006" y="5678424"/>
            <a:ext cx="91440" cy="91440"/>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8406" y="6327648"/>
            <a:ext cx="8229600" cy="274320"/>
          </a:xfrm>
          <a:prstGeom prst="rect">
            <a:avLst/>
          </a:prstGeom>
          <a:noFill/>
        </p:spPr>
        <p:txBody>
          <a:bodyPr wrap="square" lIns="0" rIns="0" tIns="0" bIns="0" anchor="ctr">
            <a:spAutoFit/>
          </a:bodyPr>
          <a:lstStyle/>
          <a:p>
            <a:pPr algn="l"/>
            <a:r>
              <a:rPr sz="1100" b="0">
                <a:solidFill>
                  <a:srgbClr val="8A8A8A"/>
                </a:solidFill>
                <a:latin typeface="Arial"/>
              </a:rPr>
              <a:t>Volet 1 — Expliquer · Léa · taux de satisfaits par groupe, fichier d'entraînement</a:t>
            </a:r>
          </a:p>
        </p:txBody>
      </p:sp>
      <p:sp>
        <p:nvSpPr>
          <p:cNvPr id="28" name="Oval 27"/>
          <p:cNvSpPr/>
          <p:nvPr/>
        </p:nvSpPr>
        <p:spPr>
          <a:xfrm>
            <a:off x="831829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47374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62919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784640" y="6419088"/>
            <a:ext cx="256032" cy="91440"/>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10468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26012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41557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57102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72647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988192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03736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19281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34826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050371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65916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081460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97005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112550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128095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143640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159184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Oval 1"/>
          <p:cNvSpPr/>
          <p:nvPr/>
        </p:nvSpPr>
        <p:spPr>
          <a:xfrm>
            <a:off x="508406" y="457200"/>
            <a:ext cx="164592" cy="164592"/>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7006" y="457200"/>
            <a:ext cx="164592" cy="164592"/>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406" y="777240"/>
            <a:ext cx="11174882" cy="914400"/>
          </a:xfrm>
          <a:prstGeom prst="rect">
            <a:avLst/>
          </a:prstGeom>
          <a:noFill/>
        </p:spPr>
        <p:txBody>
          <a:bodyPr wrap="square" lIns="0" rIns="0" tIns="0" bIns="0" anchor="t">
            <a:spAutoFit/>
          </a:bodyPr>
          <a:lstStyle/>
          <a:p>
            <a:pPr algn="l">
              <a:lnSpc>
                <a:spcPct val="95000"/>
              </a:lnSpc>
            </a:pPr>
            <a:r>
              <a:rPr sz="3000" b="1">
                <a:solidFill>
                  <a:srgbClr val="000000"/>
                </a:solidFill>
                <a:latin typeface="Arial"/>
              </a:rPr>
              <a:t>L'embarquement en ligne fait la plus grande différence</a:t>
            </a:r>
          </a:p>
        </p:txBody>
      </p:sp>
      <p:sp>
        <p:nvSpPr>
          <p:cNvPr id="5" name="Rounded Rectangle 4"/>
          <p:cNvSpPr/>
          <p:nvPr/>
        </p:nvSpPr>
        <p:spPr>
          <a:xfrm>
            <a:off x="508406" y="1828800"/>
            <a:ext cx="7589520" cy="4160520"/>
          </a:xfrm>
          <a:prstGeom prst="roundRect">
            <a:avLst>
              <a:gd name="adj" fmla="val 483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Chart 5"/>
          <p:cNvGraphicFramePr>
            <a:graphicFrameLocks noGrp="1"/>
          </p:cNvGraphicFramePr>
          <p:nvPr/>
        </p:nvGraphicFramePr>
        <p:xfrm>
          <a:off x="782726" y="1920240"/>
          <a:ext cx="7040880" cy="3977639"/>
        </p:xfrm>
        <a:graphic>
          <a:graphicData uri="http://schemas.openxmlformats.org/drawingml/2006/chart">
            <c:chart xmlns:c="http://schemas.openxmlformats.org/drawingml/2006/chart" r:id="rId2"/>
          </a:graphicData>
        </a:graphic>
      </p:graphicFrame>
      <p:sp>
        <p:nvSpPr>
          <p:cNvPr id="7" name="Rounded Rectangle 6"/>
          <p:cNvSpPr/>
          <p:nvPr/>
        </p:nvSpPr>
        <p:spPr>
          <a:xfrm>
            <a:off x="8417966" y="1828800"/>
            <a:ext cx="3265322" cy="4160520"/>
          </a:xfrm>
          <a:prstGeom prst="roundRect">
            <a:avLst>
              <a:gd name="adj" fmla="val 616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wifi.png"/>
          <p:cNvPicPr>
            <a:picLocks noChangeAspect="1"/>
          </p:cNvPicPr>
          <p:nvPr/>
        </p:nvPicPr>
        <p:blipFill>
          <a:blip r:embed="rId3"/>
          <a:stretch>
            <a:fillRect/>
          </a:stretch>
        </p:blipFill>
        <p:spPr>
          <a:xfrm>
            <a:off x="8738006" y="2148840"/>
            <a:ext cx="640080" cy="640080"/>
          </a:xfrm>
          <a:prstGeom prst="rect">
            <a:avLst/>
          </a:prstGeom>
        </p:spPr>
      </p:pic>
      <p:sp>
        <p:nvSpPr>
          <p:cNvPr id="9" name="TextBox 8"/>
          <p:cNvSpPr txBox="1"/>
          <p:nvPr/>
        </p:nvSpPr>
        <p:spPr>
          <a:xfrm>
            <a:off x="8738006" y="2971800"/>
            <a:ext cx="2926080" cy="1463040"/>
          </a:xfrm>
          <a:prstGeom prst="rect">
            <a:avLst/>
          </a:prstGeom>
          <a:noFill/>
        </p:spPr>
        <p:txBody>
          <a:bodyPr wrap="square" lIns="0" rIns="0" tIns="0" bIns="0" anchor="t">
            <a:spAutoFit/>
          </a:bodyPr>
          <a:lstStyle/>
          <a:p>
            <a:pPr algn="l"/>
            <a:r>
              <a:rPr sz="1500" b="1">
                <a:solidFill>
                  <a:srgbClr val="444444"/>
                </a:solidFill>
                <a:latin typeface="Arial"/>
              </a:rPr>
              <a:t>Comment lire : </a:t>
            </a:r>
            <a:r>
              <a:rPr sz="1500" b="0">
                <a:solidFill>
                  <a:srgbClr val="444444"/>
                </a:solidFill>
                <a:latin typeface="Arial"/>
              </a:rPr>
              <a:t>écart de note moyenne (sur 5) entre passagers satisfaits et mécontents.</a:t>
            </a:r>
          </a:p>
        </p:txBody>
      </p:sp>
      <p:sp>
        <p:nvSpPr>
          <p:cNvPr id="10" name="TextBox 9"/>
          <p:cNvSpPr txBox="1"/>
          <p:nvPr/>
        </p:nvSpPr>
        <p:spPr>
          <a:xfrm>
            <a:off x="8738006" y="4206240"/>
            <a:ext cx="2926080" cy="1554480"/>
          </a:xfrm>
          <a:prstGeom prst="rect">
            <a:avLst/>
          </a:prstGeom>
          <a:noFill/>
        </p:spPr>
        <p:txBody>
          <a:bodyPr wrap="square" lIns="0" rIns="0" tIns="0" bIns="0" anchor="t">
            <a:spAutoFit/>
          </a:bodyPr>
          <a:lstStyle/>
          <a:p>
            <a:pPr algn="l"/>
            <a:r>
              <a:rPr sz="1500" b="1">
                <a:solidFill>
                  <a:srgbClr val="444444"/>
                </a:solidFill>
                <a:latin typeface="Arial"/>
              </a:rPr>
              <a:t>Porte d'embarquement et horaires : </a:t>
            </a:r>
            <a:r>
              <a:rPr sz="1500" b="0">
                <a:solidFill>
                  <a:srgbClr val="444444"/>
                </a:solidFill>
                <a:latin typeface="Arial"/>
              </a:rPr>
              <a:t>aucun lien avec la satisfaction.</a:t>
            </a:r>
          </a:p>
        </p:txBody>
      </p:sp>
      <p:sp>
        <p:nvSpPr>
          <p:cNvPr id="11" name="TextBox 10"/>
          <p:cNvSpPr txBox="1"/>
          <p:nvPr/>
        </p:nvSpPr>
        <p:spPr>
          <a:xfrm>
            <a:off x="508406" y="6327648"/>
            <a:ext cx="8229600" cy="274320"/>
          </a:xfrm>
          <a:prstGeom prst="rect">
            <a:avLst/>
          </a:prstGeom>
          <a:noFill/>
        </p:spPr>
        <p:txBody>
          <a:bodyPr wrap="square" lIns="0" rIns="0" tIns="0" bIns="0" anchor="ctr">
            <a:spAutoFit/>
          </a:bodyPr>
          <a:lstStyle/>
          <a:p>
            <a:pPr algn="l"/>
            <a:r>
              <a:rPr sz="1100" b="0">
                <a:solidFill>
                  <a:srgbClr val="8A8A8A"/>
                </a:solidFill>
                <a:latin typeface="Arial"/>
              </a:rPr>
              <a:t>Volet 1 — Expliquer · Léa · notes de 0 exclues (non-réponses)</a:t>
            </a:r>
          </a:p>
        </p:txBody>
      </p:sp>
      <p:sp>
        <p:nvSpPr>
          <p:cNvPr id="12" name="Oval 11"/>
          <p:cNvSpPr/>
          <p:nvPr/>
        </p:nvSpPr>
        <p:spPr>
          <a:xfrm>
            <a:off x="831829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47374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62919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78464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940088" y="6419088"/>
            <a:ext cx="256032" cy="91440"/>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26012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41557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57102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72647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88192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03736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19281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4826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50371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65916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81460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97005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112550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128095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43640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59184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Oval 1"/>
          <p:cNvSpPr/>
          <p:nvPr/>
        </p:nvSpPr>
        <p:spPr>
          <a:xfrm>
            <a:off x="508406" y="457200"/>
            <a:ext cx="164592" cy="164592"/>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7006" y="457200"/>
            <a:ext cx="164592" cy="164592"/>
          </a:xfrm>
          <a:prstGeom prst="ellipse">
            <a:avLst/>
          </a:prstGeom>
          <a:solidFill>
            <a:srgbClr val="A885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406" y="777240"/>
            <a:ext cx="11174882" cy="914400"/>
          </a:xfrm>
          <a:prstGeom prst="rect">
            <a:avLst/>
          </a:prstGeom>
          <a:noFill/>
        </p:spPr>
        <p:txBody>
          <a:bodyPr wrap="square" lIns="0" rIns="0" tIns="0" bIns="0" anchor="t">
            <a:spAutoFit/>
          </a:bodyPr>
          <a:lstStyle/>
          <a:p>
            <a:pPr algn="l">
              <a:lnSpc>
                <a:spcPct val="95000"/>
              </a:lnSpc>
            </a:pPr>
            <a:r>
              <a:rPr sz="3000" b="1">
                <a:solidFill>
                  <a:srgbClr val="000000"/>
                </a:solidFill>
                <a:latin typeface="Arial"/>
              </a:rPr>
              <a:t>Les leviers changent selon le motif du voyage</a:t>
            </a:r>
          </a:p>
        </p:txBody>
      </p:sp>
      <p:sp>
        <p:nvSpPr>
          <p:cNvPr id="5" name="Rounded Rectangle 4"/>
          <p:cNvSpPr/>
          <p:nvPr/>
        </p:nvSpPr>
        <p:spPr>
          <a:xfrm>
            <a:off x="508406" y="1828800"/>
            <a:ext cx="5427421" cy="4160520"/>
          </a:xfrm>
          <a:prstGeom prst="roundRect">
            <a:avLst>
              <a:gd name="adj" fmla="val 483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alise.png"/>
          <p:cNvPicPr>
            <a:picLocks noChangeAspect="1"/>
          </p:cNvPicPr>
          <p:nvPr/>
        </p:nvPicPr>
        <p:blipFill>
          <a:blip r:embed="rId2"/>
          <a:stretch>
            <a:fillRect/>
          </a:stretch>
        </p:blipFill>
        <p:spPr>
          <a:xfrm>
            <a:off x="874166" y="2148840"/>
            <a:ext cx="685800" cy="685800"/>
          </a:xfrm>
          <a:prstGeom prst="rect">
            <a:avLst/>
          </a:prstGeom>
        </p:spPr>
      </p:pic>
      <p:sp>
        <p:nvSpPr>
          <p:cNvPr id="7" name="TextBox 6"/>
          <p:cNvSpPr txBox="1"/>
          <p:nvPr/>
        </p:nvSpPr>
        <p:spPr>
          <a:xfrm>
            <a:off x="1788566" y="2148840"/>
            <a:ext cx="3781501" cy="411480"/>
          </a:xfrm>
          <a:prstGeom prst="rect">
            <a:avLst/>
          </a:prstGeom>
          <a:noFill/>
        </p:spPr>
        <p:txBody>
          <a:bodyPr wrap="square" lIns="0" rIns="0" tIns="0" bIns="0" anchor="t">
            <a:spAutoFit/>
          </a:bodyPr>
          <a:lstStyle/>
          <a:p>
            <a:pPr algn="l"/>
            <a:r>
              <a:rPr sz="2400" b="1">
                <a:solidFill>
                  <a:srgbClr val="000000"/>
                </a:solidFill>
                <a:latin typeface="Arial"/>
              </a:rPr>
              <a:t>Voyage pro</a:t>
            </a:r>
          </a:p>
        </p:txBody>
      </p:sp>
      <p:sp>
        <p:nvSpPr>
          <p:cNvPr id="8" name="TextBox 7"/>
          <p:cNvSpPr txBox="1"/>
          <p:nvPr/>
        </p:nvSpPr>
        <p:spPr>
          <a:xfrm>
            <a:off x="1788566" y="2560320"/>
            <a:ext cx="3781501" cy="320040"/>
          </a:xfrm>
          <a:prstGeom prst="rect">
            <a:avLst/>
          </a:prstGeom>
          <a:noFill/>
        </p:spPr>
        <p:txBody>
          <a:bodyPr wrap="square" lIns="0" rIns="0" tIns="0" bIns="0" anchor="t">
            <a:spAutoFit/>
          </a:bodyPr>
          <a:lstStyle/>
          <a:p>
            <a:pPr algn="l"/>
            <a:r>
              <a:rPr sz="1400" b="0">
                <a:solidFill>
                  <a:srgbClr val="444444"/>
                </a:solidFill>
                <a:latin typeface="Arial"/>
              </a:rPr>
              <a:t>71 655 passagers · 58 % satisfaits</a:t>
            </a:r>
          </a:p>
        </p:txBody>
      </p:sp>
      <p:sp>
        <p:nvSpPr>
          <p:cNvPr id="9" name="TextBox 8"/>
          <p:cNvSpPr txBox="1"/>
          <p:nvPr/>
        </p:nvSpPr>
        <p:spPr>
          <a:xfrm>
            <a:off x="874166" y="3246120"/>
            <a:ext cx="3598621" cy="320040"/>
          </a:xfrm>
          <a:prstGeom prst="rect">
            <a:avLst/>
          </a:prstGeom>
          <a:noFill/>
        </p:spPr>
        <p:txBody>
          <a:bodyPr wrap="square" lIns="0" rIns="0" tIns="0" bIns="0" anchor="t">
            <a:spAutoFit/>
          </a:bodyPr>
          <a:lstStyle/>
          <a:p>
            <a:pPr algn="l"/>
            <a:r>
              <a:rPr sz="1700" b="1">
                <a:solidFill>
                  <a:srgbClr val="000000"/>
                </a:solidFill>
                <a:latin typeface="Arial"/>
              </a:rPr>
              <a:t>Embarquement en ligne</a:t>
            </a:r>
          </a:p>
        </p:txBody>
      </p:sp>
      <p:sp>
        <p:nvSpPr>
          <p:cNvPr id="10" name="TextBox 9"/>
          <p:cNvSpPr txBox="1"/>
          <p:nvPr/>
        </p:nvSpPr>
        <p:spPr>
          <a:xfrm>
            <a:off x="4655667" y="3246120"/>
            <a:ext cx="914400" cy="320040"/>
          </a:xfrm>
          <a:prstGeom prst="rect">
            <a:avLst/>
          </a:prstGeom>
          <a:noFill/>
        </p:spPr>
        <p:txBody>
          <a:bodyPr wrap="square" lIns="0" rIns="0" tIns="0" bIns="0" anchor="t">
            <a:spAutoFit/>
          </a:bodyPr>
          <a:lstStyle/>
          <a:p>
            <a:pPr algn="r"/>
            <a:r>
              <a:rPr sz="1700" b="1">
                <a:solidFill>
                  <a:srgbClr val="0055FF"/>
                </a:solidFill>
                <a:latin typeface="Arial"/>
              </a:rPr>
              <a:t>1,54</a:t>
            </a:r>
          </a:p>
        </p:txBody>
      </p:sp>
      <p:sp>
        <p:nvSpPr>
          <p:cNvPr id="11" name="Rounded Rectangle 10"/>
          <p:cNvSpPr/>
          <p:nvPr/>
        </p:nvSpPr>
        <p:spPr>
          <a:xfrm>
            <a:off x="874166" y="3630168"/>
            <a:ext cx="4695901" cy="14630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74166" y="3630168"/>
            <a:ext cx="3287130" cy="146304"/>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4166" y="3959352"/>
            <a:ext cx="3598621" cy="320040"/>
          </a:xfrm>
          <a:prstGeom prst="rect">
            <a:avLst/>
          </a:prstGeom>
          <a:noFill/>
        </p:spPr>
        <p:txBody>
          <a:bodyPr wrap="square" lIns="0" rIns="0" tIns="0" bIns="0" anchor="t">
            <a:spAutoFit/>
          </a:bodyPr>
          <a:lstStyle/>
          <a:p>
            <a:pPr algn="l"/>
            <a:r>
              <a:rPr sz="1700" b="1">
                <a:solidFill>
                  <a:srgbClr val="000000"/>
                </a:solidFill>
                <a:latin typeface="Arial"/>
              </a:rPr>
              <a:t>Divertissement à bord</a:t>
            </a:r>
          </a:p>
        </p:txBody>
      </p:sp>
      <p:sp>
        <p:nvSpPr>
          <p:cNvPr id="14" name="TextBox 13"/>
          <p:cNvSpPr txBox="1"/>
          <p:nvPr/>
        </p:nvSpPr>
        <p:spPr>
          <a:xfrm>
            <a:off x="4655667" y="3959352"/>
            <a:ext cx="914400" cy="320040"/>
          </a:xfrm>
          <a:prstGeom prst="rect">
            <a:avLst/>
          </a:prstGeom>
          <a:noFill/>
        </p:spPr>
        <p:txBody>
          <a:bodyPr wrap="square" lIns="0" rIns="0" tIns="0" bIns="0" anchor="t">
            <a:spAutoFit/>
          </a:bodyPr>
          <a:lstStyle/>
          <a:p>
            <a:pPr algn="r"/>
            <a:r>
              <a:rPr sz="1700" b="1">
                <a:solidFill>
                  <a:srgbClr val="0055FF"/>
                </a:solidFill>
                <a:latin typeface="Arial"/>
              </a:rPr>
              <a:t>1,31</a:t>
            </a:r>
          </a:p>
        </p:txBody>
      </p:sp>
      <p:sp>
        <p:nvSpPr>
          <p:cNvPr id="15" name="Rounded Rectangle 14"/>
          <p:cNvSpPr/>
          <p:nvPr/>
        </p:nvSpPr>
        <p:spPr>
          <a:xfrm>
            <a:off x="874166" y="4343400"/>
            <a:ext cx="4695901" cy="14630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74166" y="4343400"/>
            <a:ext cx="2796195" cy="146304"/>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4166" y="4672583"/>
            <a:ext cx="3598621" cy="320040"/>
          </a:xfrm>
          <a:prstGeom prst="rect">
            <a:avLst/>
          </a:prstGeom>
          <a:noFill/>
        </p:spPr>
        <p:txBody>
          <a:bodyPr wrap="square" lIns="0" rIns="0" tIns="0" bIns="0" anchor="t">
            <a:spAutoFit/>
          </a:bodyPr>
          <a:lstStyle/>
          <a:p>
            <a:pPr algn="l"/>
            <a:r>
              <a:rPr sz="1700" b="1">
                <a:solidFill>
                  <a:srgbClr val="000000"/>
                </a:solidFill>
                <a:latin typeface="Arial"/>
              </a:rPr>
              <a:t>Confort du siège</a:t>
            </a:r>
          </a:p>
        </p:txBody>
      </p:sp>
      <p:sp>
        <p:nvSpPr>
          <p:cNvPr id="18" name="TextBox 17"/>
          <p:cNvSpPr txBox="1"/>
          <p:nvPr/>
        </p:nvSpPr>
        <p:spPr>
          <a:xfrm>
            <a:off x="4655667" y="4672583"/>
            <a:ext cx="914400" cy="320040"/>
          </a:xfrm>
          <a:prstGeom prst="rect">
            <a:avLst/>
          </a:prstGeom>
          <a:noFill/>
        </p:spPr>
        <p:txBody>
          <a:bodyPr wrap="square" lIns="0" rIns="0" tIns="0" bIns="0" anchor="t">
            <a:spAutoFit/>
          </a:bodyPr>
          <a:lstStyle/>
          <a:p>
            <a:pPr algn="r"/>
            <a:r>
              <a:rPr sz="1700" b="1">
                <a:solidFill>
                  <a:srgbClr val="0055FF"/>
                </a:solidFill>
                <a:latin typeface="Arial"/>
              </a:rPr>
              <a:t>1,14</a:t>
            </a:r>
          </a:p>
        </p:txBody>
      </p:sp>
      <p:sp>
        <p:nvSpPr>
          <p:cNvPr id="19" name="Rounded Rectangle 18"/>
          <p:cNvSpPr/>
          <p:nvPr/>
        </p:nvSpPr>
        <p:spPr>
          <a:xfrm>
            <a:off x="874166" y="5056631"/>
            <a:ext cx="4695901" cy="14630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74166" y="5056631"/>
            <a:ext cx="2433330" cy="146304"/>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4166" y="5440680"/>
            <a:ext cx="4695901" cy="365760"/>
          </a:xfrm>
          <a:prstGeom prst="rect">
            <a:avLst/>
          </a:prstGeom>
          <a:noFill/>
        </p:spPr>
        <p:txBody>
          <a:bodyPr wrap="square" lIns="0" rIns="0" tIns="0" bIns="0" anchor="t">
            <a:spAutoFit/>
          </a:bodyPr>
          <a:lstStyle/>
          <a:p>
            <a:pPr algn="l"/>
            <a:r>
              <a:rPr sz="1500" b="1">
                <a:solidFill>
                  <a:srgbClr val="444444"/>
                </a:solidFill>
                <a:latin typeface="Arial"/>
              </a:rPr>
              <a:t>Priorité : gain de temps et confort</a:t>
            </a:r>
          </a:p>
        </p:txBody>
      </p:sp>
      <p:sp>
        <p:nvSpPr>
          <p:cNvPr id="22" name="Rounded Rectangle 21"/>
          <p:cNvSpPr/>
          <p:nvPr/>
        </p:nvSpPr>
        <p:spPr>
          <a:xfrm>
            <a:off x="6255867" y="1828800"/>
            <a:ext cx="5427421" cy="4160520"/>
          </a:xfrm>
          <a:prstGeom prst="roundRect">
            <a:avLst>
              <a:gd name="adj" fmla="val 483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famille.png"/>
          <p:cNvPicPr>
            <a:picLocks noChangeAspect="1"/>
          </p:cNvPicPr>
          <p:nvPr/>
        </p:nvPicPr>
        <p:blipFill>
          <a:blip r:embed="rId3"/>
          <a:stretch>
            <a:fillRect/>
          </a:stretch>
        </p:blipFill>
        <p:spPr>
          <a:xfrm>
            <a:off x="6621627" y="2148840"/>
            <a:ext cx="685800" cy="685800"/>
          </a:xfrm>
          <a:prstGeom prst="rect">
            <a:avLst/>
          </a:prstGeom>
        </p:spPr>
      </p:pic>
      <p:sp>
        <p:nvSpPr>
          <p:cNvPr id="24" name="TextBox 23"/>
          <p:cNvSpPr txBox="1"/>
          <p:nvPr/>
        </p:nvSpPr>
        <p:spPr>
          <a:xfrm>
            <a:off x="7536027" y="2148840"/>
            <a:ext cx="3781501" cy="411480"/>
          </a:xfrm>
          <a:prstGeom prst="rect">
            <a:avLst/>
          </a:prstGeom>
          <a:noFill/>
        </p:spPr>
        <p:txBody>
          <a:bodyPr wrap="square" lIns="0" rIns="0" tIns="0" bIns="0" anchor="t">
            <a:spAutoFit/>
          </a:bodyPr>
          <a:lstStyle/>
          <a:p>
            <a:pPr algn="l"/>
            <a:r>
              <a:rPr sz="2400" b="1">
                <a:solidFill>
                  <a:srgbClr val="000000"/>
                </a:solidFill>
                <a:latin typeface="Arial"/>
              </a:rPr>
              <a:t>Voyage perso</a:t>
            </a:r>
          </a:p>
        </p:txBody>
      </p:sp>
      <p:sp>
        <p:nvSpPr>
          <p:cNvPr id="25" name="TextBox 24"/>
          <p:cNvSpPr txBox="1"/>
          <p:nvPr/>
        </p:nvSpPr>
        <p:spPr>
          <a:xfrm>
            <a:off x="7536027" y="2560320"/>
            <a:ext cx="3781501" cy="320040"/>
          </a:xfrm>
          <a:prstGeom prst="rect">
            <a:avLst/>
          </a:prstGeom>
          <a:noFill/>
        </p:spPr>
        <p:txBody>
          <a:bodyPr wrap="square" lIns="0" rIns="0" tIns="0" bIns="0" anchor="t">
            <a:spAutoFit/>
          </a:bodyPr>
          <a:lstStyle/>
          <a:p>
            <a:pPr algn="l"/>
            <a:r>
              <a:rPr sz="1400" b="0">
                <a:solidFill>
                  <a:srgbClr val="444444"/>
                </a:solidFill>
                <a:latin typeface="Arial"/>
              </a:rPr>
              <a:t>32 249 passagers · 10 % satisfaits</a:t>
            </a:r>
          </a:p>
        </p:txBody>
      </p:sp>
      <p:sp>
        <p:nvSpPr>
          <p:cNvPr id="26" name="TextBox 25"/>
          <p:cNvSpPr txBox="1"/>
          <p:nvPr/>
        </p:nvSpPr>
        <p:spPr>
          <a:xfrm>
            <a:off x="6621627" y="3246120"/>
            <a:ext cx="3598621" cy="320040"/>
          </a:xfrm>
          <a:prstGeom prst="rect">
            <a:avLst/>
          </a:prstGeom>
          <a:noFill/>
        </p:spPr>
        <p:txBody>
          <a:bodyPr wrap="square" lIns="0" rIns="0" tIns="0" bIns="0" anchor="t">
            <a:spAutoFit/>
          </a:bodyPr>
          <a:lstStyle/>
          <a:p>
            <a:pPr algn="l"/>
            <a:r>
              <a:rPr sz="1700" b="1">
                <a:solidFill>
                  <a:srgbClr val="000000"/>
                </a:solidFill>
                <a:latin typeface="Arial"/>
              </a:rPr>
              <a:t>Wi-Fi en vol</a:t>
            </a:r>
          </a:p>
        </p:txBody>
      </p:sp>
      <p:sp>
        <p:nvSpPr>
          <p:cNvPr id="27" name="TextBox 26"/>
          <p:cNvSpPr txBox="1"/>
          <p:nvPr/>
        </p:nvSpPr>
        <p:spPr>
          <a:xfrm>
            <a:off x="10403128" y="3246120"/>
            <a:ext cx="914400" cy="320040"/>
          </a:xfrm>
          <a:prstGeom prst="rect">
            <a:avLst/>
          </a:prstGeom>
          <a:noFill/>
        </p:spPr>
        <p:txBody>
          <a:bodyPr wrap="square" lIns="0" rIns="0" tIns="0" bIns="0" anchor="t">
            <a:spAutoFit/>
          </a:bodyPr>
          <a:lstStyle/>
          <a:p>
            <a:pPr algn="r"/>
            <a:r>
              <a:rPr sz="1700" b="1">
                <a:solidFill>
                  <a:srgbClr val="0055FF"/>
                </a:solidFill>
                <a:latin typeface="Arial"/>
              </a:rPr>
              <a:t>2,10</a:t>
            </a:r>
          </a:p>
        </p:txBody>
      </p:sp>
      <p:sp>
        <p:nvSpPr>
          <p:cNvPr id="28" name="Rounded Rectangle 27"/>
          <p:cNvSpPr/>
          <p:nvPr/>
        </p:nvSpPr>
        <p:spPr>
          <a:xfrm>
            <a:off x="6621627" y="3630168"/>
            <a:ext cx="4695901" cy="14630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621627" y="3630168"/>
            <a:ext cx="4482451" cy="146304"/>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1627" y="3959352"/>
            <a:ext cx="3598621" cy="320040"/>
          </a:xfrm>
          <a:prstGeom prst="rect">
            <a:avLst/>
          </a:prstGeom>
          <a:noFill/>
        </p:spPr>
        <p:txBody>
          <a:bodyPr wrap="square" lIns="0" rIns="0" tIns="0" bIns="0" anchor="t">
            <a:spAutoFit/>
          </a:bodyPr>
          <a:lstStyle/>
          <a:p>
            <a:pPr algn="l"/>
            <a:r>
              <a:rPr sz="1700" b="1">
                <a:solidFill>
                  <a:srgbClr val="000000"/>
                </a:solidFill>
                <a:latin typeface="Arial"/>
              </a:rPr>
              <a:t>Réservation en ligne</a:t>
            </a:r>
          </a:p>
        </p:txBody>
      </p:sp>
      <p:sp>
        <p:nvSpPr>
          <p:cNvPr id="31" name="TextBox 30"/>
          <p:cNvSpPr txBox="1"/>
          <p:nvPr/>
        </p:nvSpPr>
        <p:spPr>
          <a:xfrm>
            <a:off x="10403128" y="3959352"/>
            <a:ext cx="914400" cy="320040"/>
          </a:xfrm>
          <a:prstGeom prst="rect">
            <a:avLst/>
          </a:prstGeom>
          <a:noFill/>
        </p:spPr>
        <p:txBody>
          <a:bodyPr wrap="square" lIns="0" rIns="0" tIns="0" bIns="0" anchor="t">
            <a:spAutoFit/>
          </a:bodyPr>
          <a:lstStyle/>
          <a:p>
            <a:pPr algn="r"/>
            <a:r>
              <a:rPr sz="1700" b="1">
                <a:solidFill>
                  <a:srgbClr val="0055FF"/>
                </a:solidFill>
                <a:latin typeface="Arial"/>
              </a:rPr>
              <a:t>1,88</a:t>
            </a:r>
          </a:p>
        </p:txBody>
      </p:sp>
      <p:sp>
        <p:nvSpPr>
          <p:cNvPr id="32" name="Rounded Rectangle 31"/>
          <p:cNvSpPr/>
          <p:nvPr/>
        </p:nvSpPr>
        <p:spPr>
          <a:xfrm>
            <a:off x="6621627" y="4343400"/>
            <a:ext cx="4695901" cy="14630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621627" y="4343400"/>
            <a:ext cx="4012861" cy="146304"/>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1627" y="4672583"/>
            <a:ext cx="3598621" cy="320040"/>
          </a:xfrm>
          <a:prstGeom prst="rect">
            <a:avLst/>
          </a:prstGeom>
          <a:noFill/>
        </p:spPr>
        <p:txBody>
          <a:bodyPr wrap="square" lIns="0" rIns="0" tIns="0" bIns="0" anchor="t">
            <a:spAutoFit/>
          </a:bodyPr>
          <a:lstStyle/>
          <a:p>
            <a:pPr algn="l"/>
            <a:r>
              <a:rPr sz="1700" b="1">
                <a:solidFill>
                  <a:srgbClr val="000000"/>
                </a:solidFill>
                <a:latin typeface="Arial"/>
              </a:rPr>
              <a:t>Embarquement en ligne</a:t>
            </a:r>
          </a:p>
        </p:txBody>
      </p:sp>
      <p:sp>
        <p:nvSpPr>
          <p:cNvPr id="35" name="TextBox 34"/>
          <p:cNvSpPr txBox="1"/>
          <p:nvPr/>
        </p:nvSpPr>
        <p:spPr>
          <a:xfrm>
            <a:off x="10403128" y="4672583"/>
            <a:ext cx="914400" cy="320040"/>
          </a:xfrm>
          <a:prstGeom prst="rect">
            <a:avLst/>
          </a:prstGeom>
          <a:noFill/>
        </p:spPr>
        <p:txBody>
          <a:bodyPr wrap="square" lIns="0" rIns="0" tIns="0" bIns="0" anchor="t">
            <a:spAutoFit/>
          </a:bodyPr>
          <a:lstStyle/>
          <a:p>
            <a:pPr algn="r"/>
            <a:r>
              <a:rPr sz="1700" b="1">
                <a:solidFill>
                  <a:srgbClr val="0055FF"/>
                </a:solidFill>
                <a:latin typeface="Arial"/>
              </a:rPr>
              <a:t>1,33</a:t>
            </a:r>
          </a:p>
        </p:txBody>
      </p:sp>
      <p:sp>
        <p:nvSpPr>
          <p:cNvPr id="36" name="Rounded Rectangle 35"/>
          <p:cNvSpPr/>
          <p:nvPr/>
        </p:nvSpPr>
        <p:spPr>
          <a:xfrm>
            <a:off x="6621627" y="5056631"/>
            <a:ext cx="4695901" cy="14630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621627" y="5056631"/>
            <a:ext cx="2838885" cy="146304"/>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21627" y="5440680"/>
            <a:ext cx="4695901" cy="365760"/>
          </a:xfrm>
          <a:prstGeom prst="rect">
            <a:avLst/>
          </a:prstGeom>
          <a:noFill/>
        </p:spPr>
        <p:txBody>
          <a:bodyPr wrap="square" lIns="0" rIns="0" tIns="0" bIns="0" anchor="t">
            <a:spAutoFit/>
          </a:bodyPr>
          <a:lstStyle/>
          <a:p>
            <a:pPr algn="l"/>
            <a:r>
              <a:rPr sz="1500" b="1">
                <a:solidFill>
                  <a:srgbClr val="444444"/>
                </a:solidFill>
                <a:latin typeface="Arial"/>
              </a:rPr>
              <a:t>Priorité : le numérique</a:t>
            </a:r>
          </a:p>
        </p:txBody>
      </p:sp>
      <p:sp>
        <p:nvSpPr>
          <p:cNvPr id="39" name="TextBox 38"/>
          <p:cNvSpPr txBox="1"/>
          <p:nvPr/>
        </p:nvSpPr>
        <p:spPr>
          <a:xfrm>
            <a:off x="508406" y="6327648"/>
            <a:ext cx="8229600" cy="274320"/>
          </a:xfrm>
          <a:prstGeom prst="rect">
            <a:avLst/>
          </a:prstGeom>
          <a:noFill/>
        </p:spPr>
        <p:txBody>
          <a:bodyPr wrap="square" lIns="0" rIns="0" tIns="0" bIns="0" anchor="ctr">
            <a:spAutoFit/>
          </a:bodyPr>
          <a:lstStyle/>
          <a:p>
            <a:pPr algn="l"/>
            <a:r>
              <a:rPr sz="1100" b="0">
                <a:solidFill>
                  <a:srgbClr val="8A8A8A"/>
                </a:solidFill>
                <a:latin typeface="Arial"/>
              </a:rPr>
              <a:t>Volet 1 — Expliquer · Léa · écart de note moyenne entre satisfaits et mécontents, par segment</a:t>
            </a:r>
          </a:p>
        </p:txBody>
      </p:sp>
      <p:sp>
        <p:nvSpPr>
          <p:cNvPr id="40" name="Oval 39"/>
          <p:cNvSpPr/>
          <p:nvPr/>
        </p:nvSpPr>
        <p:spPr>
          <a:xfrm>
            <a:off x="831829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7374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62919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78464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94008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095536" y="6419088"/>
            <a:ext cx="256032" cy="91440"/>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41557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957102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72647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88192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003736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19281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34826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50371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65916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81460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97005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112550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128095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143640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59184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Oval 1"/>
          <p:cNvSpPr/>
          <p:nvPr/>
        </p:nvSpPr>
        <p:spPr>
          <a:xfrm>
            <a:off x="508406" y="457200"/>
            <a:ext cx="164592" cy="164592"/>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7006" y="457200"/>
            <a:ext cx="164592" cy="164592"/>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65606" y="457200"/>
            <a:ext cx="164592" cy="164592"/>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406" y="777240"/>
            <a:ext cx="11174882" cy="914400"/>
          </a:xfrm>
          <a:prstGeom prst="rect">
            <a:avLst/>
          </a:prstGeom>
          <a:noFill/>
        </p:spPr>
        <p:txBody>
          <a:bodyPr wrap="square" lIns="0" rIns="0" tIns="0" bIns="0" anchor="t">
            <a:spAutoFit/>
          </a:bodyPr>
          <a:lstStyle/>
          <a:p>
            <a:pPr algn="l">
              <a:lnSpc>
                <a:spcPct val="95000"/>
              </a:lnSpc>
            </a:pPr>
            <a:r>
              <a:rPr sz="3000" b="1">
                <a:solidFill>
                  <a:srgbClr val="000000"/>
                </a:solidFill>
                <a:latin typeface="Arial"/>
              </a:rPr>
              <a:t>Lié à la satisfaction ne veut pas dire « cause »</a:t>
            </a:r>
          </a:p>
        </p:txBody>
      </p:sp>
      <p:sp>
        <p:nvSpPr>
          <p:cNvPr id="6" name="Rounded Rectangle 5"/>
          <p:cNvSpPr/>
          <p:nvPr/>
        </p:nvSpPr>
        <p:spPr>
          <a:xfrm>
            <a:off x="508406" y="1828800"/>
            <a:ext cx="11174882" cy="4160520"/>
          </a:xfrm>
          <a:prstGeom prst="roundRect">
            <a:avLst>
              <a:gd name="adj" fmla="val 483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828446" y="2057400"/>
          <a:ext cx="10533888" cy="3017520"/>
        </p:xfrm>
        <a:graphic>
          <a:graphicData uri="http://schemas.openxmlformats.org/drawingml/2006/table">
            <a:tbl>
              <a:tblPr firstRow="0" bandRow="0">
                <a:tableStyleId>{5C22544A-7EE6-4342-B048-85BDC9FD1C3A}</a:tableStyleId>
              </a:tblPr>
              <a:tblGrid>
                <a:gridCol w="2148840"/>
                <a:gridCol w="2240280"/>
                <a:gridCol w="2011680"/>
                <a:gridCol w="1783080"/>
                <a:gridCol w="2350008"/>
              </a:tblGrid>
              <a:tr h="502920">
                <a:tc>
                  <a:txBody>
                    <a:bodyPr wrap="square"/>
                    <a:lstStyle/>
                    <a:p>
                      <a:r>
                        <a:rPr sz="1400" b="1">
                          <a:solidFill>
                            <a:srgbClr val="000000"/>
                          </a:solidFill>
                          <a:latin typeface="Arial"/>
                        </a:rPr>
                        <a:t>Facteur</a:t>
                      </a:r>
                    </a:p>
                  </a:txBody>
                  <a:tcPr marL="109728" marR="109728" anchor="ctr">
                    <a:solidFill>
                      <a:srgbClr val="F4F4F4"/>
                    </a:solidFill>
                  </a:tcPr>
                </a:tc>
                <a:tc>
                  <a:txBody>
                    <a:bodyPr wrap="square"/>
                    <a:lstStyle/>
                    <a:p>
                      <a:r>
                        <a:rPr sz="1400" b="1">
                          <a:solidFill>
                            <a:srgbClr val="000000"/>
                          </a:solidFill>
                          <a:latin typeface="Arial"/>
                        </a:rPr>
                        <a:t>Lien avec la satisfaction</a:t>
                      </a:r>
                    </a:p>
                  </a:txBody>
                  <a:tcPr marL="109728" marR="109728" anchor="ctr">
                    <a:solidFill>
                      <a:srgbClr val="F4F4F4"/>
                    </a:solidFill>
                  </a:tcPr>
                </a:tc>
                <a:tc>
                  <a:txBody>
                    <a:bodyPr wrap="square"/>
                    <a:lstStyle/>
                    <a:p>
                      <a:r>
                        <a:rPr sz="1400" b="1">
                          <a:solidFill>
                            <a:srgbClr val="000000"/>
                          </a:solidFill>
                          <a:latin typeface="Arial"/>
                        </a:rPr>
                        <a:t>La compagnie peut agir ?</a:t>
                      </a:r>
                    </a:p>
                  </a:txBody>
                  <a:tcPr marL="109728" marR="109728" anchor="ctr">
                    <a:solidFill>
                      <a:srgbClr val="F4F4F4"/>
                    </a:solidFill>
                  </a:tcPr>
                </a:tc>
                <a:tc>
                  <a:txBody>
                    <a:bodyPr wrap="square"/>
                    <a:lstStyle/>
                    <a:p>
                      <a:r>
                        <a:rPr sz="1400" b="1">
                          <a:solidFill>
                            <a:srgbClr val="000000"/>
                          </a:solidFill>
                          <a:latin typeface="Arial"/>
                        </a:rPr>
                        <a:t>Cause prouvée ?</a:t>
                      </a:r>
                    </a:p>
                  </a:txBody>
                  <a:tcPr marL="109728" marR="109728" anchor="ctr">
                    <a:solidFill>
                      <a:srgbClr val="F4F4F4"/>
                    </a:solidFill>
                  </a:tcPr>
                </a:tc>
                <a:tc>
                  <a:txBody>
                    <a:bodyPr wrap="square"/>
                    <a:lstStyle/>
                    <a:p>
                      <a:r>
                        <a:rPr sz="1400" b="1">
                          <a:solidFill>
                            <a:srgbClr val="000000"/>
                          </a:solidFill>
                          <a:latin typeface="Arial"/>
                        </a:rPr>
                        <a:t>Action proposée</a:t>
                      </a:r>
                    </a:p>
                  </a:txBody>
                  <a:tcPr marL="109728" marR="109728" anchor="ctr">
                    <a:solidFill>
                      <a:srgbClr val="F4F4F4"/>
                    </a:solidFill>
                  </a:tcPr>
                </a:tc>
              </a:tr>
              <a:tr h="502920">
                <a:tc>
                  <a:txBody>
                    <a:bodyPr wrap="square"/>
                    <a:lstStyle/>
                    <a:p>
                      <a:r>
                        <a:rPr sz="1400" b="1">
                          <a:solidFill>
                            <a:srgbClr val="000000"/>
                          </a:solidFill>
                          <a:latin typeface="Arial"/>
                        </a:rPr>
                        <a:t>Wi-Fi en vol</a:t>
                      </a:r>
                    </a:p>
                  </a:txBody>
                  <a:tcPr marL="109728" marR="109728" anchor="ctr">
                    <a:solidFill>
                      <a:srgbClr val="FFFFFF"/>
                    </a:solidFill>
                  </a:tcPr>
                </a:tc>
                <a:tc>
                  <a:txBody>
                    <a:bodyPr wrap="square"/>
                    <a:lstStyle/>
                    <a:p>
                      <a:r>
                        <a:rPr sz="1400" b="0">
                          <a:solidFill>
                            <a:srgbClr val="444444"/>
                          </a:solidFill>
                          <a:latin typeface="Arial"/>
                        </a:rPr>
                        <a:t>Fort (2,10 en voyage perso)</a:t>
                      </a:r>
                    </a:p>
                  </a:txBody>
                  <a:tcPr marL="109728" marR="109728" anchor="ctr">
                    <a:solidFill>
                      <a:srgbClr val="FFFFFF"/>
                    </a:solidFill>
                  </a:tcPr>
                </a:tc>
                <a:tc>
                  <a:txBody>
                    <a:bodyPr wrap="square"/>
                    <a:lstStyle/>
                    <a:p>
                      <a:r>
                        <a:rPr sz="1400" b="0">
                          <a:solidFill>
                            <a:srgbClr val="444444"/>
                          </a:solidFill>
                          <a:latin typeface="Arial"/>
                        </a:rPr>
                        <a:t>Oui : réseau</a:t>
                      </a:r>
                    </a:p>
                  </a:txBody>
                  <a:tcPr marL="109728" marR="109728" anchor="ctr">
                    <a:solidFill>
                      <a:srgbClr val="FFFFFF"/>
                    </a:solidFill>
                  </a:tcPr>
                </a:tc>
                <a:tc>
                  <a:txBody>
                    <a:bodyPr wrap="square"/>
                    <a:lstStyle/>
                    <a:p>
                      <a:r>
                        <a:rPr sz="1400" b="0">
                          <a:solidFill>
                            <a:srgbClr val="444444"/>
                          </a:solidFill>
                          <a:latin typeface="Arial"/>
                        </a:rPr>
                        <a:t>Non démontré</a:t>
                      </a:r>
                    </a:p>
                  </a:txBody>
                  <a:tcPr marL="109728" marR="109728" anchor="ctr">
                    <a:solidFill>
                      <a:srgbClr val="FFFFFF"/>
                    </a:solidFill>
                  </a:tcPr>
                </a:tc>
                <a:tc>
                  <a:txBody>
                    <a:bodyPr wrap="square"/>
                    <a:lstStyle/>
                    <a:p>
                      <a:r>
                        <a:rPr sz="1400" b="0">
                          <a:solidFill>
                            <a:srgbClr val="000000"/>
                          </a:solidFill>
                          <a:latin typeface="Arial"/>
                        </a:rPr>
                        <a:t>Fiabiliser la connexion</a:t>
                      </a:r>
                    </a:p>
                  </a:txBody>
                  <a:tcPr marL="109728" marR="109728" anchor="ctr">
                    <a:solidFill>
                      <a:srgbClr val="FFFFFF"/>
                    </a:solidFill>
                  </a:tcPr>
                </a:tc>
              </a:tr>
              <a:tr h="502920">
                <a:tc>
                  <a:txBody>
                    <a:bodyPr wrap="square"/>
                    <a:lstStyle/>
                    <a:p>
                      <a:r>
                        <a:rPr sz="1400" b="1">
                          <a:solidFill>
                            <a:srgbClr val="000000"/>
                          </a:solidFill>
                          <a:latin typeface="Arial"/>
                        </a:rPr>
                        <a:t>Embarquement en ligne</a:t>
                      </a:r>
                    </a:p>
                  </a:txBody>
                  <a:tcPr marL="109728" marR="109728" anchor="ctr">
                    <a:solidFill>
                      <a:srgbClr val="FFFFFF"/>
                    </a:solidFill>
                  </a:tcPr>
                </a:tc>
                <a:tc>
                  <a:txBody>
                    <a:bodyPr wrap="square"/>
                    <a:lstStyle/>
                    <a:p>
                      <a:r>
                        <a:rPr sz="1400" b="0">
                          <a:solidFill>
                            <a:srgbClr val="444444"/>
                          </a:solidFill>
                          <a:latin typeface="Arial"/>
                        </a:rPr>
                        <a:t>Fort (1,45)</a:t>
                      </a:r>
                    </a:p>
                  </a:txBody>
                  <a:tcPr marL="109728" marR="109728" anchor="ctr">
                    <a:solidFill>
                      <a:srgbClr val="FFFFFF"/>
                    </a:solidFill>
                  </a:tcPr>
                </a:tc>
                <a:tc>
                  <a:txBody>
                    <a:bodyPr wrap="square"/>
                    <a:lstStyle/>
                    <a:p>
                      <a:r>
                        <a:rPr sz="1400" b="0">
                          <a:solidFill>
                            <a:srgbClr val="444444"/>
                          </a:solidFill>
                          <a:latin typeface="Arial"/>
                        </a:rPr>
                        <a:t>Oui : parcours numérique</a:t>
                      </a:r>
                    </a:p>
                  </a:txBody>
                  <a:tcPr marL="109728" marR="109728" anchor="ctr">
                    <a:solidFill>
                      <a:srgbClr val="FFFFFF"/>
                    </a:solidFill>
                  </a:tcPr>
                </a:tc>
                <a:tc>
                  <a:txBody>
                    <a:bodyPr wrap="square"/>
                    <a:lstStyle/>
                    <a:p>
                      <a:r>
                        <a:rPr sz="1400" b="0">
                          <a:solidFill>
                            <a:srgbClr val="444444"/>
                          </a:solidFill>
                          <a:latin typeface="Arial"/>
                        </a:rPr>
                        <a:t>Non démontré</a:t>
                      </a:r>
                    </a:p>
                  </a:txBody>
                  <a:tcPr marL="109728" marR="109728" anchor="ctr">
                    <a:solidFill>
                      <a:srgbClr val="FFFFFF"/>
                    </a:solidFill>
                  </a:tcPr>
                </a:tc>
                <a:tc>
                  <a:txBody>
                    <a:bodyPr wrap="square"/>
                    <a:lstStyle/>
                    <a:p>
                      <a:r>
                        <a:rPr sz="1400" b="0">
                          <a:solidFill>
                            <a:srgbClr val="000000"/>
                          </a:solidFill>
                          <a:latin typeface="Arial"/>
                        </a:rPr>
                        <a:t>Simplifier l'application</a:t>
                      </a:r>
                    </a:p>
                  </a:txBody>
                  <a:tcPr marL="109728" marR="109728" anchor="ctr">
                    <a:solidFill>
                      <a:srgbClr val="FFFFFF"/>
                    </a:solidFill>
                  </a:tcPr>
                </a:tc>
              </a:tr>
              <a:tr h="502920">
                <a:tc>
                  <a:txBody>
                    <a:bodyPr wrap="square"/>
                    <a:lstStyle/>
                    <a:p>
                      <a:r>
                        <a:rPr sz="1400" b="1">
                          <a:solidFill>
                            <a:srgbClr val="000000"/>
                          </a:solidFill>
                          <a:latin typeface="Arial"/>
                        </a:rPr>
                        <a:t>Siège et divertissement</a:t>
                      </a:r>
                    </a:p>
                  </a:txBody>
                  <a:tcPr marL="109728" marR="109728" anchor="ctr">
                    <a:solidFill>
                      <a:srgbClr val="FFFFFF"/>
                    </a:solidFill>
                  </a:tcPr>
                </a:tc>
                <a:tc>
                  <a:txBody>
                    <a:bodyPr wrap="square"/>
                    <a:lstStyle/>
                    <a:p>
                      <a:r>
                        <a:rPr sz="1400" b="0">
                          <a:solidFill>
                            <a:srgbClr val="444444"/>
                          </a:solidFill>
                          <a:latin typeface="Arial"/>
                        </a:rPr>
                        <a:t>Fort en voyage pro</a:t>
                      </a:r>
                    </a:p>
                  </a:txBody>
                  <a:tcPr marL="109728" marR="109728" anchor="ctr">
                    <a:solidFill>
                      <a:srgbClr val="FFFFFF"/>
                    </a:solidFill>
                  </a:tcPr>
                </a:tc>
                <a:tc>
                  <a:txBody>
                    <a:bodyPr wrap="square"/>
                    <a:lstStyle/>
                    <a:p>
                      <a:r>
                        <a:rPr sz="1400" b="0">
                          <a:solidFill>
                            <a:srgbClr val="444444"/>
                          </a:solidFill>
                          <a:latin typeface="Arial"/>
                        </a:rPr>
                        <a:t>Oui, mais coûteux</a:t>
                      </a:r>
                    </a:p>
                  </a:txBody>
                  <a:tcPr marL="109728" marR="109728" anchor="ctr">
                    <a:solidFill>
                      <a:srgbClr val="FFFFFF"/>
                    </a:solidFill>
                  </a:tcPr>
                </a:tc>
                <a:tc>
                  <a:txBody>
                    <a:bodyPr wrap="square"/>
                    <a:lstStyle/>
                    <a:p>
                      <a:r>
                        <a:rPr sz="1400" b="0">
                          <a:solidFill>
                            <a:srgbClr val="444444"/>
                          </a:solidFill>
                          <a:latin typeface="Arial"/>
                        </a:rPr>
                        <a:t>Non démontré</a:t>
                      </a:r>
                    </a:p>
                  </a:txBody>
                  <a:tcPr marL="109728" marR="109728" anchor="ctr">
                    <a:solidFill>
                      <a:srgbClr val="FFFFFF"/>
                    </a:solidFill>
                  </a:tcPr>
                </a:tc>
                <a:tc>
                  <a:txBody>
                    <a:bodyPr wrap="square"/>
                    <a:lstStyle/>
                    <a:p>
                      <a:r>
                        <a:rPr sz="1400" b="0">
                          <a:solidFill>
                            <a:srgbClr val="000000"/>
                          </a:solidFill>
                          <a:latin typeface="Arial"/>
                        </a:rPr>
                        <a:t>Cibler les lignes affaires</a:t>
                      </a:r>
                    </a:p>
                  </a:txBody>
                  <a:tcPr marL="109728" marR="109728" anchor="ctr">
                    <a:solidFill>
                      <a:srgbClr val="FFFFFF"/>
                    </a:solidFill>
                  </a:tcPr>
                </a:tc>
              </a:tr>
              <a:tr h="502920">
                <a:tc>
                  <a:txBody>
                    <a:bodyPr wrap="square"/>
                    <a:lstStyle/>
                    <a:p>
                      <a:r>
                        <a:rPr sz="1400" b="1">
                          <a:solidFill>
                            <a:srgbClr val="000000"/>
                          </a:solidFill>
                          <a:latin typeface="Arial"/>
                        </a:rPr>
                        <a:t>Classe et motif du voyage</a:t>
                      </a:r>
                    </a:p>
                  </a:txBody>
                  <a:tcPr marL="109728" marR="109728" anchor="ctr">
                    <a:solidFill>
                      <a:srgbClr val="FFFFFF"/>
                    </a:solidFill>
                  </a:tcPr>
                </a:tc>
                <a:tc>
                  <a:txBody>
                    <a:bodyPr wrap="square"/>
                    <a:lstStyle/>
                    <a:p>
                      <a:r>
                        <a:rPr sz="1400" b="0">
                          <a:solidFill>
                            <a:srgbClr val="444444"/>
                          </a:solidFill>
                          <a:latin typeface="Arial"/>
                        </a:rPr>
                        <a:t>Très fort (0,51 et 0,45)</a:t>
                      </a:r>
                    </a:p>
                  </a:txBody>
                  <a:tcPr marL="109728" marR="109728" anchor="ctr">
                    <a:solidFill>
                      <a:srgbClr val="FFFFFF"/>
                    </a:solidFill>
                  </a:tcPr>
                </a:tc>
                <a:tc>
                  <a:txBody>
                    <a:bodyPr wrap="square"/>
                    <a:lstStyle/>
                    <a:p>
                      <a:r>
                        <a:rPr sz="1400" b="0">
                          <a:solidFill>
                            <a:srgbClr val="444444"/>
                          </a:solidFill>
                          <a:latin typeface="Arial"/>
                        </a:rPr>
                        <a:t>Pas directement</a:t>
                      </a:r>
                    </a:p>
                  </a:txBody>
                  <a:tcPr marL="109728" marR="109728" anchor="ctr">
                    <a:solidFill>
                      <a:srgbClr val="FFFFFF"/>
                    </a:solidFill>
                  </a:tcPr>
                </a:tc>
                <a:tc>
                  <a:txBody>
                    <a:bodyPr wrap="square"/>
                    <a:lstStyle/>
                    <a:p>
                      <a:r>
                        <a:rPr sz="1400" b="0">
                          <a:solidFill>
                            <a:srgbClr val="444444"/>
                          </a:solidFill>
                          <a:latin typeface="Arial"/>
                        </a:rPr>
                        <a:t>Non : profil du client</a:t>
                      </a:r>
                    </a:p>
                  </a:txBody>
                  <a:tcPr marL="109728" marR="109728" anchor="ctr">
                    <a:solidFill>
                      <a:srgbClr val="FFFFFF"/>
                    </a:solidFill>
                  </a:tcPr>
                </a:tc>
                <a:tc>
                  <a:txBody>
                    <a:bodyPr wrap="square"/>
                    <a:lstStyle/>
                    <a:p>
                      <a:r>
                        <a:rPr sz="1400" b="0">
                          <a:solidFill>
                            <a:srgbClr val="000000"/>
                          </a:solidFill>
                          <a:latin typeface="Arial"/>
                        </a:rPr>
                        <a:t>Adapter l'offre par segment</a:t>
                      </a:r>
                    </a:p>
                  </a:txBody>
                  <a:tcPr marL="109728" marR="109728" anchor="ctr">
                    <a:solidFill>
                      <a:srgbClr val="FFFFFF"/>
                    </a:solidFill>
                  </a:tcPr>
                </a:tc>
              </a:tr>
              <a:tr h="502920">
                <a:tc>
                  <a:txBody>
                    <a:bodyPr wrap="square"/>
                    <a:lstStyle/>
                    <a:p>
                      <a:r>
                        <a:rPr sz="1400" b="1">
                          <a:solidFill>
                            <a:srgbClr val="000000"/>
                          </a:solidFill>
                          <a:latin typeface="Arial"/>
                        </a:rPr>
                        <a:t>Porte et horaires</a:t>
                      </a:r>
                    </a:p>
                  </a:txBody>
                  <a:tcPr marL="109728" marR="109728" anchor="ctr">
                    <a:solidFill>
                      <a:srgbClr val="FFFFFF"/>
                    </a:solidFill>
                  </a:tcPr>
                </a:tc>
                <a:tc>
                  <a:txBody>
                    <a:bodyPr wrap="square"/>
                    <a:lstStyle/>
                    <a:p>
                      <a:r>
                        <a:rPr sz="1400" b="0">
                          <a:solidFill>
                            <a:srgbClr val="444444"/>
                          </a:solidFill>
                          <a:latin typeface="Arial"/>
                        </a:rPr>
                        <a:t>Aucun</a:t>
                      </a:r>
                    </a:p>
                  </a:txBody>
                  <a:tcPr marL="109728" marR="109728" anchor="ctr">
                    <a:solidFill>
                      <a:srgbClr val="FFFFFF"/>
                    </a:solidFill>
                  </a:tcPr>
                </a:tc>
                <a:tc>
                  <a:txBody>
                    <a:bodyPr wrap="square"/>
                    <a:lstStyle/>
                    <a:p>
                      <a:r>
                        <a:rPr sz="1400" b="0">
                          <a:solidFill>
                            <a:srgbClr val="444444"/>
                          </a:solidFill>
                          <a:latin typeface="Arial"/>
                        </a:rPr>
                        <a:t>—</a:t>
                      </a:r>
                    </a:p>
                  </a:txBody>
                  <a:tcPr marL="109728" marR="109728" anchor="ctr">
                    <a:solidFill>
                      <a:srgbClr val="FFFFFF"/>
                    </a:solidFill>
                  </a:tcPr>
                </a:tc>
                <a:tc>
                  <a:txBody>
                    <a:bodyPr wrap="square"/>
                    <a:lstStyle/>
                    <a:p>
                      <a:r>
                        <a:rPr sz="1400" b="0">
                          <a:solidFill>
                            <a:srgbClr val="444444"/>
                          </a:solidFill>
                          <a:latin typeface="Arial"/>
                        </a:rPr>
                        <a:t>—</a:t>
                      </a:r>
                    </a:p>
                  </a:txBody>
                  <a:tcPr marL="109728" marR="109728" anchor="ctr">
                    <a:solidFill>
                      <a:srgbClr val="FFFFFF"/>
                    </a:solidFill>
                  </a:tcPr>
                </a:tc>
                <a:tc>
                  <a:txBody>
                    <a:bodyPr wrap="square"/>
                    <a:lstStyle/>
                    <a:p>
                      <a:r>
                        <a:rPr sz="1400" b="0">
                          <a:solidFill>
                            <a:srgbClr val="000000"/>
                          </a:solidFill>
                          <a:latin typeface="Arial"/>
                        </a:rPr>
                        <a:t>Pas de budget</a:t>
                      </a:r>
                    </a:p>
                  </a:txBody>
                  <a:tcPr marL="109728" marR="109728" anchor="ctr">
                    <a:solidFill>
                      <a:srgbClr val="FFFFFF"/>
                    </a:solidFill>
                  </a:tcPr>
                </a:tc>
              </a:tr>
            </a:tbl>
          </a:graphicData>
        </a:graphic>
      </p:graphicFrame>
      <p:pic>
        <p:nvPicPr>
          <p:cNvPr id="8" name="Picture 7" descr="alerte.png"/>
          <p:cNvPicPr>
            <a:picLocks noChangeAspect="1"/>
          </p:cNvPicPr>
          <p:nvPr/>
        </p:nvPicPr>
        <p:blipFill>
          <a:blip r:embed="rId2"/>
          <a:stretch>
            <a:fillRect/>
          </a:stretch>
        </p:blipFill>
        <p:spPr>
          <a:xfrm>
            <a:off x="828446" y="5303520"/>
            <a:ext cx="457200" cy="457200"/>
          </a:xfrm>
          <a:prstGeom prst="rect">
            <a:avLst/>
          </a:prstGeom>
        </p:spPr>
      </p:pic>
      <p:sp>
        <p:nvSpPr>
          <p:cNvPr id="9" name="TextBox 8"/>
          <p:cNvSpPr txBox="1"/>
          <p:nvPr/>
        </p:nvSpPr>
        <p:spPr>
          <a:xfrm>
            <a:off x="1468526" y="5285232"/>
            <a:ext cx="9894722" cy="502920"/>
          </a:xfrm>
          <a:prstGeom prst="rect">
            <a:avLst/>
          </a:prstGeom>
          <a:noFill/>
        </p:spPr>
        <p:txBody>
          <a:bodyPr wrap="square" lIns="0" rIns="0" tIns="0" bIns="0" anchor="ctr">
            <a:spAutoFit/>
          </a:bodyPr>
          <a:lstStyle/>
          <a:p>
            <a:pPr algn="l"/>
            <a:r>
              <a:rPr sz="1500" b="1">
                <a:solidFill>
                  <a:srgbClr val="000000"/>
                </a:solidFill>
                <a:latin typeface="Arial"/>
              </a:rPr>
              <a:t>Pour prouver un effet : améliorer un service sur une partie des vols seulement, et comparer la satisfaction.</a:t>
            </a:r>
          </a:p>
        </p:txBody>
      </p:sp>
      <p:sp>
        <p:nvSpPr>
          <p:cNvPr id="10" name="TextBox 9"/>
          <p:cNvSpPr txBox="1"/>
          <p:nvPr/>
        </p:nvSpPr>
        <p:spPr>
          <a:xfrm>
            <a:off x="508406" y="6327648"/>
            <a:ext cx="8229600" cy="274320"/>
          </a:xfrm>
          <a:prstGeom prst="rect">
            <a:avLst/>
          </a:prstGeom>
          <a:noFill/>
        </p:spPr>
        <p:txBody>
          <a:bodyPr wrap="square" lIns="0" rIns="0" tIns="0" bIns="0" anchor="ctr">
            <a:spAutoFit/>
          </a:bodyPr>
          <a:lstStyle/>
          <a:p>
            <a:pPr algn="l"/>
            <a:r>
              <a:rPr sz="1100" b="0">
                <a:solidFill>
                  <a:srgbClr val="8A8A8A"/>
                </a:solidFill>
                <a:latin typeface="Arial"/>
              </a:rPr>
              <a:t>Volet 1 — Expliquer · Léa</a:t>
            </a:r>
          </a:p>
        </p:txBody>
      </p:sp>
      <p:sp>
        <p:nvSpPr>
          <p:cNvPr id="11" name="Oval 10"/>
          <p:cNvSpPr/>
          <p:nvPr/>
        </p:nvSpPr>
        <p:spPr>
          <a:xfrm>
            <a:off x="831829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47374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2919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78464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94008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09553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250984" y="6419088"/>
            <a:ext cx="256032" cy="91440"/>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57102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72647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88192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03736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19281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4826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50371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65916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81460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97005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112550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128095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143640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59184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Oval 1"/>
          <p:cNvSpPr/>
          <p:nvPr/>
        </p:nvSpPr>
        <p:spPr>
          <a:xfrm>
            <a:off x="508406" y="457200"/>
            <a:ext cx="164592" cy="164592"/>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7006" y="457200"/>
            <a:ext cx="164592" cy="164592"/>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406" y="777240"/>
            <a:ext cx="11174882" cy="914400"/>
          </a:xfrm>
          <a:prstGeom prst="rect">
            <a:avLst/>
          </a:prstGeom>
          <a:noFill/>
        </p:spPr>
        <p:txBody>
          <a:bodyPr wrap="square" lIns="0" rIns="0" tIns="0" bIns="0" anchor="t">
            <a:spAutoFit/>
          </a:bodyPr>
          <a:lstStyle/>
          <a:p>
            <a:pPr algn="l">
              <a:lnSpc>
                <a:spcPct val="95000"/>
              </a:lnSpc>
            </a:pPr>
            <a:r>
              <a:rPr sz="3000" b="1">
                <a:solidFill>
                  <a:srgbClr val="000000"/>
                </a:solidFill>
                <a:latin typeface="Arial"/>
              </a:rPr>
              <a:t>Le modèle n'utilise que ce qui est connu à l'atterrissage</a:t>
            </a:r>
          </a:p>
        </p:txBody>
      </p:sp>
      <p:sp>
        <p:nvSpPr>
          <p:cNvPr id="5" name="Rounded Rectangle 4"/>
          <p:cNvSpPr/>
          <p:nvPr/>
        </p:nvSpPr>
        <p:spPr>
          <a:xfrm>
            <a:off x="508406" y="1828800"/>
            <a:ext cx="5427421" cy="4160520"/>
          </a:xfrm>
          <a:prstGeom prst="roundRect">
            <a:avLst>
              <a:gd name="adj" fmla="val 483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alide.png"/>
          <p:cNvPicPr>
            <a:picLocks noChangeAspect="1"/>
          </p:cNvPicPr>
          <p:nvPr/>
        </p:nvPicPr>
        <p:blipFill>
          <a:blip r:embed="rId2"/>
          <a:stretch>
            <a:fillRect/>
          </a:stretch>
        </p:blipFill>
        <p:spPr>
          <a:xfrm>
            <a:off x="874166" y="2103120"/>
            <a:ext cx="502920" cy="502920"/>
          </a:xfrm>
          <a:prstGeom prst="rect">
            <a:avLst/>
          </a:prstGeom>
        </p:spPr>
      </p:pic>
      <p:sp>
        <p:nvSpPr>
          <p:cNvPr id="7" name="TextBox 6"/>
          <p:cNvSpPr txBox="1"/>
          <p:nvPr/>
        </p:nvSpPr>
        <p:spPr>
          <a:xfrm>
            <a:off x="1605686" y="2103120"/>
            <a:ext cx="3964381" cy="502920"/>
          </a:xfrm>
          <a:prstGeom prst="rect">
            <a:avLst/>
          </a:prstGeom>
          <a:noFill/>
        </p:spPr>
        <p:txBody>
          <a:bodyPr wrap="square" lIns="0" rIns="0" tIns="0" bIns="0" anchor="ctr">
            <a:spAutoFit/>
          </a:bodyPr>
          <a:lstStyle/>
          <a:p>
            <a:pPr algn="l"/>
            <a:r>
              <a:rPr sz="2400" b="1">
                <a:solidFill>
                  <a:srgbClr val="000000"/>
                </a:solidFill>
                <a:latin typeface="Arial"/>
              </a:rPr>
              <a:t>Utilisé</a:t>
            </a:r>
          </a:p>
        </p:txBody>
      </p:sp>
      <p:sp>
        <p:nvSpPr>
          <p:cNvPr id="8" name="Rounded Rectangle 7"/>
          <p:cNvSpPr/>
          <p:nvPr/>
        </p:nvSpPr>
        <p:spPr>
          <a:xfrm>
            <a:off x="6255867" y="1828800"/>
            <a:ext cx="5427421" cy="4160520"/>
          </a:xfrm>
          <a:prstGeom prst="roundRect">
            <a:avLst>
              <a:gd name="adj" fmla="val 483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xclu.png"/>
          <p:cNvPicPr>
            <a:picLocks noChangeAspect="1"/>
          </p:cNvPicPr>
          <p:nvPr/>
        </p:nvPicPr>
        <p:blipFill>
          <a:blip r:embed="rId3"/>
          <a:stretch>
            <a:fillRect/>
          </a:stretch>
        </p:blipFill>
        <p:spPr>
          <a:xfrm>
            <a:off x="6621627" y="2103120"/>
            <a:ext cx="502920" cy="502920"/>
          </a:xfrm>
          <a:prstGeom prst="rect">
            <a:avLst/>
          </a:prstGeom>
        </p:spPr>
      </p:pic>
      <p:sp>
        <p:nvSpPr>
          <p:cNvPr id="10" name="TextBox 9"/>
          <p:cNvSpPr txBox="1"/>
          <p:nvPr/>
        </p:nvSpPr>
        <p:spPr>
          <a:xfrm>
            <a:off x="7353147" y="2103120"/>
            <a:ext cx="3964381" cy="502920"/>
          </a:xfrm>
          <a:prstGeom prst="rect">
            <a:avLst/>
          </a:prstGeom>
          <a:noFill/>
        </p:spPr>
        <p:txBody>
          <a:bodyPr wrap="square" lIns="0" rIns="0" tIns="0" bIns="0" anchor="ctr">
            <a:spAutoFit/>
          </a:bodyPr>
          <a:lstStyle/>
          <a:p>
            <a:pPr algn="l"/>
            <a:r>
              <a:rPr sz="2400" b="1">
                <a:solidFill>
                  <a:srgbClr val="000000"/>
                </a:solidFill>
                <a:latin typeface="Arial"/>
              </a:rPr>
              <a:t>Écarté</a:t>
            </a:r>
          </a:p>
        </p:txBody>
      </p:sp>
      <p:pic>
        <p:nvPicPr>
          <p:cNvPr id="11" name="Picture 10" descr="siege.png"/>
          <p:cNvPicPr>
            <a:picLocks noChangeAspect="1"/>
          </p:cNvPicPr>
          <p:nvPr/>
        </p:nvPicPr>
        <p:blipFill>
          <a:blip r:embed="rId4"/>
          <a:stretch>
            <a:fillRect/>
          </a:stretch>
        </p:blipFill>
        <p:spPr>
          <a:xfrm>
            <a:off x="874166" y="2880360"/>
            <a:ext cx="502920" cy="502920"/>
          </a:xfrm>
          <a:prstGeom prst="rect">
            <a:avLst/>
          </a:prstGeom>
        </p:spPr>
      </p:pic>
      <p:sp>
        <p:nvSpPr>
          <p:cNvPr id="12" name="TextBox 11"/>
          <p:cNvSpPr txBox="1"/>
          <p:nvPr/>
        </p:nvSpPr>
        <p:spPr>
          <a:xfrm>
            <a:off x="1605686" y="2862072"/>
            <a:ext cx="3964381" cy="594360"/>
          </a:xfrm>
          <a:prstGeom prst="rect">
            <a:avLst/>
          </a:prstGeom>
          <a:noFill/>
        </p:spPr>
        <p:txBody>
          <a:bodyPr wrap="square" lIns="0" rIns="0" tIns="0" bIns="0" anchor="ctr">
            <a:spAutoFit/>
          </a:bodyPr>
          <a:lstStyle/>
          <a:p>
            <a:pPr algn="l"/>
            <a:r>
              <a:rPr sz="1700" b="1">
                <a:solidFill>
                  <a:srgbClr val="000000"/>
                </a:solidFill>
                <a:latin typeface="Arial"/>
              </a:rPr>
              <a:t>Classe du billet</a:t>
            </a:r>
          </a:p>
          <a:p>
            <a:pPr algn="l"/>
            <a:r>
              <a:rPr sz="1300" b="0">
                <a:solidFill>
                  <a:srgbClr val="444444"/>
                </a:solidFill>
                <a:latin typeface="Arial"/>
              </a:rPr>
              <a:t>billet</a:t>
            </a:r>
          </a:p>
        </p:txBody>
      </p:sp>
      <p:pic>
        <p:nvPicPr>
          <p:cNvPr id="13" name="Picture 12" descr="passager.png"/>
          <p:cNvPicPr>
            <a:picLocks noChangeAspect="1"/>
          </p:cNvPicPr>
          <p:nvPr/>
        </p:nvPicPr>
        <p:blipFill>
          <a:blip r:embed="rId5"/>
          <a:stretch>
            <a:fillRect/>
          </a:stretch>
        </p:blipFill>
        <p:spPr>
          <a:xfrm>
            <a:off x="874166" y="3630168"/>
            <a:ext cx="502920" cy="502920"/>
          </a:xfrm>
          <a:prstGeom prst="rect">
            <a:avLst/>
          </a:prstGeom>
        </p:spPr>
      </p:pic>
      <p:sp>
        <p:nvSpPr>
          <p:cNvPr id="14" name="TextBox 13"/>
          <p:cNvSpPr txBox="1"/>
          <p:nvPr/>
        </p:nvSpPr>
        <p:spPr>
          <a:xfrm>
            <a:off x="1605686" y="3611879"/>
            <a:ext cx="3964381" cy="594360"/>
          </a:xfrm>
          <a:prstGeom prst="rect">
            <a:avLst/>
          </a:prstGeom>
          <a:noFill/>
        </p:spPr>
        <p:txBody>
          <a:bodyPr wrap="square" lIns="0" rIns="0" tIns="0" bIns="0" anchor="ctr">
            <a:spAutoFit/>
          </a:bodyPr>
          <a:lstStyle/>
          <a:p>
            <a:pPr algn="l"/>
            <a:r>
              <a:rPr sz="1700" b="1">
                <a:solidFill>
                  <a:srgbClr val="000000"/>
                </a:solidFill>
                <a:latin typeface="Arial"/>
              </a:rPr>
              <a:t>Âge et statut de fidélité</a:t>
            </a:r>
          </a:p>
          <a:p>
            <a:pPr algn="l"/>
            <a:r>
              <a:rPr sz="1300" b="0">
                <a:solidFill>
                  <a:srgbClr val="444444"/>
                </a:solidFill>
                <a:latin typeface="Arial"/>
              </a:rPr>
              <a:t>réservation ; l'âge n'est jamais montré aux agents</a:t>
            </a:r>
          </a:p>
        </p:txBody>
      </p:sp>
      <p:pic>
        <p:nvPicPr>
          <p:cNvPr id="15" name="Picture 14" descr="avion.png"/>
          <p:cNvPicPr>
            <a:picLocks noChangeAspect="1"/>
          </p:cNvPicPr>
          <p:nvPr/>
        </p:nvPicPr>
        <p:blipFill>
          <a:blip r:embed="rId6"/>
          <a:stretch>
            <a:fillRect/>
          </a:stretch>
        </p:blipFill>
        <p:spPr>
          <a:xfrm>
            <a:off x="874166" y="4379976"/>
            <a:ext cx="502920" cy="502920"/>
          </a:xfrm>
          <a:prstGeom prst="rect">
            <a:avLst/>
          </a:prstGeom>
        </p:spPr>
      </p:pic>
      <p:sp>
        <p:nvSpPr>
          <p:cNvPr id="16" name="TextBox 15"/>
          <p:cNvSpPr txBox="1"/>
          <p:nvPr/>
        </p:nvSpPr>
        <p:spPr>
          <a:xfrm>
            <a:off x="1605686" y="4361688"/>
            <a:ext cx="3964381" cy="594360"/>
          </a:xfrm>
          <a:prstGeom prst="rect">
            <a:avLst/>
          </a:prstGeom>
          <a:noFill/>
        </p:spPr>
        <p:txBody>
          <a:bodyPr wrap="square" lIns="0" rIns="0" tIns="0" bIns="0" anchor="ctr">
            <a:spAutoFit/>
          </a:bodyPr>
          <a:lstStyle/>
          <a:p>
            <a:pPr algn="l"/>
            <a:r>
              <a:rPr sz="1700" b="1">
                <a:solidFill>
                  <a:srgbClr val="000000"/>
                </a:solidFill>
                <a:latin typeface="Arial"/>
              </a:rPr>
              <a:t>Distance du vol</a:t>
            </a:r>
          </a:p>
          <a:p>
            <a:pPr algn="l"/>
            <a:r>
              <a:rPr sz="1300" b="0">
                <a:solidFill>
                  <a:srgbClr val="444444"/>
                </a:solidFill>
                <a:latin typeface="Arial"/>
              </a:rPr>
              <a:t>plan de vol</a:t>
            </a:r>
          </a:p>
        </p:txBody>
      </p:sp>
      <p:pic>
        <p:nvPicPr>
          <p:cNvPr id="17" name="Picture 16" descr="horloge.png"/>
          <p:cNvPicPr>
            <a:picLocks noChangeAspect="1"/>
          </p:cNvPicPr>
          <p:nvPr/>
        </p:nvPicPr>
        <p:blipFill>
          <a:blip r:embed="rId7"/>
          <a:stretch>
            <a:fillRect/>
          </a:stretch>
        </p:blipFill>
        <p:spPr>
          <a:xfrm>
            <a:off x="874166" y="5129783"/>
            <a:ext cx="502920" cy="502920"/>
          </a:xfrm>
          <a:prstGeom prst="rect">
            <a:avLst/>
          </a:prstGeom>
        </p:spPr>
      </p:pic>
      <p:sp>
        <p:nvSpPr>
          <p:cNvPr id="18" name="TextBox 17"/>
          <p:cNvSpPr txBox="1"/>
          <p:nvPr/>
        </p:nvSpPr>
        <p:spPr>
          <a:xfrm>
            <a:off x="1605686" y="5111496"/>
            <a:ext cx="3964381" cy="594360"/>
          </a:xfrm>
          <a:prstGeom prst="rect">
            <a:avLst/>
          </a:prstGeom>
          <a:noFill/>
        </p:spPr>
        <p:txBody>
          <a:bodyPr wrap="square" lIns="0" rIns="0" tIns="0" bIns="0" anchor="ctr">
            <a:spAutoFit/>
          </a:bodyPr>
          <a:lstStyle/>
          <a:p>
            <a:pPr algn="l"/>
            <a:r>
              <a:rPr sz="1700" b="1">
                <a:solidFill>
                  <a:srgbClr val="000000"/>
                </a:solidFill>
                <a:latin typeface="Arial"/>
              </a:rPr>
              <a:t>Retards au départ et à l'arrivée</a:t>
            </a:r>
          </a:p>
          <a:p>
            <a:pPr algn="l"/>
            <a:r>
              <a:rPr sz="1300" b="0">
                <a:solidFill>
                  <a:srgbClr val="444444"/>
                </a:solidFill>
                <a:latin typeface="Arial"/>
              </a:rPr>
              <a:t>opérations</a:t>
            </a:r>
          </a:p>
        </p:txBody>
      </p:sp>
      <p:pic>
        <p:nvPicPr>
          <p:cNvPr id="19" name="Picture 18" descr="wifi.png"/>
          <p:cNvPicPr>
            <a:picLocks noChangeAspect="1"/>
          </p:cNvPicPr>
          <p:nvPr/>
        </p:nvPicPr>
        <p:blipFill>
          <a:blip r:embed="rId8"/>
          <a:stretch>
            <a:fillRect/>
          </a:stretch>
        </p:blipFill>
        <p:spPr>
          <a:xfrm>
            <a:off x="6621627" y="2880360"/>
            <a:ext cx="502920" cy="502920"/>
          </a:xfrm>
          <a:prstGeom prst="rect">
            <a:avLst/>
          </a:prstGeom>
        </p:spPr>
      </p:pic>
      <p:sp>
        <p:nvSpPr>
          <p:cNvPr id="20" name="Rounded Rectangle 19"/>
          <p:cNvSpPr/>
          <p:nvPr/>
        </p:nvSpPr>
        <p:spPr>
          <a:xfrm>
            <a:off x="6621627" y="2880360"/>
            <a:ext cx="502920" cy="502920"/>
          </a:xfrm>
          <a:prstGeom prst="roundRect">
            <a:avLst>
              <a:gd name="adj" fmla="val 25000"/>
            </a:avLst>
          </a:prstGeom>
          <a:solidFill>
            <a:srgbClr val="FFFF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53147" y="2862072"/>
            <a:ext cx="3964381" cy="594360"/>
          </a:xfrm>
          <a:prstGeom prst="rect">
            <a:avLst/>
          </a:prstGeom>
          <a:noFill/>
        </p:spPr>
        <p:txBody>
          <a:bodyPr wrap="square" lIns="0" rIns="0" tIns="0" bIns="0" anchor="ctr">
            <a:spAutoFit/>
          </a:bodyPr>
          <a:lstStyle/>
          <a:p>
            <a:pPr algn="l"/>
            <a:r>
              <a:rPr sz="1700" b="1">
                <a:solidFill>
                  <a:srgbClr val="000000"/>
                </a:solidFill>
                <a:latin typeface="Arial"/>
              </a:rPr>
              <a:t>Notes de service</a:t>
            </a:r>
          </a:p>
          <a:p>
            <a:pPr algn="l"/>
            <a:r>
              <a:rPr sz="1300" b="0">
                <a:solidFill>
                  <a:srgbClr val="444444"/>
                </a:solidFill>
                <a:latin typeface="Arial"/>
              </a:rPr>
              <a:t>n'existent qu'après l'enquête</a:t>
            </a:r>
          </a:p>
        </p:txBody>
      </p:sp>
      <p:pic>
        <p:nvPicPr>
          <p:cNvPr id="22" name="Picture 21" descr="valise.png"/>
          <p:cNvPicPr>
            <a:picLocks noChangeAspect="1"/>
          </p:cNvPicPr>
          <p:nvPr/>
        </p:nvPicPr>
        <p:blipFill>
          <a:blip r:embed="rId9"/>
          <a:stretch>
            <a:fillRect/>
          </a:stretch>
        </p:blipFill>
        <p:spPr>
          <a:xfrm>
            <a:off x="6621627" y="3630168"/>
            <a:ext cx="502920" cy="502920"/>
          </a:xfrm>
          <a:prstGeom prst="rect">
            <a:avLst/>
          </a:prstGeom>
        </p:spPr>
      </p:pic>
      <p:sp>
        <p:nvSpPr>
          <p:cNvPr id="23" name="Rounded Rectangle 22"/>
          <p:cNvSpPr/>
          <p:nvPr/>
        </p:nvSpPr>
        <p:spPr>
          <a:xfrm>
            <a:off x="6621627" y="3630168"/>
            <a:ext cx="502920" cy="502920"/>
          </a:xfrm>
          <a:prstGeom prst="roundRect">
            <a:avLst>
              <a:gd name="adj" fmla="val 25000"/>
            </a:avLst>
          </a:prstGeom>
          <a:solidFill>
            <a:srgbClr val="FFFF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53147" y="3611879"/>
            <a:ext cx="3964381" cy="594360"/>
          </a:xfrm>
          <a:prstGeom prst="rect">
            <a:avLst/>
          </a:prstGeom>
          <a:noFill/>
        </p:spPr>
        <p:txBody>
          <a:bodyPr wrap="square" lIns="0" rIns="0" tIns="0" bIns="0" anchor="ctr">
            <a:spAutoFit/>
          </a:bodyPr>
          <a:lstStyle/>
          <a:p>
            <a:pPr algn="l"/>
            <a:r>
              <a:rPr sz="1700" b="1">
                <a:solidFill>
                  <a:srgbClr val="000000"/>
                </a:solidFill>
                <a:latin typeface="Arial"/>
              </a:rPr>
              <a:t>Motif du voyage</a:t>
            </a:r>
          </a:p>
          <a:p>
            <a:pPr algn="l"/>
            <a:r>
              <a:rPr sz="1300" b="0">
                <a:solidFill>
                  <a:srgbClr val="444444"/>
                </a:solidFill>
                <a:latin typeface="Arial"/>
              </a:rPr>
              <a:t>déclaré dans l'enquête, inconnu pour les autres</a:t>
            </a:r>
          </a:p>
        </p:txBody>
      </p:sp>
      <p:pic>
        <p:nvPicPr>
          <p:cNvPr id="25" name="Picture 24" descr="confidentiel.png"/>
          <p:cNvPicPr>
            <a:picLocks noChangeAspect="1"/>
          </p:cNvPicPr>
          <p:nvPr/>
        </p:nvPicPr>
        <p:blipFill>
          <a:blip r:embed="rId10"/>
          <a:stretch>
            <a:fillRect/>
          </a:stretch>
        </p:blipFill>
        <p:spPr>
          <a:xfrm>
            <a:off x="6621627" y="4379976"/>
            <a:ext cx="502920" cy="502920"/>
          </a:xfrm>
          <a:prstGeom prst="rect">
            <a:avLst/>
          </a:prstGeom>
        </p:spPr>
      </p:pic>
      <p:sp>
        <p:nvSpPr>
          <p:cNvPr id="26" name="TextBox 25"/>
          <p:cNvSpPr txBox="1"/>
          <p:nvPr/>
        </p:nvSpPr>
        <p:spPr>
          <a:xfrm>
            <a:off x="7353147" y="4361688"/>
            <a:ext cx="3964381" cy="594360"/>
          </a:xfrm>
          <a:prstGeom prst="rect">
            <a:avLst/>
          </a:prstGeom>
          <a:noFill/>
        </p:spPr>
        <p:txBody>
          <a:bodyPr wrap="square" lIns="0" rIns="0" tIns="0" bIns="0" anchor="ctr">
            <a:spAutoFit/>
          </a:bodyPr>
          <a:lstStyle/>
          <a:p>
            <a:pPr algn="l"/>
            <a:r>
              <a:rPr sz="1700" b="1">
                <a:solidFill>
                  <a:srgbClr val="000000"/>
                </a:solidFill>
                <a:latin typeface="Arial"/>
              </a:rPr>
              <a:t>Genre</a:t>
            </a:r>
          </a:p>
          <a:p>
            <a:pPr algn="l"/>
            <a:r>
              <a:rPr sz="1300" b="0">
                <a:solidFill>
                  <a:srgbClr val="444444"/>
                </a:solidFill>
                <a:latin typeface="Arial"/>
              </a:rPr>
              <a:t>aucun effet, risque de discrimination</a:t>
            </a:r>
          </a:p>
        </p:txBody>
      </p:sp>
      <p:sp>
        <p:nvSpPr>
          <p:cNvPr id="27" name="TextBox 26"/>
          <p:cNvSpPr txBox="1"/>
          <p:nvPr/>
        </p:nvSpPr>
        <p:spPr>
          <a:xfrm>
            <a:off x="508406" y="6327648"/>
            <a:ext cx="8229600" cy="274320"/>
          </a:xfrm>
          <a:prstGeom prst="rect">
            <a:avLst/>
          </a:prstGeom>
          <a:noFill/>
        </p:spPr>
        <p:txBody>
          <a:bodyPr wrap="square" lIns="0" rIns="0" tIns="0" bIns="0" anchor="ctr">
            <a:spAutoFit/>
          </a:bodyPr>
          <a:lstStyle/>
          <a:p>
            <a:pPr algn="l"/>
            <a:r>
              <a:rPr sz="1100" b="0">
                <a:solidFill>
                  <a:srgbClr val="8A8A8A"/>
                </a:solidFill>
                <a:latin typeface="Arial"/>
              </a:rPr>
              <a:t>Volet 2 — Prédire · Jeanne</a:t>
            </a:r>
          </a:p>
        </p:txBody>
      </p:sp>
      <p:sp>
        <p:nvSpPr>
          <p:cNvPr id="28" name="Oval 27"/>
          <p:cNvSpPr/>
          <p:nvPr/>
        </p:nvSpPr>
        <p:spPr>
          <a:xfrm>
            <a:off x="831829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47374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62919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78464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94008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09553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25098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406432" y="6419088"/>
            <a:ext cx="256032" cy="91440"/>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72647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988192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03736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19281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34826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050371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65916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081460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97005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112550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128095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143640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159184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Oval 1"/>
          <p:cNvSpPr/>
          <p:nvPr/>
        </p:nvSpPr>
        <p:spPr>
          <a:xfrm>
            <a:off x="508406" y="457200"/>
            <a:ext cx="164592" cy="164592"/>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7006" y="457200"/>
            <a:ext cx="164592" cy="164592"/>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406" y="777240"/>
            <a:ext cx="11174882" cy="914400"/>
          </a:xfrm>
          <a:prstGeom prst="rect">
            <a:avLst/>
          </a:prstGeom>
          <a:noFill/>
        </p:spPr>
        <p:txBody>
          <a:bodyPr wrap="square" lIns="0" rIns="0" tIns="0" bIns="0" anchor="t">
            <a:spAutoFit/>
          </a:bodyPr>
          <a:lstStyle/>
          <a:p>
            <a:pPr algn="l">
              <a:lnSpc>
                <a:spcPct val="95000"/>
              </a:lnSpc>
            </a:pPr>
            <a:r>
              <a:rPr sz="3000" b="1">
                <a:solidFill>
                  <a:srgbClr val="000000"/>
                </a:solidFill>
                <a:latin typeface="Arial"/>
              </a:rPr>
              <a:t>Comment nous avons jugé chaque approche</a:t>
            </a:r>
          </a:p>
        </p:txBody>
      </p:sp>
      <p:sp>
        <p:nvSpPr>
          <p:cNvPr id="5" name="Rounded Rectangle 4"/>
          <p:cNvSpPr/>
          <p:nvPr/>
        </p:nvSpPr>
        <p:spPr>
          <a:xfrm>
            <a:off x="508406" y="1828800"/>
            <a:ext cx="5427421" cy="4160520"/>
          </a:xfrm>
          <a:prstGeom prst="roundRect">
            <a:avLst>
              <a:gd name="adj" fmla="val 483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uro.png"/>
          <p:cNvPicPr>
            <a:picLocks noChangeAspect="1"/>
          </p:cNvPicPr>
          <p:nvPr/>
        </p:nvPicPr>
        <p:blipFill>
          <a:blip r:embed="rId2"/>
          <a:stretch>
            <a:fillRect/>
          </a:stretch>
        </p:blipFill>
        <p:spPr>
          <a:xfrm>
            <a:off x="874166" y="2103120"/>
            <a:ext cx="548640" cy="548640"/>
          </a:xfrm>
          <a:prstGeom prst="rect">
            <a:avLst/>
          </a:prstGeom>
        </p:spPr>
      </p:pic>
      <p:sp>
        <p:nvSpPr>
          <p:cNvPr id="7" name="TextBox 6"/>
          <p:cNvSpPr txBox="1"/>
          <p:nvPr/>
        </p:nvSpPr>
        <p:spPr>
          <a:xfrm>
            <a:off x="1605686" y="2103120"/>
            <a:ext cx="3964381" cy="548640"/>
          </a:xfrm>
          <a:prstGeom prst="rect">
            <a:avLst/>
          </a:prstGeom>
          <a:noFill/>
        </p:spPr>
        <p:txBody>
          <a:bodyPr wrap="square" lIns="0" rIns="0" tIns="0" bIns="0" anchor="ctr">
            <a:spAutoFit/>
          </a:bodyPr>
          <a:lstStyle/>
          <a:p>
            <a:pPr algn="l"/>
            <a:r>
              <a:rPr sz="1900" b="1">
                <a:solidFill>
                  <a:srgbClr val="000000"/>
                </a:solidFill>
                <a:latin typeface="Arial"/>
              </a:rPr>
              <a:t>1. On juge en euros</a:t>
            </a:r>
          </a:p>
        </p:txBody>
      </p:sp>
      <p:sp>
        <p:nvSpPr>
          <p:cNvPr id="8" name="TextBox 7"/>
          <p:cNvSpPr txBox="1"/>
          <p:nvPr/>
        </p:nvSpPr>
        <p:spPr>
          <a:xfrm>
            <a:off x="874166" y="2834640"/>
            <a:ext cx="4695901" cy="640080"/>
          </a:xfrm>
          <a:prstGeom prst="rect">
            <a:avLst/>
          </a:prstGeom>
          <a:noFill/>
        </p:spPr>
        <p:txBody>
          <a:bodyPr wrap="square" lIns="0" rIns="0" tIns="0" bIns="0" anchor="t">
            <a:spAutoFit/>
          </a:bodyPr>
          <a:lstStyle/>
          <a:p>
            <a:pPr algn="l"/>
            <a:r>
              <a:rPr sz="1400" b="0">
                <a:solidFill>
                  <a:srgbClr val="444444"/>
                </a:solidFill>
                <a:latin typeface="Arial"/>
              </a:rPr>
              <a:t>Chaque approche classe les passagers du plus au moins à risque. Les équipes abordent les 10 % en tête de liste.</a:t>
            </a:r>
          </a:p>
        </p:txBody>
      </p:sp>
      <p:sp>
        <p:nvSpPr>
          <p:cNvPr id="9" name="Rounded Rectangle 8"/>
          <p:cNvSpPr/>
          <p:nvPr/>
        </p:nvSpPr>
        <p:spPr>
          <a:xfrm>
            <a:off x="874166" y="3657600"/>
            <a:ext cx="1325880" cy="566928"/>
          </a:xfrm>
          <a:prstGeom prst="roundRect">
            <a:avLst>
              <a:gd name="adj" fmla="val 50000"/>
            </a:avLst>
          </a:prstGeom>
          <a:solidFill>
            <a:srgbClr val="009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4166" y="3657600"/>
            <a:ext cx="1325880" cy="566928"/>
          </a:xfrm>
          <a:prstGeom prst="rect">
            <a:avLst/>
          </a:prstGeom>
          <a:noFill/>
        </p:spPr>
        <p:txBody>
          <a:bodyPr wrap="square" lIns="0" rIns="0" tIns="0" bIns="0" anchor="ctr">
            <a:spAutoFit/>
          </a:bodyPr>
          <a:lstStyle/>
          <a:p>
            <a:pPr algn="ctr"/>
            <a:r>
              <a:rPr sz="2000" b="1">
                <a:solidFill>
                  <a:srgbClr val="000000"/>
                </a:solidFill>
                <a:latin typeface="Arial"/>
              </a:rPr>
              <a:t>+60 €</a:t>
            </a:r>
          </a:p>
        </p:txBody>
      </p:sp>
      <p:sp>
        <p:nvSpPr>
          <p:cNvPr id="11" name="TextBox 10"/>
          <p:cNvSpPr txBox="1"/>
          <p:nvPr/>
        </p:nvSpPr>
        <p:spPr>
          <a:xfrm>
            <a:off x="2428646" y="3621024"/>
            <a:ext cx="3141421" cy="640080"/>
          </a:xfrm>
          <a:prstGeom prst="rect">
            <a:avLst/>
          </a:prstGeom>
          <a:noFill/>
        </p:spPr>
        <p:txBody>
          <a:bodyPr wrap="square" lIns="0" rIns="0" tIns="0" bIns="0" anchor="ctr">
            <a:spAutoFit/>
          </a:bodyPr>
          <a:lstStyle/>
          <a:p>
            <a:pPr algn="l"/>
            <a:r>
              <a:rPr sz="1500" b="1">
                <a:solidFill>
                  <a:srgbClr val="000000"/>
                </a:solidFill>
                <a:latin typeface="Arial"/>
              </a:rPr>
              <a:t>un vrai mécontent abordé</a:t>
            </a:r>
          </a:p>
          <a:p>
            <a:pPr algn="l"/>
            <a:r>
              <a:rPr sz="1200" b="0">
                <a:solidFill>
                  <a:srgbClr val="444444"/>
                </a:solidFill>
                <a:latin typeface="Arial"/>
              </a:rPr>
              <a:t>1/3 × 1/2 × 600 € de revenu gardé, moins 40 € d'approche</a:t>
            </a:r>
          </a:p>
        </p:txBody>
      </p:sp>
      <p:sp>
        <p:nvSpPr>
          <p:cNvPr id="12" name="Rounded Rectangle 11"/>
          <p:cNvSpPr/>
          <p:nvPr/>
        </p:nvSpPr>
        <p:spPr>
          <a:xfrm>
            <a:off x="874166" y="4480560"/>
            <a:ext cx="1325880" cy="566928"/>
          </a:xfrm>
          <a:prstGeom prst="roundRect">
            <a:avLst>
              <a:gd name="adj" fmla="val 50000"/>
            </a:avLst>
          </a:prstGeom>
          <a:solidFill>
            <a:srgbClr val="FF6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4166" y="4480560"/>
            <a:ext cx="1325880" cy="566928"/>
          </a:xfrm>
          <a:prstGeom prst="rect">
            <a:avLst/>
          </a:prstGeom>
          <a:noFill/>
        </p:spPr>
        <p:txBody>
          <a:bodyPr wrap="square" lIns="0" rIns="0" tIns="0" bIns="0" anchor="ctr">
            <a:spAutoFit/>
          </a:bodyPr>
          <a:lstStyle/>
          <a:p>
            <a:pPr algn="ctr"/>
            <a:r>
              <a:rPr sz="2000" b="1">
                <a:solidFill>
                  <a:srgbClr val="000000"/>
                </a:solidFill>
                <a:latin typeface="Arial"/>
              </a:rPr>
              <a:t>−40 €</a:t>
            </a:r>
          </a:p>
        </p:txBody>
      </p:sp>
      <p:sp>
        <p:nvSpPr>
          <p:cNvPr id="14" name="TextBox 13"/>
          <p:cNvSpPr txBox="1"/>
          <p:nvPr/>
        </p:nvSpPr>
        <p:spPr>
          <a:xfrm>
            <a:off x="2428646" y="4443984"/>
            <a:ext cx="3141421" cy="640080"/>
          </a:xfrm>
          <a:prstGeom prst="rect">
            <a:avLst/>
          </a:prstGeom>
          <a:noFill/>
        </p:spPr>
        <p:txBody>
          <a:bodyPr wrap="square" lIns="0" rIns="0" tIns="0" bIns="0" anchor="ctr">
            <a:spAutoFit/>
          </a:bodyPr>
          <a:lstStyle/>
          <a:p>
            <a:pPr algn="l"/>
            <a:r>
              <a:rPr sz="1500" b="1">
                <a:solidFill>
                  <a:srgbClr val="000000"/>
                </a:solidFill>
                <a:latin typeface="Arial"/>
              </a:rPr>
              <a:t>un passager satisfait abordé</a:t>
            </a:r>
          </a:p>
          <a:p>
            <a:pPr algn="l"/>
            <a:r>
              <a:rPr sz="1200" b="0">
                <a:solidFill>
                  <a:srgbClr val="444444"/>
                </a:solidFill>
                <a:latin typeface="Arial"/>
              </a:rPr>
              <a:t>l'approche est dépensée pour rien</a:t>
            </a:r>
          </a:p>
        </p:txBody>
      </p:sp>
      <p:sp>
        <p:nvSpPr>
          <p:cNvPr id="15" name="TextBox 14"/>
          <p:cNvSpPr txBox="1"/>
          <p:nvPr/>
        </p:nvSpPr>
        <p:spPr>
          <a:xfrm>
            <a:off x="874166" y="5349240"/>
            <a:ext cx="4695901" cy="457200"/>
          </a:xfrm>
          <a:prstGeom prst="rect">
            <a:avLst/>
          </a:prstGeom>
          <a:noFill/>
        </p:spPr>
        <p:txBody>
          <a:bodyPr wrap="square" lIns="0" rIns="0" tIns="0" bIns="0" anchor="t">
            <a:spAutoFit/>
          </a:bodyPr>
          <a:lstStyle/>
          <a:p>
            <a:pPr algn="l"/>
            <a:r>
              <a:rPr sz="1400" b="0">
                <a:solidFill>
                  <a:srgbClr val="000000"/>
                </a:solidFill>
                <a:latin typeface="Arial"/>
              </a:rPr>
              <a:t>Rentable dès que </a:t>
            </a:r>
            <a:r>
              <a:rPr sz="1400" b="1">
                <a:solidFill>
                  <a:srgbClr val="000000"/>
                </a:solidFill>
                <a:latin typeface="Arial"/>
              </a:rPr>
              <a:t>40 %</a:t>
            </a:r>
            <a:r>
              <a:rPr sz="1400" b="0">
                <a:solidFill>
                  <a:srgbClr val="000000"/>
                </a:solidFill>
                <a:latin typeface="Arial"/>
              </a:rPr>
              <a:t> des passagers abordés sont mécontents.</a:t>
            </a:r>
          </a:p>
        </p:txBody>
      </p:sp>
      <p:sp>
        <p:nvSpPr>
          <p:cNvPr id="16" name="Rounded Rectangle 15"/>
          <p:cNvSpPr/>
          <p:nvPr/>
        </p:nvSpPr>
        <p:spPr>
          <a:xfrm>
            <a:off x="6255867" y="1828800"/>
            <a:ext cx="5427421" cy="4160520"/>
          </a:xfrm>
          <a:prstGeom prst="roundRect">
            <a:avLst>
              <a:gd name="adj" fmla="val 483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ble.png"/>
          <p:cNvPicPr>
            <a:picLocks noChangeAspect="1"/>
          </p:cNvPicPr>
          <p:nvPr/>
        </p:nvPicPr>
        <p:blipFill>
          <a:blip r:embed="rId3"/>
          <a:stretch>
            <a:fillRect/>
          </a:stretch>
        </p:blipFill>
        <p:spPr>
          <a:xfrm>
            <a:off x="6621627" y="2103120"/>
            <a:ext cx="548640" cy="548640"/>
          </a:xfrm>
          <a:prstGeom prst="rect">
            <a:avLst/>
          </a:prstGeom>
        </p:spPr>
      </p:pic>
      <p:sp>
        <p:nvSpPr>
          <p:cNvPr id="18" name="TextBox 17"/>
          <p:cNvSpPr txBox="1"/>
          <p:nvPr/>
        </p:nvSpPr>
        <p:spPr>
          <a:xfrm>
            <a:off x="7353147" y="2103120"/>
            <a:ext cx="3964381" cy="548640"/>
          </a:xfrm>
          <a:prstGeom prst="rect">
            <a:avLst/>
          </a:prstGeom>
          <a:noFill/>
        </p:spPr>
        <p:txBody>
          <a:bodyPr wrap="square" lIns="0" rIns="0" tIns="0" bIns="0" anchor="ctr">
            <a:spAutoFit/>
          </a:bodyPr>
          <a:lstStyle/>
          <a:p>
            <a:pPr algn="l"/>
            <a:r>
              <a:rPr sz="1900" b="1">
                <a:solidFill>
                  <a:srgbClr val="000000"/>
                </a:solidFill>
                <a:latin typeface="Arial"/>
              </a:rPr>
              <a:t>2. Le même examen pour tous</a:t>
            </a:r>
          </a:p>
        </p:txBody>
      </p:sp>
      <p:sp>
        <p:nvSpPr>
          <p:cNvPr id="19" name="TextBox 18"/>
          <p:cNvSpPr txBox="1"/>
          <p:nvPr/>
        </p:nvSpPr>
        <p:spPr>
          <a:xfrm>
            <a:off x="6621627" y="2834640"/>
            <a:ext cx="4695901" cy="640080"/>
          </a:xfrm>
          <a:prstGeom prst="rect">
            <a:avLst/>
          </a:prstGeom>
          <a:noFill/>
        </p:spPr>
        <p:txBody>
          <a:bodyPr wrap="square" lIns="0" rIns="0" tIns="0" bIns="0" anchor="t">
            <a:spAutoFit/>
          </a:bodyPr>
          <a:lstStyle/>
          <a:p>
            <a:pPr algn="l"/>
            <a:r>
              <a:rPr sz="1400" b="0">
                <a:solidFill>
                  <a:srgbClr val="444444"/>
                </a:solidFill>
                <a:latin typeface="Arial"/>
              </a:rPr>
              <a:t>Les 103 904 avis sont coupés en 5 parts. On apprend sur 4, on note la 5ᵉ, cinq fois de suite.</a:t>
            </a:r>
          </a:p>
        </p:txBody>
      </p:sp>
      <p:sp>
        <p:nvSpPr>
          <p:cNvPr id="20" name="Rounded Rectangle 19"/>
          <p:cNvSpPr/>
          <p:nvPr/>
        </p:nvSpPr>
        <p:spPr>
          <a:xfrm>
            <a:off x="6621627" y="3611880"/>
            <a:ext cx="566928" cy="237744"/>
          </a:xfrm>
          <a:prstGeom prst="roundRect">
            <a:avLst>
              <a:gd name="adj" fmla="val 23076"/>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61707" y="3611880"/>
            <a:ext cx="566928" cy="237744"/>
          </a:xfrm>
          <a:prstGeom prst="roundRect">
            <a:avLst>
              <a:gd name="adj" fmla="val 23076"/>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901787" y="3611880"/>
            <a:ext cx="566928" cy="237744"/>
          </a:xfrm>
          <a:prstGeom prst="roundRect">
            <a:avLst>
              <a:gd name="adj" fmla="val 23076"/>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541867" y="3611880"/>
            <a:ext cx="566928" cy="237744"/>
          </a:xfrm>
          <a:prstGeom prst="roundRect">
            <a:avLst>
              <a:gd name="adj" fmla="val 23076"/>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181947" y="3611880"/>
            <a:ext cx="566928" cy="237744"/>
          </a:xfrm>
          <a:prstGeom prst="roundRect">
            <a:avLst>
              <a:gd name="adj" fmla="val 23076"/>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621627" y="3922776"/>
            <a:ext cx="566928" cy="237744"/>
          </a:xfrm>
          <a:prstGeom prst="roundRect">
            <a:avLst>
              <a:gd name="adj" fmla="val 23076"/>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261707" y="3922776"/>
            <a:ext cx="566928" cy="237744"/>
          </a:xfrm>
          <a:prstGeom prst="roundRect">
            <a:avLst>
              <a:gd name="adj" fmla="val 23076"/>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901787" y="3922776"/>
            <a:ext cx="566928" cy="237744"/>
          </a:xfrm>
          <a:prstGeom prst="roundRect">
            <a:avLst>
              <a:gd name="adj" fmla="val 23076"/>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541867" y="3922776"/>
            <a:ext cx="566928" cy="237744"/>
          </a:xfrm>
          <a:prstGeom prst="roundRect">
            <a:avLst>
              <a:gd name="adj" fmla="val 23076"/>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181947" y="3922776"/>
            <a:ext cx="566928" cy="237744"/>
          </a:xfrm>
          <a:prstGeom prst="roundRect">
            <a:avLst>
              <a:gd name="adj" fmla="val 23076"/>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621627" y="4233672"/>
            <a:ext cx="566928" cy="237744"/>
          </a:xfrm>
          <a:prstGeom prst="roundRect">
            <a:avLst>
              <a:gd name="adj" fmla="val 23076"/>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261707" y="4233672"/>
            <a:ext cx="566928" cy="237744"/>
          </a:xfrm>
          <a:prstGeom prst="roundRect">
            <a:avLst>
              <a:gd name="adj" fmla="val 23076"/>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901787" y="4233672"/>
            <a:ext cx="566928" cy="237744"/>
          </a:xfrm>
          <a:prstGeom prst="roundRect">
            <a:avLst>
              <a:gd name="adj" fmla="val 23076"/>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541867" y="4233672"/>
            <a:ext cx="566928" cy="237744"/>
          </a:xfrm>
          <a:prstGeom prst="roundRect">
            <a:avLst>
              <a:gd name="adj" fmla="val 23076"/>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181947" y="4233672"/>
            <a:ext cx="566928" cy="237744"/>
          </a:xfrm>
          <a:prstGeom prst="roundRect">
            <a:avLst>
              <a:gd name="adj" fmla="val 23076"/>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621627" y="4544568"/>
            <a:ext cx="566928" cy="237744"/>
          </a:xfrm>
          <a:prstGeom prst="roundRect">
            <a:avLst>
              <a:gd name="adj" fmla="val 23076"/>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261707" y="4544568"/>
            <a:ext cx="566928" cy="237744"/>
          </a:xfrm>
          <a:prstGeom prst="roundRect">
            <a:avLst>
              <a:gd name="adj" fmla="val 23076"/>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901787" y="4544568"/>
            <a:ext cx="566928" cy="237744"/>
          </a:xfrm>
          <a:prstGeom prst="roundRect">
            <a:avLst>
              <a:gd name="adj" fmla="val 23076"/>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541867" y="4544568"/>
            <a:ext cx="566928" cy="237744"/>
          </a:xfrm>
          <a:prstGeom prst="roundRect">
            <a:avLst>
              <a:gd name="adj" fmla="val 23076"/>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181947" y="4544568"/>
            <a:ext cx="566928" cy="237744"/>
          </a:xfrm>
          <a:prstGeom prst="roundRect">
            <a:avLst>
              <a:gd name="adj" fmla="val 23076"/>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621627" y="4855464"/>
            <a:ext cx="566928" cy="237744"/>
          </a:xfrm>
          <a:prstGeom prst="roundRect">
            <a:avLst>
              <a:gd name="adj" fmla="val 23076"/>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7261707" y="4855464"/>
            <a:ext cx="566928" cy="237744"/>
          </a:xfrm>
          <a:prstGeom prst="roundRect">
            <a:avLst>
              <a:gd name="adj" fmla="val 23076"/>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7901787" y="4855464"/>
            <a:ext cx="566928" cy="237744"/>
          </a:xfrm>
          <a:prstGeom prst="roundRect">
            <a:avLst>
              <a:gd name="adj" fmla="val 23076"/>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541867" y="4855464"/>
            <a:ext cx="566928" cy="237744"/>
          </a:xfrm>
          <a:prstGeom prst="roundRect">
            <a:avLst>
              <a:gd name="adj" fmla="val 23076"/>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9181947" y="4855464"/>
            <a:ext cx="566928" cy="237744"/>
          </a:xfrm>
          <a:prstGeom prst="roundRect">
            <a:avLst>
              <a:gd name="adj" fmla="val 23076"/>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10004907" y="3703320"/>
            <a:ext cx="274320" cy="182880"/>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388955" y="3639312"/>
            <a:ext cx="1463040" cy="310896"/>
          </a:xfrm>
          <a:prstGeom prst="rect">
            <a:avLst/>
          </a:prstGeom>
          <a:noFill/>
        </p:spPr>
        <p:txBody>
          <a:bodyPr wrap="square" lIns="0" rIns="0" tIns="0" bIns="0" anchor="ctr">
            <a:spAutoFit/>
          </a:bodyPr>
          <a:lstStyle/>
          <a:p>
            <a:pPr algn="l"/>
            <a:r>
              <a:rPr sz="1300" b="0">
                <a:solidFill>
                  <a:srgbClr val="000000"/>
                </a:solidFill>
                <a:latin typeface="Arial"/>
              </a:rPr>
              <a:t>apprend</a:t>
            </a:r>
          </a:p>
        </p:txBody>
      </p:sp>
      <p:sp>
        <p:nvSpPr>
          <p:cNvPr id="47" name="Rounded Rectangle 46"/>
          <p:cNvSpPr/>
          <p:nvPr/>
        </p:nvSpPr>
        <p:spPr>
          <a:xfrm>
            <a:off x="10004907" y="4114800"/>
            <a:ext cx="274320" cy="182880"/>
          </a:xfrm>
          <a:prstGeom prst="roundRect">
            <a:avLst>
              <a:gd name="adj" fmla="val 25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388955" y="4050791"/>
            <a:ext cx="1463040" cy="310896"/>
          </a:xfrm>
          <a:prstGeom prst="rect">
            <a:avLst/>
          </a:prstGeom>
          <a:noFill/>
        </p:spPr>
        <p:txBody>
          <a:bodyPr wrap="square" lIns="0" rIns="0" tIns="0" bIns="0" anchor="ctr">
            <a:spAutoFit/>
          </a:bodyPr>
          <a:lstStyle/>
          <a:p>
            <a:pPr algn="l"/>
            <a:r>
              <a:rPr sz="1300" b="0">
                <a:solidFill>
                  <a:srgbClr val="000000"/>
                </a:solidFill>
                <a:latin typeface="Arial"/>
              </a:rPr>
              <a:t>est noté</a:t>
            </a:r>
          </a:p>
        </p:txBody>
      </p:sp>
      <p:sp>
        <p:nvSpPr>
          <p:cNvPr id="49" name="TextBox 48"/>
          <p:cNvSpPr txBox="1"/>
          <p:nvPr/>
        </p:nvSpPr>
        <p:spPr>
          <a:xfrm>
            <a:off x="6621627" y="5257800"/>
            <a:ext cx="4695901" cy="640080"/>
          </a:xfrm>
          <a:prstGeom prst="rect">
            <a:avLst/>
          </a:prstGeom>
          <a:noFill/>
        </p:spPr>
        <p:txBody>
          <a:bodyPr wrap="square" lIns="0" rIns="0" tIns="0" bIns="0" anchor="t">
            <a:spAutoFit/>
          </a:bodyPr>
          <a:lstStyle/>
          <a:p>
            <a:pPr algn="l"/>
            <a:r>
              <a:rPr sz="1400" b="0">
                <a:solidFill>
                  <a:srgbClr val="000000"/>
                </a:solidFill>
                <a:latin typeface="Arial"/>
              </a:rPr>
              <a:t>Chaque passager est noté par un modèle qui ne l'a jamais vu. </a:t>
            </a:r>
            <a:r>
              <a:rPr sz="1400" b="1">
                <a:solidFill>
                  <a:srgbClr val="000000"/>
                </a:solidFill>
                <a:latin typeface="Arial"/>
              </a:rPr>
              <a:t>Le fichier test reste fermé jusqu'à la fin.</a:t>
            </a:r>
          </a:p>
        </p:txBody>
      </p:sp>
      <p:sp>
        <p:nvSpPr>
          <p:cNvPr id="50" name="TextBox 49"/>
          <p:cNvSpPr txBox="1"/>
          <p:nvPr/>
        </p:nvSpPr>
        <p:spPr>
          <a:xfrm>
            <a:off x="508406" y="6327648"/>
            <a:ext cx="8229600" cy="274320"/>
          </a:xfrm>
          <a:prstGeom prst="rect">
            <a:avLst/>
          </a:prstGeom>
          <a:noFill/>
        </p:spPr>
        <p:txBody>
          <a:bodyPr wrap="square" lIns="0" rIns="0" tIns="0" bIns="0" anchor="ctr">
            <a:spAutoFit/>
          </a:bodyPr>
          <a:lstStyle/>
          <a:p>
            <a:pPr algn="l"/>
            <a:r>
              <a:rPr sz="1100" b="0">
                <a:solidFill>
                  <a:srgbClr val="8A8A8A"/>
                </a:solidFill>
                <a:latin typeface="Arial"/>
              </a:rPr>
              <a:t>Volet 2 — Prédire · Jeanne · méthode</a:t>
            </a:r>
          </a:p>
        </p:txBody>
      </p:sp>
      <p:sp>
        <p:nvSpPr>
          <p:cNvPr id="51" name="Oval 50"/>
          <p:cNvSpPr/>
          <p:nvPr/>
        </p:nvSpPr>
        <p:spPr>
          <a:xfrm>
            <a:off x="831829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47374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862919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8464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94008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909553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25098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940643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9561880" y="6419088"/>
            <a:ext cx="256032" cy="91440"/>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988192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03736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019281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034826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50371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065916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081460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1097005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112550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128095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1143640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1159184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Oval 1"/>
          <p:cNvSpPr/>
          <p:nvPr/>
        </p:nvSpPr>
        <p:spPr>
          <a:xfrm>
            <a:off x="508406" y="457200"/>
            <a:ext cx="164592" cy="164592"/>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7006" y="457200"/>
            <a:ext cx="164592" cy="164592"/>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406" y="777240"/>
            <a:ext cx="11174882" cy="914400"/>
          </a:xfrm>
          <a:prstGeom prst="rect">
            <a:avLst/>
          </a:prstGeom>
          <a:noFill/>
        </p:spPr>
        <p:txBody>
          <a:bodyPr wrap="square" lIns="0" rIns="0" tIns="0" bIns="0" anchor="t">
            <a:spAutoFit/>
          </a:bodyPr>
          <a:lstStyle/>
          <a:p>
            <a:pPr algn="l">
              <a:lnSpc>
                <a:spcPct val="95000"/>
              </a:lnSpc>
            </a:pPr>
            <a:r>
              <a:rPr sz="3000" b="1">
                <a:solidFill>
                  <a:srgbClr val="000000"/>
                </a:solidFill>
                <a:latin typeface="Arial"/>
              </a:rPr>
              <a:t>Cinq approches testées, de la plus simple à la plus fine</a:t>
            </a:r>
          </a:p>
        </p:txBody>
      </p:sp>
      <p:sp>
        <p:nvSpPr>
          <p:cNvPr id="5" name="Rounded Rectangle 4"/>
          <p:cNvSpPr/>
          <p:nvPr/>
        </p:nvSpPr>
        <p:spPr>
          <a:xfrm>
            <a:off x="508406" y="1828800"/>
            <a:ext cx="11174882" cy="4160520"/>
          </a:xfrm>
          <a:prstGeom prst="roundRect">
            <a:avLst>
              <a:gd name="adj" fmla="val 483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4166" y="2103120"/>
            <a:ext cx="5029200" cy="640080"/>
          </a:xfrm>
          <a:prstGeom prst="rect">
            <a:avLst/>
          </a:prstGeom>
          <a:noFill/>
        </p:spPr>
        <p:txBody>
          <a:bodyPr wrap="square" lIns="0" rIns="0" tIns="0" bIns="0" anchor="ctr">
            <a:spAutoFit/>
          </a:bodyPr>
          <a:lstStyle/>
          <a:p>
            <a:pPr algn="l"/>
            <a:r>
              <a:rPr sz="1700" b="1">
                <a:solidFill>
                  <a:srgbClr val="000000"/>
                </a:solidFill>
                <a:latin typeface="Arial"/>
              </a:rPr>
              <a:t>Hasard</a:t>
            </a:r>
          </a:p>
          <a:p>
            <a:pPr algn="l"/>
            <a:r>
              <a:rPr sz="1300" b="0">
                <a:solidFill>
                  <a:srgbClr val="444444"/>
                </a:solidFill>
                <a:latin typeface="Arial"/>
              </a:rPr>
              <a:t>on aborde 10 % des passagers sans choisir</a:t>
            </a:r>
          </a:p>
        </p:txBody>
      </p:sp>
      <p:sp>
        <p:nvSpPr>
          <p:cNvPr id="7" name="Rounded Rectangle 6"/>
          <p:cNvSpPr/>
          <p:nvPr/>
        </p:nvSpPr>
        <p:spPr>
          <a:xfrm>
            <a:off x="6086246" y="2322576"/>
            <a:ext cx="4206240" cy="23774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086246" y="2322576"/>
            <a:ext cx="1160221" cy="23774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9646" y="2212848"/>
            <a:ext cx="1188720" cy="457200"/>
          </a:xfrm>
          <a:prstGeom prst="rect">
            <a:avLst/>
          </a:prstGeom>
          <a:noFill/>
        </p:spPr>
        <p:txBody>
          <a:bodyPr wrap="square" lIns="0" rIns="0" tIns="0" bIns="0" anchor="ctr">
            <a:spAutoFit/>
          </a:bodyPr>
          <a:lstStyle/>
          <a:p>
            <a:pPr algn="l"/>
            <a:r>
              <a:rPr sz="1700" b="1">
                <a:solidFill>
                  <a:srgbClr val="000000"/>
                </a:solidFill>
                <a:latin typeface="Arial"/>
              </a:rPr>
              <a:t>1 655 €</a:t>
            </a:r>
          </a:p>
        </p:txBody>
      </p:sp>
      <p:sp>
        <p:nvSpPr>
          <p:cNvPr id="10" name="TextBox 9"/>
          <p:cNvSpPr txBox="1"/>
          <p:nvPr/>
        </p:nvSpPr>
        <p:spPr>
          <a:xfrm>
            <a:off x="874166" y="2816352"/>
            <a:ext cx="5029200" cy="640080"/>
          </a:xfrm>
          <a:prstGeom prst="rect">
            <a:avLst/>
          </a:prstGeom>
          <a:noFill/>
        </p:spPr>
        <p:txBody>
          <a:bodyPr wrap="square" lIns="0" rIns="0" tIns="0" bIns="0" anchor="ctr">
            <a:spAutoFit/>
          </a:bodyPr>
          <a:lstStyle/>
          <a:p>
            <a:pPr algn="l"/>
            <a:r>
              <a:rPr sz="1700" b="1">
                <a:solidFill>
                  <a:srgbClr val="000000"/>
                </a:solidFill>
                <a:latin typeface="Arial"/>
              </a:rPr>
              <a:t>Règle : plus gros retards</a:t>
            </a:r>
          </a:p>
          <a:p>
            <a:pPr algn="l"/>
            <a:r>
              <a:rPr sz="1300" b="0">
                <a:solidFill>
                  <a:srgbClr val="444444"/>
                </a:solidFill>
                <a:latin typeface="Arial"/>
              </a:rPr>
              <a:t>on aborde les passagers les plus en retard</a:t>
            </a:r>
          </a:p>
        </p:txBody>
      </p:sp>
      <p:sp>
        <p:nvSpPr>
          <p:cNvPr id="11" name="Rounded Rectangle 10"/>
          <p:cNvSpPr/>
          <p:nvPr/>
        </p:nvSpPr>
        <p:spPr>
          <a:xfrm>
            <a:off x="6086246" y="3035808"/>
            <a:ext cx="4206240" cy="23774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86246" y="3035808"/>
            <a:ext cx="1697918" cy="23774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29646" y="2926080"/>
            <a:ext cx="1188720" cy="457200"/>
          </a:xfrm>
          <a:prstGeom prst="rect">
            <a:avLst/>
          </a:prstGeom>
          <a:noFill/>
        </p:spPr>
        <p:txBody>
          <a:bodyPr wrap="square" lIns="0" rIns="0" tIns="0" bIns="0" anchor="ctr">
            <a:spAutoFit/>
          </a:bodyPr>
          <a:lstStyle/>
          <a:p>
            <a:pPr algn="l"/>
            <a:r>
              <a:rPr sz="1700" b="1">
                <a:solidFill>
                  <a:srgbClr val="000000"/>
                </a:solidFill>
                <a:latin typeface="Arial"/>
              </a:rPr>
              <a:t>2 422 €</a:t>
            </a:r>
          </a:p>
        </p:txBody>
      </p:sp>
      <p:sp>
        <p:nvSpPr>
          <p:cNvPr id="14" name="TextBox 13"/>
          <p:cNvSpPr txBox="1"/>
          <p:nvPr/>
        </p:nvSpPr>
        <p:spPr>
          <a:xfrm>
            <a:off x="874166" y="3529584"/>
            <a:ext cx="5029200" cy="640080"/>
          </a:xfrm>
          <a:prstGeom prst="rect">
            <a:avLst/>
          </a:prstGeom>
          <a:noFill/>
        </p:spPr>
        <p:txBody>
          <a:bodyPr wrap="square" lIns="0" rIns="0" tIns="0" bIns="0" anchor="ctr">
            <a:spAutoFit/>
          </a:bodyPr>
          <a:lstStyle/>
          <a:p>
            <a:pPr algn="l"/>
            <a:r>
              <a:rPr sz="1700" b="1">
                <a:solidFill>
                  <a:srgbClr val="000000"/>
                </a:solidFill>
                <a:latin typeface="Arial"/>
              </a:rPr>
              <a:t>Règle : Eco puis retard</a:t>
            </a:r>
          </a:p>
          <a:p>
            <a:pPr algn="l"/>
            <a:r>
              <a:rPr sz="1300" b="0">
                <a:solidFill>
                  <a:srgbClr val="444444"/>
                </a:solidFill>
                <a:latin typeface="Arial"/>
              </a:rPr>
              <a:t>la meilleure règle qu'un agent peut appliquer seul</a:t>
            </a:r>
          </a:p>
        </p:txBody>
      </p:sp>
      <p:sp>
        <p:nvSpPr>
          <p:cNvPr id="15" name="Rounded Rectangle 14"/>
          <p:cNvSpPr/>
          <p:nvPr/>
        </p:nvSpPr>
        <p:spPr>
          <a:xfrm>
            <a:off x="6086246" y="3749039"/>
            <a:ext cx="4206240" cy="23774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086246" y="3749039"/>
            <a:ext cx="3325733" cy="237744"/>
          </a:xfrm>
          <a:prstGeom prst="roundRect">
            <a:avLst>
              <a:gd name="adj" fmla="val 5000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29646" y="3639312"/>
            <a:ext cx="1188720" cy="457200"/>
          </a:xfrm>
          <a:prstGeom prst="rect">
            <a:avLst/>
          </a:prstGeom>
          <a:noFill/>
        </p:spPr>
        <p:txBody>
          <a:bodyPr wrap="square" lIns="0" rIns="0" tIns="0" bIns="0" anchor="ctr">
            <a:spAutoFit/>
          </a:bodyPr>
          <a:lstStyle/>
          <a:p>
            <a:pPr algn="l"/>
            <a:r>
              <a:rPr sz="1700" b="1">
                <a:solidFill>
                  <a:srgbClr val="000000"/>
                </a:solidFill>
                <a:latin typeface="Arial"/>
              </a:rPr>
              <a:t>4 744 €</a:t>
            </a:r>
          </a:p>
        </p:txBody>
      </p:sp>
      <p:sp>
        <p:nvSpPr>
          <p:cNvPr id="18" name="TextBox 17"/>
          <p:cNvSpPr txBox="1"/>
          <p:nvPr/>
        </p:nvSpPr>
        <p:spPr>
          <a:xfrm>
            <a:off x="874166" y="4242816"/>
            <a:ext cx="5029200" cy="640080"/>
          </a:xfrm>
          <a:prstGeom prst="rect">
            <a:avLst/>
          </a:prstGeom>
          <a:noFill/>
        </p:spPr>
        <p:txBody>
          <a:bodyPr wrap="square" lIns="0" rIns="0" tIns="0" bIns="0" anchor="ctr">
            <a:spAutoFit/>
          </a:bodyPr>
          <a:lstStyle/>
          <a:p>
            <a:pPr algn="l"/>
            <a:r>
              <a:rPr sz="1700" b="1">
                <a:solidFill>
                  <a:srgbClr val="000000"/>
                </a:solidFill>
                <a:latin typeface="Arial"/>
              </a:rPr>
              <a:t>Régression logistique</a:t>
            </a:r>
          </a:p>
          <a:p>
            <a:pPr algn="l"/>
            <a:r>
              <a:rPr sz="1300" b="0">
                <a:solidFill>
                  <a:srgbClr val="444444"/>
                </a:solidFill>
                <a:latin typeface="Arial"/>
              </a:rPr>
              <a:t>additionne un poids par information</a:t>
            </a:r>
          </a:p>
        </p:txBody>
      </p:sp>
      <p:sp>
        <p:nvSpPr>
          <p:cNvPr id="19" name="Rounded Rectangle 18"/>
          <p:cNvSpPr/>
          <p:nvPr/>
        </p:nvSpPr>
        <p:spPr>
          <a:xfrm>
            <a:off x="6086246" y="4462272"/>
            <a:ext cx="4206240" cy="23774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086246" y="4462272"/>
            <a:ext cx="3190433" cy="23774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429646" y="4352544"/>
            <a:ext cx="1188720" cy="457200"/>
          </a:xfrm>
          <a:prstGeom prst="rect">
            <a:avLst/>
          </a:prstGeom>
          <a:noFill/>
        </p:spPr>
        <p:txBody>
          <a:bodyPr wrap="square" lIns="0" rIns="0" tIns="0" bIns="0" anchor="ctr">
            <a:spAutoFit/>
          </a:bodyPr>
          <a:lstStyle/>
          <a:p>
            <a:pPr algn="l"/>
            <a:r>
              <a:rPr sz="1700" b="1">
                <a:solidFill>
                  <a:srgbClr val="000000"/>
                </a:solidFill>
                <a:latin typeface="Arial"/>
              </a:rPr>
              <a:t>4 551 €</a:t>
            </a:r>
          </a:p>
        </p:txBody>
      </p:sp>
      <p:sp>
        <p:nvSpPr>
          <p:cNvPr id="22" name="Rounded Rectangle 21"/>
          <p:cNvSpPr/>
          <p:nvPr/>
        </p:nvSpPr>
        <p:spPr>
          <a:xfrm>
            <a:off x="8235086" y="4133087"/>
            <a:ext cx="2057400" cy="292608"/>
          </a:xfrm>
          <a:prstGeom prst="roundRect">
            <a:avLst>
              <a:gd name="adj" fmla="val 5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5086" y="4133087"/>
            <a:ext cx="2057400" cy="292608"/>
          </a:xfrm>
          <a:prstGeom prst="rect">
            <a:avLst/>
          </a:prstGeom>
          <a:noFill/>
        </p:spPr>
        <p:txBody>
          <a:bodyPr wrap="square" lIns="0" rIns="0" tIns="0" bIns="0" anchor="ctr">
            <a:spAutoFit/>
          </a:bodyPr>
          <a:lstStyle/>
          <a:p>
            <a:pPr algn="ctr"/>
            <a:r>
              <a:rPr sz="1100" b="1">
                <a:solidFill>
                  <a:srgbClr val="444444"/>
                </a:solidFill>
                <a:latin typeface="Arial"/>
              </a:rPr>
              <a:t>moins bien que la règle</a:t>
            </a:r>
          </a:p>
        </p:txBody>
      </p:sp>
      <p:sp>
        <p:nvSpPr>
          <p:cNvPr id="24" name="TextBox 23"/>
          <p:cNvSpPr txBox="1"/>
          <p:nvPr/>
        </p:nvSpPr>
        <p:spPr>
          <a:xfrm>
            <a:off x="874166" y="4956048"/>
            <a:ext cx="5029200" cy="640080"/>
          </a:xfrm>
          <a:prstGeom prst="rect">
            <a:avLst/>
          </a:prstGeom>
          <a:noFill/>
        </p:spPr>
        <p:txBody>
          <a:bodyPr wrap="square" lIns="0" rIns="0" tIns="0" bIns="0" anchor="ctr">
            <a:spAutoFit/>
          </a:bodyPr>
          <a:lstStyle/>
          <a:p>
            <a:pPr algn="l"/>
            <a:r>
              <a:rPr sz="1700" b="1">
                <a:solidFill>
                  <a:srgbClr val="000000"/>
                </a:solidFill>
                <a:latin typeface="Arial"/>
              </a:rPr>
              <a:t>Gradient boosting</a:t>
            </a:r>
          </a:p>
          <a:p>
            <a:pPr algn="l"/>
            <a:r>
              <a:rPr sz="1300" b="0">
                <a:solidFill>
                  <a:srgbClr val="444444"/>
                </a:solidFill>
                <a:latin typeface="Arial"/>
              </a:rPr>
              <a:t>combine les informations entre elles</a:t>
            </a:r>
          </a:p>
        </p:txBody>
      </p:sp>
      <p:sp>
        <p:nvSpPr>
          <p:cNvPr id="25" name="Rounded Rectangle 24"/>
          <p:cNvSpPr/>
          <p:nvPr/>
        </p:nvSpPr>
        <p:spPr>
          <a:xfrm>
            <a:off x="6086246" y="5175504"/>
            <a:ext cx="4206240" cy="23774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086246" y="5175504"/>
            <a:ext cx="3864132" cy="237744"/>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429646" y="5065776"/>
            <a:ext cx="1188720" cy="457200"/>
          </a:xfrm>
          <a:prstGeom prst="rect">
            <a:avLst/>
          </a:prstGeom>
          <a:noFill/>
        </p:spPr>
        <p:txBody>
          <a:bodyPr wrap="square" lIns="0" rIns="0" tIns="0" bIns="0" anchor="ctr">
            <a:spAutoFit/>
          </a:bodyPr>
          <a:lstStyle/>
          <a:p>
            <a:pPr algn="l"/>
            <a:r>
              <a:rPr sz="1700" b="1">
                <a:solidFill>
                  <a:srgbClr val="0055FF"/>
                </a:solidFill>
                <a:latin typeface="Arial"/>
              </a:rPr>
              <a:t>5 512 €</a:t>
            </a:r>
          </a:p>
        </p:txBody>
      </p:sp>
      <p:sp>
        <p:nvSpPr>
          <p:cNvPr id="28" name="Rounded Rectangle 27"/>
          <p:cNvSpPr/>
          <p:nvPr/>
        </p:nvSpPr>
        <p:spPr>
          <a:xfrm>
            <a:off x="9240926" y="4846320"/>
            <a:ext cx="1051560" cy="292608"/>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40926" y="4846320"/>
            <a:ext cx="1051560" cy="292608"/>
          </a:xfrm>
          <a:prstGeom prst="rect">
            <a:avLst/>
          </a:prstGeom>
          <a:noFill/>
        </p:spPr>
        <p:txBody>
          <a:bodyPr wrap="square" lIns="0" rIns="0" tIns="0" bIns="0" anchor="ctr">
            <a:spAutoFit/>
          </a:bodyPr>
          <a:lstStyle/>
          <a:p>
            <a:pPr algn="ctr"/>
            <a:r>
              <a:rPr sz="1100" b="1">
                <a:solidFill>
                  <a:srgbClr val="FFFFFF"/>
                </a:solidFill>
                <a:latin typeface="Arial"/>
              </a:rPr>
              <a:t>retenu</a:t>
            </a:r>
          </a:p>
        </p:txBody>
      </p:sp>
      <p:pic>
        <p:nvPicPr>
          <p:cNvPr id="30" name="Picture 29" descr="exclu.png"/>
          <p:cNvPicPr>
            <a:picLocks noChangeAspect="1"/>
          </p:cNvPicPr>
          <p:nvPr/>
        </p:nvPicPr>
        <p:blipFill>
          <a:blip r:embed="rId2"/>
          <a:stretch>
            <a:fillRect/>
          </a:stretch>
        </p:blipFill>
        <p:spPr>
          <a:xfrm>
            <a:off x="874166" y="5650992"/>
            <a:ext cx="292608" cy="292608"/>
          </a:xfrm>
          <a:prstGeom prst="rect">
            <a:avLst/>
          </a:prstGeom>
        </p:spPr>
      </p:pic>
      <p:sp>
        <p:nvSpPr>
          <p:cNvPr id="31" name="TextBox 30"/>
          <p:cNvSpPr txBox="1"/>
          <p:nvPr/>
        </p:nvSpPr>
        <p:spPr>
          <a:xfrm>
            <a:off x="1285646" y="5623560"/>
            <a:ext cx="10077602" cy="347472"/>
          </a:xfrm>
          <a:prstGeom prst="rect">
            <a:avLst/>
          </a:prstGeom>
          <a:noFill/>
        </p:spPr>
        <p:txBody>
          <a:bodyPr wrap="square" lIns="0" rIns="0" tIns="0" bIns="0" anchor="ctr">
            <a:spAutoFit/>
          </a:bodyPr>
          <a:lstStyle/>
          <a:p>
            <a:pPr algn="l"/>
            <a:r>
              <a:rPr sz="1300" b="1">
                <a:solidFill>
                  <a:srgbClr val="000000"/>
                </a:solidFill>
                <a:latin typeface="Arial"/>
              </a:rPr>
              <a:t>Forêt aléatoire aussi testée, puis écartée : </a:t>
            </a:r>
            <a:r>
              <a:rPr sz="1300" b="0">
                <a:solidFill>
                  <a:srgbClr val="000000"/>
                </a:solidFill>
                <a:latin typeface="Arial"/>
              </a:rPr>
              <a:t>résultats différents à chaque exécution, alors que les chiffres doivent être reproductibles.</a:t>
            </a:r>
          </a:p>
        </p:txBody>
      </p:sp>
      <p:sp>
        <p:nvSpPr>
          <p:cNvPr id="32" name="TextBox 31"/>
          <p:cNvSpPr txBox="1"/>
          <p:nvPr/>
        </p:nvSpPr>
        <p:spPr>
          <a:xfrm>
            <a:off x="508406" y="6327648"/>
            <a:ext cx="8229600" cy="274320"/>
          </a:xfrm>
          <a:prstGeom prst="rect">
            <a:avLst/>
          </a:prstGeom>
          <a:noFill/>
        </p:spPr>
        <p:txBody>
          <a:bodyPr wrap="square" lIns="0" rIns="0" tIns="0" bIns="0" anchor="ctr">
            <a:spAutoFit/>
          </a:bodyPr>
          <a:lstStyle/>
          <a:p>
            <a:pPr algn="l"/>
            <a:r>
              <a:rPr sz="1100" b="0">
                <a:solidFill>
                  <a:srgbClr val="8A8A8A"/>
                </a:solidFill>
                <a:latin typeface="Arial"/>
              </a:rPr>
              <a:t>Volet 2 — Prédire · Jeanne · gain net pour 1 000 passagers, validation croisée sur train, sans motif du voyage</a:t>
            </a:r>
          </a:p>
        </p:txBody>
      </p:sp>
      <p:sp>
        <p:nvSpPr>
          <p:cNvPr id="33" name="Oval 32"/>
          <p:cNvSpPr/>
          <p:nvPr/>
        </p:nvSpPr>
        <p:spPr>
          <a:xfrm>
            <a:off x="831829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47374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62919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78464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94008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09553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925098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40643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56188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9717328" y="6419088"/>
            <a:ext cx="256032" cy="91440"/>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003736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19281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34826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50371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65916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81460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97005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112550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128095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143640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59184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Oval 1"/>
          <p:cNvSpPr/>
          <p:nvPr/>
        </p:nvSpPr>
        <p:spPr>
          <a:xfrm>
            <a:off x="508406" y="457200"/>
            <a:ext cx="164592" cy="164592"/>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7006" y="457200"/>
            <a:ext cx="164592" cy="164592"/>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406" y="777240"/>
            <a:ext cx="11174882" cy="914400"/>
          </a:xfrm>
          <a:prstGeom prst="rect">
            <a:avLst/>
          </a:prstGeom>
          <a:noFill/>
        </p:spPr>
        <p:txBody>
          <a:bodyPr wrap="square" lIns="0" rIns="0" tIns="0" bIns="0" anchor="t">
            <a:spAutoFit/>
          </a:bodyPr>
          <a:lstStyle/>
          <a:p>
            <a:pPr algn="l">
              <a:lnSpc>
                <a:spcPct val="95000"/>
              </a:lnSpc>
            </a:pPr>
            <a:r>
              <a:rPr sz="3000" b="1">
                <a:solidFill>
                  <a:srgbClr val="000000"/>
                </a:solidFill>
                <a:latin typeface="Arial"/>
              </a:rPr>
              <a:t>Gradient boosting : des petites règles qui se corrigent</a:t>
            </a:r>
          </a:p>
        </p:txBody>
      </p:sp>
      <p:sp>
        <p:nvSpPr>
          <p:cNvPr id="5" name="Rounded Rectangle 4"/>
          <p:cNvSpPr/>
          <p:nvPr/>
        </p:nvSpPr>
        <p:spPr>
          <a:xfrm>
            <a:off x="508406" y="1828800"/>
            <a:ext cx="6766560" cy="4160520"/>
          </a:xfrm>
          <a:prstGeom prst="roundRect">
            <a:avLst>
              <a:gd name="adj" fmla="val 483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4166" y="2103120"/>
            <a:ext cx="6035040" cy="411480"/>
          </a:xfrm>
          <a:prstGeom prst="rect">
            <a:avLst/>
          </a:prstGeom>
          <a:noFill/>
        </p:spPr>
        <p:txBody>
          <a:bodyPr wrap="square" lIns="0" rIns="0" tIns="0" bIns="0" anchor="t">
            <a:spAutoFit/>
          </a:bodyPr>
          <a:lstStyle/>
          <a:p>
            <a:pPr algn="l"/>
            <a:r>
              <a:rPr sz="1900" b="1">
                <a:solidFill>
                  <a:srgbClr val="000000"/>
                </a:solidFill>
                <a:latin typeface="Arial"/>
              </a:rPr>
              <a:t>Comment il décide</a:t>
            </a:r>
          </a:p>
        </p:txBody>
      </p:sp>
      <p:sp>
        <p:nvSpPr>
          <p:cNvPr id="7" name="Oval 6"/>
          <p:cNvSpPr/>
          <p:nvPr/>
        </p:nvSpPr>
        <p:spPr>
          <a:xfrm>
            <a:off x="874166" y="2752344"/>
            <a:ext cx="502920" cy="50292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4166" y="2752344"/>
            <a:ext cx="502920" cy="502920"/>
          </a:xfrm>
          <a:prstGeom prst="rect">
            <a:avLst/>
          </a:prstGeom>
          <a:noFill/>
        </p:spPr>
        <p:txBody>
          <a:bodyPr wrap="square" lIns="0" rIns="0" tIns="0" bIns="0" anchor="ctr">
            <a:spAutoFit/>
          </a:bodyPr>
          <a:lstStyle/>
          <a:p>
            <a:pPr algn="ctr"/>
            <a:r>
              <a:rPr sz="1800" b="1">
                <a:solidFill>
                  <a:srgbClr val="FFFFFF"/>
                </a:solidFill>
                <a:latin typeface="Arial"/>
              </a:rPr>
              <a:t>1</a:t>
            </a:r>
          </a:p>
        </p:txBody>
      </p:sp>
      <p:sp>
        <p:nvSpPr>
          <p:cNvPr id="9" name="TextBox 8"/>
          <p:cNvSpPr txBox="1"/>
          <p:nvPr/>
        </p:nvSpPr>
        <p:spPr>
          <a:xfrm>
            <a:off x="1605686" y="2697480"/>
            <a:ext cx="5394960" cy="640080"/>
          </a:xfrm>
          <a:prstGeom prst="rect">
            <a:avLst/>
          </a:prstGeom>
          <a:noFill/>
        </p:spPr>
        <p:txBody>
          <a:bodyPr wrap="square" lIns="0" rIns="0" tIns="0" bIns="0" anchor="ctr">
            <a:spAutoFit/>
          </a:bodyPr>
          <a:lstStyle/>
          <a:p>
            <a:pPr algn="l"/>
            <a:r>
              <a:rPr sz="1600" b="1">
                <a:solidFill>
                  <a:srgbClr val="000000"/>
                </a:solidFill>
                <a:latin typeface="Arial"/>
              </a:rPr>
              <a:t>Une première petite règle</a:t>
            </a:r>
          </a:p>
          <a:p>
            <a:pPr algn="l"/>
            <a:r>
              <a:rPr sz="1300" b="0">
                <a:solidFill>
                  <a:srgbClr val="444444"/>
                </a:solidFill>
                <a:latin typeface="Arial"/>
              </a:rPr>
              <a:t>« Classe Eco ? » : elle trie déjà grossièrement les passagers.</a:t>
            </a:r>
          </a:p>
        </p:txBody>
      </p:sp>
      <p:sp>
        <p:nvSpPr>
          <p:cNvPr id="10" name="Oval 9"/>
          <p:cNvSpPr/>
          <p:nvPr/>
        </p:nvSpPr>
        <p:spPr>
          <a:xfrm>
            <a:off x="874166" y="3538728"/>
            <a:ext cx="502920" cy="50292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4166" y="3538728"/>
            <a:ext cx="502920" cy="502920"/>
          </a:xfrm>
          <a:prstGeom prst="rect">
            <a:avLst/>
          </a:prstGeom>
          <a:noFill/>
        </p:spPr>
        <p:txBody>
          <a:bodyPr wrap="square" lIns="0" rIns="0" tIns="0" bIns="0" anchor="ctr">
            <a:spAutoFit/>
          </a:bodyPr>
          <a:lstStyle/>
          <a:p>
            <a:pPr algn="ctr"/>
            <a:r>
              <a:rPr sz="1800" b="1">
                <a:solidFill>
                  <a:srgbClr val="FFFFFF"/>
                </a:solidFill>
                <a:latin typeface="Arial"/>
              </a:rPr>
              <a:t>2</a:t>
            </a:r>
          </a:p>
        </p:txBody>
      </p:sp>
      <p:sp>
        <p:nvSpPr>
          <p:cNvPr id="12" name="TextBox 11"/>
          <p:cNvSpPr txBox="1"/>
          <p:nvPr/>
        </p:nvSpPr>
        <p:spPr>
          <a:xfrm>
            <a:off x="1605686" y="3483864"/>
            <a:ext cx="5394960" cy="640080"/>
          </a:xfrm>
          <a:prstGeom prst="rect">
            <a:avLst/>
          </a:prstGeom>
          <a:noFill/>
        </p:spPr>
        <p:txBody>
          <a:bodyPr wrap="square" lIns="0" rIns="0" tIns="0" bIns="0" anchor="ctr">
            <a:spAutoFit/>
          </a:bodyPr>
          <a:lstStyle/>
          <a:p>
            <a:pPr algn="l"/>
            <a:r>
              <a:rPr sz="1600" b="1">
                <a:solidFill>
                  <a:srgbClr val="000000"/>
                </a:solidFill>
                <a:latin typeface="Arial"/>
              </a:rPr>
              <a:t>Une deuxième corrige les erreurs</a:t>
            </a:r>
          </a:p>
          <a:p>
            <a:pPr algn="l"/>
            <a:r>
              <a:rPr sz="1300" b="0">
                <a:solidFill>
                  <a:srgbClr val="444444"/>
                </a:solidFill>
                <a:latin typeface="Arial"/>
              </a:rPr>
              <a:t>« Client peu fidèle ? Retard de plus de 15 min ? »</a:t>
            </a:r>
          </a:p>
        </p:txBody>
      </p:sp>
      <p:sp>
        <p:nvSpPr>
          <p:cNvPr id="13" name="Oval 12"/>
          <p:cNvSpPr/>
          <p:nvPr/>
        </p:nvSpPr>
        <p:spPr>
          <a:xfrm>
            <a:off x="874166" y="4325112"/>
            <a:ext cx="502920" cy="50292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4166" y="4325112"/>
            <a:ext cx="502920" cy="502920"/>
          </a:xfrm>
          <a:prstGeom prst="rect">
            <a:avLst/>
          </a:prstGeom>
          <a:noFill/>
        </p:spPr>
        <p:txBody>
          <a:bodyPr wrap="square" lIns="0" rIns="0" tIns="0" bIns="0" anchor="ctr">
            <a:spAutoFit/>
          </a:bodyPr>
          <a:lstStyle/>
          <a:p>
            <a:pPr algn="ctr"/>
            <a:r>
              <a:rPr sz="1800" b="1">
                <a:solidFill>
                  <a:srgbClr val="FFFFFF"/>
                </a:solidFill>
                <a:latin typeface="Arial"/>
              </a:rPr>
              <a:t>…</a:t>
            </a:r>
          </a:p>
        </p:txBody>
      </p:sp>
      <p:sp>
        <p:nvSpPr>
          <p:cNvPr id="15" name="TextBox 14"/>
          <p:cNvSpPr txBox="1"/>
          <p:nvPr/>
        </p:nvSpPr>
        <p:spPr>
          <a:xfrm>
            <a:off x="1605686" y="4270248"/>
            <a:ext cx="5394960" cy="640080"/>
          </a:xfrm>
          <a:prstGeom prst="rect">
            <a:avLst/>
          </a:prstGeom>
          <a:noFill/>
        </p:spPr>
        <p:txBody>
          <a:bodyPr wrap="square" lIns="0" rIns="0" tIns="0" bIns="0" anchor="ctr">
            <a:spAutoFit/>
          </a:bodyPr>
          <a:lstStyle/>
          <a:p>
            <a:pPr algn="l"/>
            <a:r>
              <a:rPr sz="1600" b="1">
                <a:solidFill>
                  <a:srgbClr val="000000"/>
                </a:solidFill>
                <a:latin typeface="Arial"/>
              </a:rPr>
              <a:t>Et ainsi de suite, une centaine de fois</a:t>
            </a:r>
          </a:p>
          <a:p>
            <a:pPr algn="l"/>
            <a:r>
              <a:rPr sz="1300" b="0">
                <a:solidFill>
                  <a:srgbClr val="444444"/>
                </a:solidFill>
                <a:latin typeface="Arial"/>
              </a:rPr>
              <a:t>chaque règle s'attaque à ce que les précédentes ont raté.</a:t>
            </a:r>
          </a:p>
        </p:txBody>
      </p:sp>
      <p:sp>
        <p:nvSpPr>
          <p:cNvPr id="16" name="Oval 15"/>
          <p:cNvSpPr/>
          <p:nvPr/>
        </p:nvSpPr>
        <p:spPr>
          <a:xfrm>
            <a:off x="874166" y="5111496"/>
            <a:ext cx="502920" cy="502920"/>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4166" y="5111496"/>
            <a:ext cx="502920" cy="502920"/>
          </a:xfrm>
          <a:prstGeom prst="rect">
            <a:avLst/>
          </a:prstGeom>
          <a:noFill/>
        </p:spPr>
        <p:txBody>
          <a:bodyPr wrap="square" lIns="0" rIns="0" tIns="0" bIns="0" anchor="ctr">
            <a:spAutoFit/>
          </a:bodyPr>
          <a:lstStyle/>
          <a:p>
            <a:pPr algn="ctr"/>
            <a:r>
              <a:rPr sz="1800" b="1">
                <a:solidFill>
                  <a:srgbClr val="FFFFFF"/>
                </a:solidFill>
                <a:latin typeface="Arial"/>
              </a:rPr>
              <a:t>=</a:t>
            </a:r>
          </a:p>
        </p:txBody>
      </p:sp>
      <p:sp>
        <p:nvSpPr>
          <p:cNvPr id="18" name="TextBox 17"/>
          <p:cNvSpPr txBox="1"/>
          <p:nvPr/>
        </p:nvSpPr>
        <p:spPr>
          <a:xfrm>
            <a:off x="1605686" y="5056632"/>
            <a:ext cx="5394960" cy="640080"/>
          </a:xfrm>
          <a:prstGeom prst="rect">
            <a:avLst/>
          </a:prstGeom>
          <a:noFill/>
        </p:spPr>
        <p:txBody>
          <a:bodyPr wrap="square" lIns="0" rIns="0" tIns="0" bIns="0" anchor="ctr">
            <a:spAutoFit/>
          </a:bodyPr>
          <a:lstStyle/>
          <a:p>
            <a:pPr algn="l"/>
            <a:r>
              <a:rPr sz="1600" b="1">
                <a:solidFill>
                  <a:srgbClr val="000000"/>
                </a:solidFill>
                <a:latin typeface="Arial"/>
              </a:rPr>
              <a:t>Le score de risque</a:t>
            </a:r>
          </a:p>
          <a:p>
            <a:pPr algn="l"/>
            <a:r>
              <a:rPr sz="1300" b="0">
                <a:solidFill>
                  <a:srgbClr val="444444"/>
                </a:solidFill>
                <a:latin typeface="Arial"/>
              </a:rPr>
              <a:t>la somme de tous ces avis : on aborde les 10 % les plus élevés.</a:t>
            </a:r>
          </a:p>
        </p:txBody>
      </p:sp>
      <p:sp>
        <p:nvSpPr>
          <p:cNvPr id="19" name="Rounded Rectangle 18"/>
          <p:cNvSpPr/>
          <p:nvPr/>
        </p:nvSpPr>
        <p:spPr>
          <a:xfrm>
            <a:off x="7595006" y="1828800"/>
            <a:ext cx="4088282" cy="4160520"/>
          </a:xfrm>
          <a:prstGeom prst="roundRect">
            <a:avLst>
              <a:gd name="adj" fmla="val 492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60766" y="2103120"/>
            <a:ext cx="3657600" cy="411480"/>
          </a:xfrm>
          <a:prstGeom prst="rect">
            <a:avLst/>
          </a:prstGeom>
          <a:noFill/>
        </p:spPr>
        <p:txBody>
          <a:bodyPr wrap="square" lIns="0" rIns="0" tIns="0" bIns="0" anchor="t">
            <a:spAutoFit/>
          </a:bodyPr>
          <a:lstStyle/>
          <a:p>
            <a:pPr algn="l"/>
            <a:r>
              <a:rPr sz="1900" b="1">
                <a:solidFill>
                  <a:srgbClr val="000000"/>
                </a:solidFill>
                <a:latin typeface="Arial"/>
              </a:rPr>
              <a:t>D'où ça vient</a:t>
            </a:r>
          </a:p>
        </p:txBody>
      </p:sp>
      <p:sp>
        <p:nvSpPr>
          <p:cNvPr id="21" name="TextBox 20"/>
          <p:cNvSpPr txBox="1"/>
          <p:nvPr/>
        </p:nvSpPr>
        <p:spPr>
          <a:xfrm>
            <a:off x="7960766" y="2651760"/>
            <a:ext cx="3657600" cy="731520"/>
          </a:xfrm>
          <a:prstGeom prst="rect">
            <a:avLst/>
          </a:prstGeom>
          <a:noFill/>
        </p:spPr>
        <p:txBody>
          <a:bodyPr wrap="square" lIns="0" rIns="0" tIns="0" bIns="0" anchor="t">
            <a:spAutoFit/>
          </a:bodyPr>
          <a:lstStyle/>
          <a:p>
            <a:pPr algn="l"/>
            <a:r>
              <a:rPr sz="1500" b="1">
                <a:solidFill>
                  <a:srgbClr val="0055FF"/>
                </a:solidFill>
                <a:latin typeface="Arial"/>
              </a:rPr>
              <a:t>1990</a:t>
            </a:r>
          </a:p>
          <a:p>
            <a:pPr algn="l"/>
            <a:r>
              <a:rPr sz="1200" b="0">
                <a:solidFill>
                  <a:srgbClr val="444444"/>
                </a:solidFill>
                <a:latin typeface="Arial"/>
              </a:rPr>
              <a:t>Robert Schapire : des règles faibles, combinées, donnent une règle forte (« boosting »).</a:t>
            </a:r>
          </a:p>
        </p:txBody>
      </p:sp>
      <p:sp>
        <p:nvSpPr>
          <p:cNvPr id="22" name="TextBox 21"/>
          <p:cNvSpPr txBox="1"/>
          <p:nvPr/>
        </p:nvSpPr>
        <p:spPr>
          <a:xfrm>
            <a:off x="7960766" y="3456432"/>
            <a:ext cx="3657600" cy="731520"/>
          </a:xfrm>
          <a:prstGeom prst="rect">
            <a:avLst/>
          </a:prstGeom>
          <a:noFill/>
        </p:spPr>
        <p:txBody>
          <a:bodyPr wrap="square" lIns="0" rIns="0" tIns="0" bIns="0" anchor="t">
            <a:spAutoFit/>
          </a:bodyPr>
          <a:lstStyle/>
          <a:p>
            <a:pPr algn="l"/>
            <a:r>
              <a:rPr sz="1500" b="1">
                <a:solidFill>
                  <a:srgbClr val="0055FF"/>
                </a:solidFill>
                <a:latin typeface="Arial"/>
              </a:rPr>
              <a:t>1995</a:t>
            </a:r>
          </a:p>
          <a:p>
            <a:pPr algn="l"/>
            <a:r>
              <a:rPr sz="1200" b="0">
                <a:solidFill>
                  <a:srgbClr val="444444"/>
                </a:solidFill>
                <a:latin typeface="Arial"/>
              </a:rPr>
              <a:t>Yoav Freund et Robert Schapire : AdaBoost, premier algorithme largement utilisé.</a:t>
            </a:r>
          </a:p>
        </p:txBody>
      </p:sp>
      <p:sp>
        <p:nvSpPr>
          <p:cNvPr id="23" name="TextBox 22"/>
          <p:cNvSpPr txBox="1"/>
          <p:nvPr/>
        </p:nvSpPr>
        <p:spPr>
          <a:xfrm>
            <a:off x="7960766" y="4261104"/>
            <a:ext cx="3657600" cy="731520"/>
          </a:xfrm>
          <a:prstGeom prst="rect">
            <a:avLst/>
          </a:prstGeom>
          <a:noFill/>
        </p:spPr>
        <p:txBody>
          <a:bodyPr wrap="square" lIns="0" rIns="0" tIns="0" bIns="0" anchor="t">
            <a:spAutoFit/>
          </a:bodyPr>
          <a:lstStyle/>
          <a:p>
            <a:pPr algn="l"/>
            <a:r>
              <a:rPr sz="1500" b="1">
                <a:solidFill>
                  <a:srgbClr val="0055FF"/>
                </a:solidFill>
                <a:latin typeface="Arial"/>
              </a:rPr>
              <a:t>2001</a:t>
            </a:r>
          </a:p>
          <a:p>
            <a:pPr algn="l"/>
            <a:r>
              <a:rPr sz="1200" b="0">
                <a:solidFill>
                  <a:srgbClr val="444444"/>
                </a:solidFill>
                <a:latin typeface="Arial"/>
              </a:rPr>
              <a:t>Jerome Friedman (Stanford) : le gradient boosting, chaque règle corrige l'erreur restante.</a:t>
            </a:r>
          </a:p>
        </p:txBody>
      </p:sp>
      <p:sp>
        <p:nvSpPr>
          <p:cNvPr id="24" name="TextBox 23"/>
          <p:cNvSpPr txBox="1"/>
          <p:nvPr/>
        </p:nvSpPr>
        <p:spPr>
          <a:xfrm>
            <a:off x="7960766" y="5065776"/>
            <a:ext cx="3657600" cy="731520"/>
          </a:xfrm>
          <a:prstGeom prst="rect">
            <a:avLst/>
          </a:prstGeom>
          <a:noFill/>
        </p:spPr>
        <p:txBody>
          <a:bodyPr wrap="square" lIns="0" rIns="0" tIns="0" bIns="0" anchor="t">
            <a:spAutoFit/>
          </a:bodyPr>
          <a:lstStyle/>
          <a:p>
            <a:pPr algn="l"/>
            <a:r>
              <a:rPr sz="1500" b="1">
                <a:solidFill>
                  <a:srgbClr val="0055FF"/>
                </a:solidFill>
                <a:latin typeface="Arial"/>
              </a:rPr>
              <a:t>Aujourd'hui</a:t>
            </a:r>
          </a:p>
          <a:p>
            <a:pPr algn="l"/>
            <a:r>
              <a:rPr sz="1200" b="0">
                <a:solidFill>
                  <a:srgbClr val="444444"/>
                </a:solidFill>
                <a:latin typeface="Arial"/>
              </a:rPr>
              <a:t>méthode de référence sur les données en tableau ; nous utilisons la version de scikit-learn.</a:t>
            </a:r>
          </a:p>
        </p:txBody>
      </p:sp>
      <p:sp>
        <p:nvSpPr>
          <p:cNvPr id="25" name="TextBox 24"/>
          <p:cNvSpPr txBox="1"/>
          <p:nvPr/>
        </p:nvSpPr>
        <p:spPr>
          <a:xfrm>
            <a:off x="508406" y="6327648"/>
            <a:ext cx="8229600" cy="274320"/>
          </a:xfrm>
          <a:prstGeom prst="rect">
            <a:avLst/>
          </a:prstGeom>
          <a:noFill/>
        </p:spPr>
        <p:txBody>
          <a:bodyPr wrap="square" lIns="0" rIns="0" tIns="0" bIns="0" anchor="ctr">
            <a:spAutoFit/>
          </a:bodyPr>
          <a:lstStyle/>
          <a:p>
            <a:pPr algn="l"/>
            <a:r>
              <a:rPr sz="1100" b="0">
                <a:solidFill>
                  <a:srgbClr val="8A8A8A"/>
                </a:solidFill>
                <a:latin typeface="Arial"/>
              </a:rPr>
              <a:t>Volet 2 — Prédire · Jeanne · HistGradientBoostingClassifier (scikit-learn), une centaine d'arbres de décision</a:t>
            </a:r>
          </a:p>
        </p:txBody>
      </p:sp>
      <p:sp>
        <p:nvSpPr>
          <p:cNvPr id="26" name="Oval 25"/>
          <p:cNvSpPr/>
          <p:nvPr/>
        </p:nvSpPr>
        <p:spPr>
          <a:xfrm>
            <a:off x="831829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47374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62919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78464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94008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09553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25098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40643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56188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71732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872776" y="6419088"/>
            <a:ext cx="256032" cy="91440"/>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19281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34826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50371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65916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081460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97005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112550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128095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143640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159184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Oval 1"/>
          <p:cNvSpPr/>
          <p:nvPr/>
        </p:nvSpPr>
        <p:spPr>
          <a:xfrm>
            <a:off x="508406" y="457200"/>
            <a:ext cx="164592" cy="164592"/>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7006" y="457200"/>
            <a:ext cx="164592" cy="164592"/>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65606" y="457200"/>
            <a:ext cx="164592" cy="164592"/>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406" y="777240"/>
            <a:ext cx="11174882" cy="914400"/>
          </a:xfrm>
          <a:prstGeom prst="rect">
            <a:avLst/>
          </a:prstGeom>
          <a:noFill/>
        </p:spPr>
        <p:txBody>
          <a:bodyPr wrap="square" lIns="0" rIns="0" tIns="0" bIns="0" anchor="t">
            <a:spAutoFit/>
          </a:bodyPr>
          <a:lstStyle/>
          <a:p>
            <a:pPr algn="l">
              <a:lnSpc>
                <a:spcPct val="95000"/>
              </a:lnSpc>
            </a:pPr>
            <a:r>
              <a:rPr sz="3000" b="1">
                <a:solidFill>
                  <a:srgbClr val="000000"/>
                </a:solidFill>
                <a:latin typeface="Arial"/>
              </a:rPr>
              <a:t>Pourquoi le gradient boosting : quatre critères</a:t>
            </a:r>
          </a:p>
        </p:txBody>
      </p:sp>
      <p:sp>
        <p:nvSpPr>
          <p:cNvPr id="6" name="Rounded Rectangle 5"/>
          <p:cNvSpPr/>
          <p:nvPr/>
        </p:nvSpPr>
        <p:spPr>
          <a:xfrm>
            <a:off x="508406" y="1828800"/>
            <a:ext cx="11174882" cy="4160520"/>
          </a:xfrm>
          <a:prstGeom prst="roundRect">
            <a:avLst>
              <a:gd name="adj" fmla="val 483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828446" y="2103120"/>
          <a:ext cx="10533888" cy="3291840"/>
        </p:xfrm>
        <a:graphic>
          <a:graphicData uri="http://schemas.openxmlformats.org/drawingml/2006/table">
            <a:tbl>
              <a:tblPr firstRow="0" bandRow="0">
                <a:tableStyleId>{5C22544A-7EE6-4342-B048-85BDC9FD1C3A}</a:tableStyleId>
              </a:tblPr>
              <a:tblGrid>
                <a:gridCol w="2377440"/>
                <a:gridCol w="2011680"/>
                <a:gridCol w="2011680"/>
                <a:gridCol w="1920240"/>
                <a:gridCol w="2212848"/>
              </a:tblGrid>
              <a:tr h="548640">
                <a:tc>
                  <a:txBody>
                    <a:bodyPr wrap="square"/>
                    <a:lstStyle/>
                    <a:p>
                      <a:r>
                        <a:rPr sz="1400" b="1">
                          <a:solidFill>
                            <a:srgbClr val="000000"/>
                          </a:solidFill>
                          <a:latin typeface="Arial"/>
                        </a:rPr>
                        <a:t>Critère</a:t>
                      </a:r>
                    </a:p>
                  </a:txBody>
                  <a:tcPr marL="109728" marR="109728" anchor="ctr">
                    <a:solidFill>
                      <a:srgbClr val="F4F4F4"/>
                    </a:solidFill>
                  </a:tcPr>
                </a:tc>
                <a:tc>
                  <a:txBody>
                    <a:bodyPr wrap="square"/>
                    <a:lstStyle/>
                    <a:p>
                      <a:r>
                        <a:rPr sz="1400" b="1">
                          <a:solidFill>
                            <a:srgbClr val="000000"/>
                          </a:solidFill>
                          <a:latin typeface="Arial"/>
                        </a:rPr>
                        <a:t>Règle : Eco puis retard</a:t>
                      </a:r>
                    </a:p>
                  </a:txBody>
                  <a:tcPr marL="109728" marR="109728" anchor="ctr">
                    <a:solidFill>
                      <a:srgbClr val="F4F4F4"/>
                    </a:solidFill>
                  </a:tcPr>
                </a:tc>
                <a:tc>
                  <a:txBody>
                    <a:bodyPr wrap="square"/>
                    <a:lstStyle/>
                    <a:p>
                      <a:r>
                        <a:rPr sz="1400" b="1">
                          <a:solidFill>
                            <a:srgbClr val="000000"/>
                          </a:solidFill>
                          <a:latin typeface="Arial"/>
                        </a:rPr>
                        <a:t>Régression logistique</a:t>
                      </a:r>
                    </a:p>
                  </a:txBody>
                  <a:tcPr marL="109728" marR="109728" anchor="ctr">
                    <a:solidFill>
                      <a:srgbClr val="F4F4F4"/>
                    </a:solidFill>
                  </a:tcPr>
                </a:tc>
                <a:tc>
                  <a:txBody>
                    <a:bodyPr wrap="square"/>
                    <a:lstStyle/>
                    <a:p>
                      <a:r>
                        <a:rPr sz="1400" b="1">
                          <a:solidFill>
                            <a:srgbClr val="000000"/>
                          </a:solidFill>
                          <a:latin typeface="Arial"/>
                        </a:rPr>
                        <a:t>Forêt aléatoire</a:t>
                      </a:r>
                    </a:p>
                  </a:txBody>
                  <a:tcPr marL="109728" marR="109728" anchor="ctr">
                    <a:solidFill>
                      <a:srgbClr val="F4F4F4"/>
                    </a:solidFill>
                  </a:tcPr>
                </a:tc>
                <a:tc>
                  <a:txBody>
                    <a:bodyPr wrap="square"/>
                    <a:lstStyle/>
                    <a:p>
                      <a:r>
                        <a:rPr sz="1400" b="1">
                          <a:solidFill>
                            <a:srgbClr val="FFFFFF"/>
                          </a:solidFill>
                          <a:latin typeface="Arial"/>
                        </a:rPr>
                        <a:t>Gradient boosting</a:t>
                      </a:r>
                    </a:p>
                  </a:txBody>
                  <a:tcPr marL="109728" marR="109728" anchor="ctr">
                    <a:solidFill>
                      <a:srgbClr val="0055FF"/>
                    </a:solidFill>
                  </a:tcPr>
                </a:tc>
              </a:tr>
              <a:tr h="548640">
                <a:tc>
                  <a:txBody>
                    <a:bodyPr wrap="square"/>
                    <a:lstStyle/>
                    <a:p>
                      <a:r>
                        <a:rPr sz="1400" b="1">
                          <a:solidFill>
                            <a:srgbClr val="000000"/>
                          </a:solidFill>
                          <a:latin typeface="Arial"/>
                        </a:rPr>
                        <a:t>Gain pour 1 000 passagers</a:t>
                      </a:r>
                    </a:p>
                  </a:txBody>
                  <a:tcPr marL="109728" marR="109728" anchor="ctr">
                    <a:solidFill>
                      <a:srgbClr val="FFFFFF"/>
                    </a:solidFill>
                  </a:tcPr>
                </a:tc>
                <a:tc>
                  <a:txBody>
                    <a:bodyPr wrap="square"/>
                    <a:lstStyle/>
                    <a:p>
                      <a:r>
                        <a:rPr sz="1400" b="0">
                          <a:solidFill>
                            <a:srgbClr val="444444"/>
                          </a:solidFill>
                          <a:latin typeface="Arial"/>
                        </a:rPr>
                        <a:t>4 744 €</a:t>
                      </a:r>
                    </a:p>
                  </a:txBody>
                  <a:tcPr marL="109728" marR="109728" anchor="ctr">
                    <a:solidFill>
                      <a:srgbClr val="FFFFFF"/>
                    </a:solidFill>
                  </a:tcPr>
                </a:tc>
                <a:tc>
                  <a:txBody>
                    <a:bodyPr wrap="square"/>
                    <a:lstStyle/>
                    <a:p>
                      <a:r>
                        <a:rPr sz="1400" b="0">
                          <a:solidFill>
                            <a:srgbClr val="444444"/>
                          </a:solidFill>
                          <a:latin typeface="Arial"/>
                        </a:rPr>
                        <a:t>4 551 €</a:t>
                      </a:r>
                    </a:p>
                  </a:txBody>
                  <a:tcPr marL="109728" marR="109728" anchor="ctr">
                    <a:solidFill>
                      <a:srgbClr val="FFFFFF"/>
                    </a:solidFill>
                  </a:tcPr>
                </a:tc>
                <a:tc>
                  <a:txBody>
                    <a:bodyPr wrap="square"/>
                    <a:lstStyle/>
                    <a:p>
                      <a:r>
                        <a:rPr sz="1400" b="0">
                          <a:solidFill>
                            <a:srgbClr val="444444"/>
                          </a:solidFill>
                          <a:latin typeface="Arial"/>
                        </a:rPr>
                        <a:t>moins bon*</a:t>
                      </a:r>
                    </a:p>
                  </a:txBody>
                  <a:tcPr marL="109728" marR="109728" anchor="ctr">
                    <a:solidFill>
                      <a:srgbClr val="FFFFFF"/>
                    </a:solidFill>
                  </a:tcPr>
                </a:tc>
                <a:tc>
                  <a:txBody>
                    <a:bodyPr wrap="square"/>
                    <a:lstStyle/>
                    <a:p>
                      <a:r>
                        <a:rPr sz="1400" b="1">
                          <a:solidFill>
                            <a:srgbClr val="000000"/>
                          </a:solidFill>
                          <a:latin typeface="Arial"/>
                        </a:rPr>
                        <a:t>5 512 €</a:t>
                      </a:r>
                    </a:p>
                  </a:txBody>
                  <a:tcPr marL="109728" marR="109728" anchor="ctr">
                    <a:solidFill>
                      <a:srgbClr val="FFFFFF"/>
                    </a:solidFill>
                  </a:tcPr>
                </a:tc>
              </a:tr>
              <a:tr h="548640">
                <a:tc>
                  <a:txBody>
                    <a:bodyPr wrap="square"/>
                    <a:lstStyle/>
                    <a:p>
                      <a:r>
                        <a:rPr sz="1400" b="1">
                          <a:solidFill>
                            <a:srgbClr val="000000"/>
                          </a:solidFill>
                          <a:latin typeface="Arial"/>
                        </a:rPr>
                        <a:t>Connu à l'atterrissage</a:t>
                      </a:r>
                    </a:p>
                  </a:txBody>
                  <a:tcPr marL="109728" marR="109728" anchor="ctr">
                    <a:solidFill>
                      <a:srgbClr val="FFFFFF"/>
                    </a:solidFill>
                  </a:tcPr>
                </a:tc>
                <a:tc>
                  <a:txBody>
                    <a:bodyPr wrap="square"/>
                    <a:lstStyle/>
                    <a:p>
                      <a:r>
                        <a:rPr sz="1400" b="0">
                          <a:solidFill>
                            <a:srgbClr val="444444"/>
                          </a:solidFill>
                          <a:latin typeface="Arial"/>
                        </a:rPr>
                        <a:t>oui</a:t>
                      </a:r>
                    </a:p>
                  </a:txBody>
                  <a:tcPr marL="109728" marR="109728" anchor="ctr">
                    <a:solidFill>
                      <a:srgbClr val="FFFFFF"/>
                    </a:solidFill>
                  </a:tcPr>
                </a:tc>
                <a:tc>
                  <a:txBody>
                    <a:bodyPr wrap="square"/>
                    <a:lstStyle/>
                    <a:p>
                      <a:r>
                        <a:rPr sz="1400" b="0">
                          <a:solidFill>
                            <a:srgbClr val="444444"/>
                          </a:solidFill>
                          <a:latin typeface="Arial"/>
                        </a:rPr>
                        <a:t>oui</a:t>
                      </a:r>
                    </a:p>
                  </a:txBody>
                  <a:tcPr marL="109728" marR="109728" anchor="ctr">
                    <a:solidFill>
                      <a:srgbClr val="FFFFFF"/>
                    </a:solidFill>
                  </a:tcPr>
                </a:tc>
                <a:tc>
                  <a:txBody>
                    <a:bodyPr wrap="square"/>
                    <a:lstStyle/>
                    <a:p>
                      <a:r>
                        <a:rPr sz="1400" b="0">
                          <a:solidFill>
                            <a:srgbClr val="444444"/>
                          </a:solidFill>
                          <a:latin typeface="Arial"/>
                        </a:rPr>
                        <a:t>oui</a:t>
                      </a:r>
                    </a:p>
                  </a:txBody>
                  <a:tcPr marL="109728" marR="109728" anchor="ctr">
                    <a:solidFill>
                      <a:srgbClr val="FFFFFF"/>
                    </a:solidFill>
                  </a:tcPr>
                </a:tc>
                <a:tc>
                  <a:txBody>
                    <a:bodyPr wrap="square"/>
                    <a:lstStyle/>
                    <a:p>
                      <a:r>
                        <a:rPr sz="1400" b="1">
                          <a:solidFill>
                            <a:srgbClr val="000000"/>
                          </a:solidFill>
                          <a:latin typeface="Arial"/>
                        </a:rPr>
                        <a:t>oui</a:t>
                      </a:r>
                    </a:p>
                  </a:txBody>
                  <a:tcPr marL="109728" marR="109728" anchor="ctr">
                    <a:solidFill>
                      <a:srgbClr val="FFFFFF"/>
                    </a:solidFill>
                  </a:tcPr>
                </a:tc>
              </a:tr>
              <a:tr h="548640">
                <a:tc>
                  <a:txBody>
                    <a:bodyPr wrap="square"/>
                    <a:lstStyle/>
                    <a:p>
                      <a:r>
                        <a:rPr sz="1400" b="1">
                          <a:solidFill>
                            <a:srgbClr val="000000"/>
                          </a:solidFill>
                          <a:latin typeface="Arial"/>
                        </a:rPr>
                        <a:t>Mêmes chiffres à chaque fois</a:t>
                      </a:r>
                    </a:p>
                  </a:txBody>
                  <a:tcPr marL="109728" marR="109728" anchor="ctr">
                    <a:solidFill>
                      <a:srgbClr val="FFFFFF"/>
                    </a:solidFill>
                  </a:tcPr>
                </a:tc>
                <a:tc>
                  <a:txBody>
                    <a:bodyPr wrap="square"/>
                    <a:lstStyle/>
                    <a:p>
                      <a:r>
                        <a:rPr sz="1400" b="0">
                          <a:solidFill>
                            <a:srgbClr val="444444"/>
                          </a:solidFill>
                          <a:latin typeface="Arial"/>
                        </a:rPr>
                        <a:t>oui</a:t>
                      </a:r>
                    </a:p>
                  </a:txBody>
                  <a:tcPr marL="109728" marR="109728" anchor="ctr">
                    <a:solidFill>
                      <a:srgbClr val="FFFFFF"/>
                    </a:solidFill>
                  </a:tcPr>
                </a:tc>
                <a:tc>
                  <a:txBody>
                    <a:bodyPr wrap="square"/>
                    <a:lstStyle/>
                    <a:p>
                      <a:r>
                        <a:rPr sz="1400" b="0">
                          <a:solidFill>
                            <a:srgbClr val="444444"/>
                          </a:solidFill>
                          <a:latin typeface="Arial"/>
                        </a:rPr>
                        <a:t>oui</a:t>
                      </a:r>
                    </a:p>
                  </a:txBody>
                  <a:tcPr marL="109728" marR="109728" anchor="ctr">
                    <a:solidFill>
                      <a:srgbClr val="FFFFFF"/>
                    </a:solidFill>
                  </a:tcPr>
                </a:tc>
                <a:tc>
                  <a:txBody>
                    <a:bodyPr wrap="square"/>
                    <a:lstStyle/>
                    <a:p>
                      <a:r>
                        <a:rPr sz="1400" b="0">
                          <a:solidFill>
                            <a:srgbClr val="444444"/>
                          </a:solidFill>
                          <a:latin typeface="Arial"/>
                        </a:rPr>
                        <a:t>non</a:t>
                      </a:r>
                    </a:p>
                  </a:txBody>
                  <a:tcPr marL="109728" marR="109728" anchor="ctr">
                    <a:solidFill>
                      <a:srgbClr val="FFFFFF"/>
                    </a:solidFill>
                  </a:tcPr>
                </a:tc>
                <a:tc>
                  <a:txBody>
                    <a:bodyPr wrap="square"/>
                    <a:lstStyle/>
                    <a:p>
                      <a:r>
                        <a:rPr sz="1400" b="1">
                          <a:solidFill>
                            <a:srgbClr val="000000"/>
                          </a:solidFill>
                          <a:latin typeface="Arial"/>
                        </a:rPr>
                        <a:t>oui</a:t>
                      </a:r>
                    </a:p>
                  </a:txBody>
                  <a:tcPr marL="109728" marR="109728" anchor="ctr">
                    <a:solidFill>
                      <a:srgbClr val="FFFFFF"/>
                    </a:solidFill>
                  </a:tcPr>
                </a:tc>
              </a:tr>
              <a:tr h="548640">
                <a:tc>
                  <a:txBody>
                    <a:bodyPr wrap="square"/>
                    <a:lstStyle/>
                    <a:p>
                      <a:r>
                        <a:rPr sz="1400" b="1">
                          <a:solidFill>
                            <a:srgbClr val="000000"/>
                          </a:solidFill>
                          <a:latin typeface="Arial"/>
                        </a:rPr>
                        <a:t>Explicable à la direction</a:t>
                      </a:r>
                    </a:p>
                  </a:txBody>
                  <a:tcPr marL="109728" marR="109728" anchor="ctr">
                    <a:solidFill>
                      <a:srgbClr val="FFFFFF"/>
                    </a:solidFill>
                  </a:tcPr>
                </a:tc>
                <a:tc>
                  <a:txBody>
                    <a:bodyPr wrap="square"/>
                    <a:lstStyle/>
                    <a:p>
                      <a:r>
                        <a:rPr sz="1400" b="0">
                          <a:solidFill>
                            <a:srgbClr val="444444"/>
                          </a:solidFill>
                          <a:latin typeface="Arial"/>
                        </a:rPr>
                        <a:t>très facile</a:t>
                      </a:r>
                    </a:p>
                  </a:txBody>
                  <a:tcPr marL="109728" marR="109728" anchor="ctr">
                    <a:solidFill>
                      <a:srgbClr val="FFFFFF"/>
                    </a:solidFill>
                  </a:tcPr>
                </a:tc>
                <a:tc>
                  <a:txBody>
                    <a:bodyPr wrap="square"/>
                    <a:lstStyle/>
                    <a:p>
                      <a:r>
                        <a:rPr sz="1400" b="0">
                          <a:solidFill>
                            <a:srgbClr val="444444"/>
                          </a:solidFill>
                          <a:latin typeface="Arial"/>
                        </a:rPr>
                        <a:t>oui</a:t>
                      </a:r>
                    </a:p>
                  </a:txBody>
                  <a:tcPr marL="109728" marR="109728" anchor="ctr">
                    <a:solidFill>
                      <a:srgbClr val="FFFFFF"/>
                    </a:solidFill>
                  </a:tcPr>
                </a:tc>
                <a:tc>
                  <a:txBody>
                    <a:bodyPr wrap="square"/>
                    <a:lstStyle/>
                    <a:p>
                      <a:r>
                        <a:rPr sz="1400" b="0">
                          <a:solidFill>
                            <a:srgbClr val="444444"/>
                          </a:solidFill>
                          <a:latin typeface="Arial"/>
                        </a:rPr>
                        <a:t>moyen</a:t>
                      </a:r>
                    </a:p>
                  </a:txBody>
                  <a:tcPr marL="109728" marR="109728" anchor="ctr">
                    <a:solidFill>
                      <a:srgbClr val="FFFFFF"/>
                    </a:solidFill>
                  </a:tcPr>
                </a:tc>
                <a:tc>
                  <a:txBody>
                    <a:bodyPr wrap="square"/>
                    <a:lstStyle/>
                    <a:p>
                      <a:r>
                        <a:rPr sz="1400" b="1">
                          <a:solidFill>
                            <a:srgbClr val="000000"/>
                          </a:solidFill>
                          <a:latin typeface="Arial"/>
                        </a:rPr>
                        <a:t>oui, par ce qui pèse</a:t>
                      </a:r>
                    </a:p>
                  </a:txBody>
                  <a:tcPr marL="109728" marR="109728" anchor="ctr">
                    <a:solidFill>
                      <a:srgbClr val="FFFFFF"/>
                    </a:solidFill>
                  </a:tcPr>
                </a:tc>
              </a:tr>
              <a:tr h="548640">
                <a:tc>
                  <a:txBody>
                    <a:bodyPr wrap="square"/>
                    <a:lstStyle/>
                    <a:p>
                      <a:r>
                        <a:rPr sz="1400" b="1">
                          <a:solidFill>
                            <a:srgbClr val="000000"/>
                          </a:solidFill>
                          <a:latin typeface="Arial"/>
                        </a:rPr>
                        <a:t>Verdict</a:t>
                      </a:r>
                    </a:p>
                  </a:txBody>
                  <a:tcPr marL="109728" marR="109728" anchor="ctr">
                    <a:solidFill>
                      <a:srgbClr val="FFFFFF"/>
                    </a:solidFill>
                  </a:tcPr>
                </a:tc>
                <a:tc>
                  <a:txBody>
                    <a:bodyPr wrap="square"/>
                    <a:lstStyle/>
                    <a:p>
                      <a:r>
                        <a:rPr sz="1400" b="0">
                          <a:solidFill>
                            <a:srgbClr val="444444"/>
                          </a:solidFill>
                          <a:latin typeface="Arial"/>
                        </a:rPr>
                        <a:t>référence à battre</a:t>
                      </a:r>
                    </a:p>
                  </a:txBody>
                  <a:tcPr marL="109728" marR="109728" anchor="ctr">
                    <a:solidFill>
                      <a:srgbClr val="FFFFFF"/>
                    </a:solidFill>
                  </a:tcPr>
                </a:tc>
                <a:tc>
                  <a:txBody>
                    <a:bodyPr wrap="square"/>
                    <a:lstStyle/>
                    <a:p>
                      <a:r>
                        <a:rPr sz="1400" b="0">
                          <a:solidFill>
                            <a:srgbClr val="444444"/>
                          </a:solidFill>
                          <a:latin typeface="Arial"/>
                        </a:rPr>
                        <a:t>écartée</a:t>
                      </a:r>
                    </a:p>
                  </a:txBody>
                  <a:tcPr marL="109728" marR="109728" anchor="ctr">
                    <a:solidFill>
                      <a:srgbClr val="FFFFFF"/>
                    </a:solidFill>
                  </a:tcPr>
                </a:tc>
                <a:tc>
                  <a:txBody>
                    <a:bodyPr wrap="square"/>
                    <a:lstStyle/>
                    <a:p>
                      <a:r>
                        <a:rPr sz="1400" b="0">
                          <a:solidFill>
                            <a:srgbClr val="444444"/>
                          </a:solidFill>
                          <a:latin typeface="Arial"/>
                        </a:rPr>
                        <a:t>écartée</a:t>
                      </a:r>
                    </a:p>
                  </a:txBody>
                  <a:tcPr marL="109728" marR="109728" anchor="ctr">
                    <a:solidFill>
                      <a:srgbClr val="FFFFFF"/>
                    </a:solidFill>
                  </a:tcPr>
                </a:tc>
                <a:tc>
                  <a:txBody>
                    <a:bodyPr wrap="square"/>
                    <a:lstStyle/>
                    <a:p>
                      <a:r>
                        <a:rPr sz="1400" b="1">
                          <a:solidFill>
                            <a:srgbClr val="000000"/>
                          </a:solidFill>
                          <a:latin typeface="Arial"/>
                        </a:rPr>
                        <a:t>retenu</a:t>
                      </a:r>
                    </a:p>
                  </a:txBody>
                  <a:tcPr marL="109728" marR="109728" anchor="ctr">
                    <a:solidFill>
                      <a:srgbClr val="FFFFFF"/>
                    </a:solidFill>
                  </a:tcPr>
                </a:tc>
              </a:tr>
            </a:tbl>
          </a:graphicData>
        </a:graphic>
      </p:graphicFrame>
      <p:sp>
        <p:nvSpPr>
          <p:cNvPr id="8" name="TextBox 7"/>
          <p:cNvSpPr txBox="1"/>
          <p:nvPr/>
        </p:nvSpPr>
        <p:spPr>
          <a:xfrm>
            <a:off x="828446" y="5532120"/>
            <a:ext cx="10534802" cy="365760"/>
          </a:xfrm>
          <a:prstGeom prst="rect">
            <a:avLst/>
          </a:prstGeom>
          <a:noFill/>
        </p:spPr>
        <p:txBody>
          <a:bodyPr wrap="square" lIns="0" rIns="0" tIns="0" bIns="0" anchor="t">
            <a:spAutoFit/>
          </a:bodyPr>
          <a:lstStyle/>
          <a:p>
            <a:pPr algn="l"/>
            <a:r>
              <a:rPr sz="1200" b="0">
                <a:solidFill>
                  <a:srgbClr val="8A8A8A"/>
                </a:solidFill>
                <a:latin typeface="Arial"/>
              </a:rPr>
              <a:t>* testée avec le motif du voyage : 5 609 € contre 5 672 € pour le gradient boosting.</a:t>
            </a:r>
          </a:p>
        </p:txBody>
      </p:sp>
      <p:sp>
        <p:nvSpPr>
          <p:cNvPr id="9" name="TextBox 8"/>
          <p:cNvSpPr txBox="1"/>
          <p:nvPr/>
        </p:nvSpPr>
        <p:spPr>
          <a:xfrm>
            <a:off x="508406" y="6327648"/>
            <a:ext cx="8229600" cy="274320"/>
          </a:xfrm>
          <a:prstGeom prst="rect">
            <a:avLst/>
          </a:prstGeom>
          <a:noFill/>
        </p:spPr>
        <p:txBody>
          <a:bodyPr wrap="square" lIns="0" rIns="0" tIns="0" bIns="0" anchor="ctr">
            <a:spAutoFit/>
          </a:bodyPr>
          <a:lstStyle/>
          <a:p>
            <a:pPr algn="l"/>
            <a:r>
              <a:rPr sz="1100" b="0">
                <a:solidFill>
                  <a:srgbClr val="8A8A8A"/>
                </a:solidFill>
                <a:latin typeface="Arial"/>
              </a:rPr>
              <a:t>Volet 2 — Prédire · Jeanne · validation croisée sur train, sans motif du voyage</a:t>
            </a:r>
          </a:p>
        </p:txBody>
      </p:sp>
      <p:sp>
        <p:nvSpPr>
          <p:cNvPr id="10" name="Oval 9"/>
          <p:cNvSpPr/>
          <p:nvPr/>
        </p:nvSpPr>
        <p:spPr>
          <a:xfrm>
            <a:off x="831829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47374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2919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78464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94008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9553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25098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40643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56188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71732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87277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028224" y="6419088"/>
            <a:ext cx="256032" cy="91440"/>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4826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50371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65916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81460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97005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112550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128095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143640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159184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Oval 1"/>
          <p:cNvSpPr/>
          <p:nvPr/>
        </p:nvSpPr>
        <p:spPr>
          <a:xfrm>
            <a:off x="508406" y="457200"/>
            <a:ext cx="164592" cy="164592"/>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7006" y="457200"/>
            <a:ext cx="164592" cy="164592"/>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406" y="777240"/>
            <a:ext cx="11174882" cy="914400"/>
          </a:xfrm>
          <a:prstGeom prst="rect">
            <a:avLst/>
          </a:prstGeom>
          <a:noFill/>
        </p:spPr>
        <p:txBody>
          <a:bodyPr wrap="square" lIns="0" rIns="0" tIns="0" bIns="0" anchor="t">
            <a:spAutoFit/>
          </a:bodyPr>
          <a:lstStyle/>
          <a:p>
            <a:pPr algn="l">
              <a:lnSpc>
                <a:spcPct val="95000"/>
              </a:lnSpc>
            </a:pPr>
            <a:r>
              <a:rPr sz="3000" b="1">
                <a:solidFill>
                  <a:srgbClr val="000000"/>
                </a:solidFill>
                <a:latin typeface="Arial"/>
              </a:rPr>
              <a:t>Sans le motif du voyage, un modèle devient utile</a:t>
            </a:r>
          </a:p>
        </p:txBody>
      </p:sp>
      <p:sp>
        <p:nvSpPr>
          <p:cNvPr id="5" name="Rounded Rectangle 4"/>
          <p:cNvSpPr/>
          <p:nvPr/>
        </p:nvSpPr>
        <p:spPr>
          <a:xfrm>
            <a:off x="508406" y="1828800"/>
            <a:ext cx="5427421" cy="4160520"/>
          </a:xfrm>
          <a:prstGeom prst="roundRect">
            <a:avLst>
              <a:gd name="adj" fmla="val 483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4166" y="2103120"/>
            <a:ext cx="4695901" cy="457200"/>
          </a:xfrm>
          <a:prstGeom prst="rect">
            <a:avLst/>
          </a:prstGeom>
          <a:noFill/>
        </p:spPr>
        <p:txBody>
          <a:bodyPr wrap="square" lIns="0" rIns="0" tIns="0" bIns="0" anchor="t">
            <a:spAutoFit/>
          </a:bodyPr>
          <a:lstStyle/>
          <a:p>
            <a:pPr algn="l"/>
            <a:r>
              <a:rPr sz="2000" b="1">
                <a:solidFill>
                  <a:srgbClr val="000000"/>
                </a:solidFill>
                <a:latin typeface="Arial"/>
              </a:rPr>
              <a:t>Si le motif du voyage était connu</a:t>
            </a:r>
          </a:p>
        </p:txBody>
      </p:sp>
      <p:sp>
        <p:nvSpPr>
          <p:cNvPr id="7" name="TextBox 6"/>
          <p:cNvSpPr txBox="1"/>
          <p:nvPr/>
        </p:nvSpPr>
        <p:spPr>
          <a:xfrm>
            <a:off x="874166" y="2834640"/>
            <a:ext cx="3598621" cy="320040"/>
          </a:xfrm>
          <a:prstGeom prst="rect">
            <a:avLst/>
          </a:prstGeom>
          <a:noFill/>
        </p:spPr>
        <p:txBody>
          <a:bodyPr wrap="square" lIns="0" rIns="0" tIns="0" bIns="0" anchor="t">
            <a:spAutoFit/>
          </a:bodyPr>
          <a:lstStyle/>
          <a:p>
            <a:pPr algn="l"/>
            <a:r>
              <a:rPr sz="1500" b="0">
                <a:solidFill>
                  <a:srgbClr val="444444"/>
                </a:solidFill>
                <a:latin typeface="Arial"/>
              </a:rPr>
              <a:t>Meilleure règle simple</a:t>
            </a:r>
          </a:p>
        </p:txBody>
      </p:sp>
      <p:sp>
        <p:nvSpPr>
          <p:cNvPr id="8" name="TextBox 7"/>
          <p:cNvSpPr txBox="1"/>
          <p:nvPr/>
        </p:nvSpPr>
        <p:spPr>
          <a:xfrm>
            <a:off x="4198467" y="2834640"/>
            <a:ext cx="1371600" cy="320040"/>
          </a:xfrm>
          <a:prstGeom prst="rect">
            <a:avLst/>
          </a:prstGeom>
          <a:noFill/>
        </p:spPr>
        <p:txBody>
          <a:bodyPr wrap="square" lIns="0" rIns="0" tIns="0" bIns="0" anchor="t">
            <a:spAutoFit/>
          </a:bodyPr>
          <a:lstStyle/>
          <a:p>
            <a:pPr algn="r"/>
            <a:r>
              <a:rPr sz="1700" b="1">
                <a:solidFill>
                  <a:srgbClr val="000000"/>
                </a:solidFill>
                <a:latin typeface="Arial"/>
              </a:rPr>
              <a:t>5 565 €</a:t>
            </a:r>
          </a:p>
        </p:txBody>
      </p:sp>
      <p:sp>
        <p:nvSpPr>
          <p:cNvPr id="9" name="Rounded Rectangle 8"/>
          <p:cNvSpPr/>
          <p:nvPr/>
        </p:nvSpPr>
        <p:spPr>
          <a:xfrm>
            <a:off x="874166" y="3218688"/>
            <a:ext cx="4695901" cy="23774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74166" y="3218688"/>
            <a:ext cx="4355448" cy="237744"/>
          </a:xfrm>
          <a:prstGeom prst="roundRect">
            <a:avLst>
              <a:gd name="adj" fmla="val 5000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4166" y="3703320"/>
            <a:ext cx="3598621" cy="320040"/>
          </a:xfrm>
          <a:prstGeom prst="rect">
            <a:avLst/>
          </a:prstGeom>
          <a:noFill/>
        </p:spPr>
        <p:txBody>
          <a:bodyPr wrap="square" lIns="0" rIns="0" tIns="0" bIns="0" anchor="t">
            <a:spAutoFit/>
          </a:bodyPr>
          <a:lstStyle/>
          <a:p>
            <a:pPr algn="l"/>
            <a:r>
              <a:rPr sz="1500" b="0">
                <a:solidFill>
                  <a:srgbClr val="444444"/>
                </a:solidFill>
                <a:latin typeface="Arial"/>
              </a:rPr>
              <a:t>Modèle</a:t>
            </a:r>
          </a:p>
        </p:txBody>
      </p:sp>
      <p:sp>
        <p:nvSpPr>
          <p:cNvPr id="12" name="TextBox 11"/>
          <p:cNvSpPr txBox="1"/>
          <p:nvPr/>
        </p:nvSpPr>
        <p:spPr>
          <a:xfrm>
            <a:off x="4198467" y="3703320"/>
            <a:ext cx="1371600" cy="320040"/>
          </a:xfrm>
          <a:prstGeom prst="rect">
            <a:avLst/>
          </a:prstGeom>
          <a:noFill/>
        </p:spPr>
        <p:txBody>
          <a:bodyPr wrap="square" lIns="0" rIns="0" tIns="0" bIns="0" anchor="t">
            <a:spAutoFit/>
          </a:bodyPr>
          <a:lstStyle/>
          <a:p>
            <a:pPr algn="r"/>
            <a:r>
              <a:rPr sz="1700" b="1">
                <a:solidFill>
                  <a:srgbClr val="000000"/>
                </a:solidFill>
                <a:latin typeface="Arial"/>
              </a:rPr>
              <a:t>5 672 €</a:t>
            </a:r>
          </a:p>
        </p:txBody>
      </p:sp>
      <p:sp>
        <p:nvSpPr>
          <p:cNvPr id="13" name="Rounded Rectangle 12"/>
          <p:cNvSpPr/>
          <p:nvPr/>
        </p:nvSpPr>
        <p:spPr>
          <a:xfrm>
            <a:off x="874166" y="4087368"/>
            <a:ext cx="4695901" cy="23774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74166" y="4087368"/>
            <a:ext cx="4439191" cy="23774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4166" y="4709160"/>
            <a:ext cx="4695901" cy="731520"/>
          </a:xfrm>
          <a:prstGeom prst="rect">
            <a:avLst/>
          </a:prstGeom>
          <a:noFill/>
        </p:spPr>
        <p:txBody>
          <a:bodyPr wrap="square" lIns="0" rIns="0" tIns="0" bIns="0" anchor="t">
            <a:spAutoFit/>
          </a:bodyPr>
          <a:lstStyle/>
          <a:p>
            <a:pPr algn="l"/>
            <a:r>
              <a:rPr sz="4400" b="1">
                <a:solidFill>
                  <a:srgbClr val="000000"/>
                </a:solidFill>
                <a:latin typeface="Arial"/>
              </a:rPr>
              <a:t>+107 €</a:t>
            </a:r>
          </a:p>
        </p:txBody>
      </p:sp>
      <p:sp>
        <p:nvSpPr>
          <p:cNvPr id="16" name="TextBox 15"/>
          <p:cNvSpPr txBox="1"/>
          <p:nvPr/>
        </p:nvSpPr>
        <p:spPr>
          <a:xfrm>
            <a:off x="874166" y="5440680"/>
            <a:ext cx="4695901" cy="365760"/>
          </a:xfrm>
          <a:prstGeom prst="rect">
            <a:avLst/>
          </a:prstGeom>
          <a:noFill/>
        </p:spPr>
        <p:txBody>
          <a:bodyPr wrap="square" lIns="0" rIns="0" tIns="0" bIns="0" anchor="t">
            <a:spAutoFit/>
          </a:bodyPr>
          <a:lstStyle/>
          <a:p>
            <a:pPr algn="l"/>
            <a:r>
              <a:rPr sz="1500" b="1">
                <a:solidFill>
                  <a:srgbClr val="444444"/>
                </a:solidFill>
                <a:latin typeface="Arial"/>
              </a:rPr>
              <a:t>une règle simple suffirait</a:t>
            </a:r>
          </a:p>
        </p:txBody>
      </p:sp>
      <p:sp>
        <p:nvSpPr>
          <p:cNvPr id="17" name="Rounded Rectangle 16"/>
          <p:cNvSpPr/>
          <p:nvPr/>
        </p:nvSpPr>
        <p:spPr>
          <a:xfrm>
            <a:off x="6255867" y="1828800"/>
            <a:ext cx="5427421" cy="4160520"/>
          </a:xfrm>
          <a:prstGeom prst="roundRect">
            <a:avLst>
              <a:gd name="adj" fmla="val 483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21627" y="2103120"/>
            <a:ext cx="4695901" cy="457200"/>
          </a:xfrm>
          <a:prstGeom prst="rect">
            <a:avLst/>
          </a:prstGeom>
          <a:noFill/>
        </p:spPr>
        <p:txBody>
          <a:bodyPr wrap="square" lIns="0" rIns="0" tIns="0" bIns="0" anchor="t">
            <a:spAutoFit/>
          </a:bodyPr>
          <a:lstStyle/>
          <a:p>
            <a:pPr algn="l"/>
            <a:r>
              <a:rPr sz="2000" b="1">
                <a:solidFill>
                  <a:srgbClr val="000000"/>
                </a:solidFill>
                <a:latin typeface="Arial"/>
              </a:rPr>
              <a:t>Sans le motif : notre cas</a:t>
            </a:r>
          </a:p>
        </p:txBody>
      </p:sp>
      <p:sp>
        <p:nvSpPr>
          <p:cNvPr id="19" name="Rounded Rectangle 18"/>
          <p:cNvSpPr/>
          <p:nvPr/>
        </p:nvSpPr>
        <p:spPr>
          <a:xfrm>
            <a:off x="9717328" y="2103120"/>
            <a:ext cx="1600200" cy="384048"/>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17328" y="2103120"/>
            <a:ext cx="1600200" cy="384048"/>
          </a:xfrm>
          <a:prstGeom prst="rect">
            <a:avLst/>
          </a:prstGeom>
          <a:noFill/>
        </p:spPr>
        <p:txBody>
          <a:bodyPr wrap="square" lIns="0" rIns="0" tIns="0" bIns="0" anchor="ctr">
            <a:spAutoFit/>
          </a:bodyPr>
          <a:lstStyle/>
          <a:p>
            <a:pPr algn="ctr"/>
            <a:r>
              <a:rPr sz="1400" b="1">
                <a:solidFill>
                  <a:srgbClr val="FFFFFF"/>
                </a:solidFill>
                <a:latin typeface="Arial"/>
              </a:rPr>
              <a:t>Notre choix</a:t>
            </a:r>
          </a:p>
        </p:txBody>
      </p:sp>
      <p:sp>
        <p:nvSpPr>
          <p:cNvPr id="21" name="TextBox 20"/>
          <p:cNvSpPr txBox="1"/>
          <p:nvPr/>
        </p:nvSpPr>
        <p:spPr>
          <a:xfrm>
            <a:off x="6621627" y="2834640"/>
            <a:ext cx="3598621" cy="320040"/>
          </a:xfrm>
          <a:prstGeom prst="rect">
            <a:avLst/>
          </a:prstGeom>
          <a:noFill/>
        </p:spPr>
        <p:txBody>
          <a:bodyPr wrap="square" lIns="0" rIns="0" tIns="0" bIns="0" anchor="t">
            <a:spAutoFit/>
          </a:bodyPr>
          <a:lstStyle/>
          <a:p>
            <a:pPr algn="l"/>
            <a:r>
              <a:rPr sz="1500" b="0">
                <a:solidFill>
                  <a:srgbClr val="444444"/>
                </a:solidFill>
                <a:latin typeface="Arial"/>
              </a:rPr>
              <a:t>Meilleure règle simple (Eco puis retard)</a:t>
            </a:r>
          </a:p>
        </p:txBody>
      </p:sp>
      <p:sp>
        <p:nvSpPr>
          <p:cNvPr id="22" name="TextBox 21"/>
          <p:cNvSpPr txBox="1"/>
          <p:nvPr/>
        </p:nvSpPr>
        <p:spPr>
          <a:xfrm>
            <a:off x="9945928" y="2834640"/>
            <a:ext cx="1371600" cy="320040"/>
          </a:xfrm>
          <a:prstGeom prst="rect">
            <a:avLst/>
          </a:prstGeom>
          <a:noFill/>
        </p:spPr>
        <p:txBody>
          <a:bodyPr wrap="square" lIns="0" rIns="0" tIns="0" bIns="0" anchor="t">
            <a:spAutoFit/>
          </a:bodyPr>
          <a:lstStyle/>
          <a:p>
            <a:pPr algn="r"/>
            <a:r>
              <a:rPr sz="1700" b="1">
                <a:solidFill>
                  <a:srgbClr val="000000"/>
                </a:solidFill>
                <a:latin typeface="Arial"/>
              </a:rPr>
              <a:t>4 744 €</a:t>
            </a:r>
          </a:p>
        </p:txBody>
      </p:sp>
      <p:sp>
        <p:nvSpPr>
          <p:cNvPr id="23" name="Rounded Rectangle 22"/>
          <p:cNvSpPr/>
          <p:nvPr/>
        </p:nvSpPr>
        <p:spPr>
          <a:xfrm>
            <a:off x="6621627" y="3218688"/>
            <a:ext cx="4695901" cy="23774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621627" y="3218688"/>
            <a:ext cx="3712892" cy="237744"/>
          </a:xfrm>
          <a:prstGeom prst="roundRect">
            <a:avLst>
              <a:gd name="adj" fmla="val 5000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21627" y="3703320"/>
            <a:ext cx="3598621" cy="320040"/>
          </a:xfrm>
          <a:prstGeom prst="rect">
            <a:avLst/>
          </a:prstGeom>
          <a:noFill/>
        </p:spPr>
        <p:txBody>
          <a:bodyPr wrap="square" lIns="0" rIns="0" tIns="0" bIns="0" anchor="t">
            <a:spAutoFit/>
          </a:bodyPr>
          <a:lstStyle/>
          <a:p>
            <a:pPr algn="l"/>
            <a:r>
              <a:rPr sz="1500" b="0">
                <a:solidFill>
                  <a:srgbClr val="444444"/>
                </a:solidFill>
                <a:latin typeface="Arial"/>
              </a:rPr>
              <a:t>Modèle retenu</a:t>
            </a:r>
          </a:p>
        </p:txBody>
      </p:sp>
      <p:sp>
        <p:nvSpPr>
          <p:cNvPr id="26" name="TextBox 25"/>
          <p:cNvSpPr txBox="1"/>
          <p:nvPr/>
        </p:nvSpPr>
        <p:spPr>
          <a:xfrm>
            <a:off x="9945928" y="3703320"/>
            <a:ext cx="1371600" cy="320040"/>
          </a:xfrm>
          <a:prstGeom prst="rect">
            <a:avLst/>
          </a:prstGeom>
          <a:noFill/>
        </p:spPr>
        <p:txBody>
          <a:bodyPr wrap="square" lIns="0" rIns="0" tIns="0" bIns="0" anchor="t">
            <a:spAutoFit/>
          </a:bodyPr>
          <a:lstStyle/>
          <a:p>
            <a:pPr algn="r"/>
            <a:r>
              <a:rPr sz="1700" b="1">
                <a:solidFill>
                  <a:srgbClr val="000000"/>
                </a:solidFill>
                <a:latin typeface="Arial"/>
              </a:rPr>
              <a:t>5 512 €</a:t>
            </a:r>
          </a:p>
        </p:txBody>
      </p:sp>
      <p:sp>
        <p:nvSpPr>
          <p:cNvPr id="27" name="Rounded Rectangle 26"/>
          <p:cNvSpPr/>
          <p:nvPr/>
        </p:nvSpPr>
        <p:spPr>
          <a:xfrm>
            <a:off x="6621627" y="4087368"/>
            <a:ext cx="4695901" cy="23774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21627" y="4087368"/>
            <a:ext cx="4313967" cy="237744"/>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1627" y="4709160"/>
            <a:ext cx="4695901" cy="731520"/>
          </a:xfrm>
          <a:prstGeom prst="rect">
            <a:avLst/>
          </a:prstGeom>
          <a:noFill/>
        </p:spPr>
        <p:txBody>
          <a:bodyPr wrap="square" lIns="0" rIns="0" tIns="0" bIns="0" anchor="t">
            <a:spAutoFit/>
          </a:bodyPr>
          <a:lstStyle/>
          <a:p>
            <a:pPr algn="l"/>
            <a:r>
              <a:rPr sz="4400" b="1">
                <a:solidFill>
                  <a:srgbClr val="0055FF"/>
                </a:solidFill>
                <a:latin typeface="Arial"/>
              </a:rPr>
              <a:t>+768 €</a:t>
            </a:r>
          </a:p>
        </p:txBody>
      </p:sp>
      <p:sp>
        <p:nvSpPr>
          <p:cNvPr id="30" name="TextBox 29"/>
          <p:cNvSpPr txBox="1"/>
          <p:nvPr/>
        </p:nvSpPr>
        <p:spPr>
          <a:xfrm>
            <a:off x="6621627" y="5440680"/>
            <a:ext cx="4695901" cy="365760"/>
          </a:xfrm>
          <a:prstGeom prst="rect">
            <a:avLst/>
          </a:prstGeom>
          <a:noFill/>
        </p:spPr>
        <p:txBody>
          <a:bodyPr wrap="square" lIns="0" rIns="0" tIns="0" bIns="0" anchor="t">
            <a:spAutoFit/>
          </a:bodyPr>
          <a:lstStyle/>
          <a:p>
            <a:pPr algn="l"/>
            <a:r>
              <a:rPr sz="1500" b="1">
                <a:solidFill>
                  <a:srgbClr val="444444"/>
                </a:solidFill>
                <a:latin typeface="Arial"/>
              </a:rPr>
              <a:t>le modèle fait la différence</a:t>
            </a:r>
          </a:p>
        </p:txBody>
      </p:sp>
      <p:sp>
        <p:nvSpPr>
          <p:cNvPr id="31" name="TextBox 30"/>
          <p:cNvSpPr txBox="1"/>
          <p:nvPr/>
        </p:nvSpPr>
        <p:spPr>
          <a:xfrm>
            <a:off x="508406" y="6327648"/>
            <a:ext cx="8229600" cy="274320"/>
          </a:xfrm>
          <a:prstGeom prst="rect">
            <a:avLst/>
          </a:prstGeom>
          <a:noFill/>
        </p:spPr>
        <p:txBody>
          <a:bodyPr wrap="square" lIns="0" rIns="0" tIns="0" bIns="0" anchor="ctr">
            <a:spAutoFit/>
          </a:bodyPr>
          <a:lstStyle/>
          <a:p>
            <a:pPr algn="l"/>
            <a:r>
              <a:rPr sz="1100" b="0">
                <a:solidFill>
                  <a:srgbClr val="8A8A8A"/>
                </a:solidFill>
                <a:latin typeface="Arial"/>
              </a:rPr>
              <a:t>Volet 2 — Prédire · Jeanne · gain net pour 1 000 passagers, validation croisée sur train</a:t>
            </a:r>
          </a:p>
        </p:txBody>
      </p:sp>
      <p:sp>
        <p:nvSpPr>
          <p:cNvPr id="32" name="Oval 31"/>
          <p:cNvSpPr/>
          <p:nvPr/>
        </p:nvSpPr>
        <p:spPr>
          <a:xfrm>
            <a:off x="831829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7374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62919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78464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94008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909553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25098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940643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56188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71732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87277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002822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0183672" y="6419088"/>
            <a:ext cx="256032" cy="91440"/>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50371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65916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81460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97005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112550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128095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143640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159184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Oval 1"/>
          <p:cNvSpPr/>
          <p:nvPr/>
        </p:nvSpPr>
        <p:spPr>
          <a:xfrm>
            <a:off x="508406" y="457200"/>
            <a:ext cx="164592" cy="164592"/>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7006" y="457200"/>
            <a:ext cx="164592" cy="164592"/>
          </a:xfrm>
          <a:prstGeom prst="ellipse">
            <a:avLst/>
          </a:prstGeom>
          <a:solidFill>
            <a:srgbClr val="FF6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65606" y="457200"/>
            <a:ext cx="164592" cy="164592"/>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406" y="777240"/>
            <a:ext cx="11174882" cy="914400"/>
          </a:xfrm>
          <a:prstGeom prst="rect">
            <a:avLst/>
          </a:prstGeom>
          <a:noFill/>
        </p:spPr>
        <p:txBody>
          <a:bodyPr wrap="square" lIns="0" rIns="0" tIns="0" bIns="0" anchor="t">
            <a:spAutoFit/>
          </a:bodyPr>
          <a:lstStyle/>
          <a:p>
            <a:pPr algn="l">
              <a:lnSpc>
                <a:spcPct val="95000"/>
              </a:lnSpc>
            </a:pPr>
            <a:r>
              <a:rPr sz="3000" b="1">
                <a:solidFill>
                  <a:srgbClr val="000000"/>
                </a:solidFill>
                <a:latin typeface="Arial"/>
              </a:rPr>
              <a:t>Ce qui guide le modèle, et qui il désigne</a:t>
            </a:r>
          </a:p>
        </p:txBody>
      </p:sp>
      <p:sp>
        <p:nvSpPr>
          <p:cNvPr id="6" name="Rounded Rectangle 5"/>
          <p:cNvSpPr/>
          <p:nvPr/>
        </p:nvSpPr>
        <p:spPr>
          <a:xfrm>
            <a:off x="508406" y="1828800"/>
            <a:ext cx="5486400" cy="4160520"/>
          </a:xfrm>
          <a:prstGeom prst="roundRect">
            <a:avLst>
              <a:gd name="adj" fmla="val 483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4166" y="2103120"/>
            <a:ext cx="4754880" cy="411480"/>
          </a:xfrm>
          <a:prstGeom prst="rect">
            <a:avLst/>
          </a:prstGeom>
          <a:noFill/>
        </p:spPr>
        <p:txBody>
          <a:bodyPr wrap="square" lIns="0" rIns="0" tIns="0" bIns="0" anchor="t">
            <a:spAutoFit/>
          </a:bodyPr>
          <a:lstStyle/>
          <a:p>
            <a:pPr algn="l"/>
            <a:r>
              <a:rPr sz="1900" b="1">
                <a:solidFill>
                  <a:srgbClr val="000000"/>
                </a:solidFill>
                <a:latin typeface="Arial"/>
              </a:rPr>
              <a:t>Ce qui pèse dans sa décision</a:t>
            </a:r>
          </a:p>
        </p:txBody>
      </p:sp>
      <p:sp>
        <p:nvSpPr>
          <p:cNvPr id="8" name="TextBox 7"/>
          <p:cNvSpPr txBox="1"/>
          <p:nvPr/>
        </p:nvSpPr>
        <p:spPr>
          <a:xfrm>
            <a:off x="874166" y="2651760"/>
            <a:ext cx="2011680" cy="329184"/>
          </a:xfrm>
          <a:prstGeom prst="rect">
            <a:avLst/>
          </a:prstGeom>
          <a:noFill/>
        </p:spPr>
        <p:txBody>
          <a:bodyPr wrap="square" lIns="0" rIns="0" tIns="0" bIns="0" anchor="ctr">
            <a:spAutoFit/>
          </a:bodyPr>
          <a:lstStyle/>
          <a:p>
            <a:pPr algn="l"/>
            <a:r>
              <a:rPr sz="1400" b="1">
                <a:solidFill>
                  <a:srgbClr val="000000"/>
                </a:solidFill>
                <a:latin typeface="Arial"/>
              </a:rPr>
              <a:t>Classe du billet</a:t>
            </a:r>
          </a:p>
        </p:txBody>
      </p:sp>
      <p:sp>
        <p:nvSpPr>
          <p:cNvPr id="9" name="Rounded Rectangle 8"/>
          <p:cNvSpPr/>
          <p:nvPr/>
        </p:nvSpPr>
        <p:spPr>
          <a:xfrm>
            <a:off x="2931566" y="2743200"/>
            <a:ext cx="2697480" cy="14630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931566" y="2743200"/>
            <a:ext cx="2648434" cy="146304"/>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4166" y="3108960"/>
            <a:ext cx="2011680" cy="329184"/>
          </a:xfrm>
          <a:prstGeom prst="rect">
            <a:avLst/>
          </a:prstGeom>
          <a:noFill/>
        </p:spPr>
        <p:txBody>
          <a:bodyPr wrap="square" lIns="0" rIns="0" tIns="0" bIns="0" anchor="ctr">
            <a:spAutoFit/>
          </a:bodyPr>
          <a:lstStyle/>
          <a:p>
            <a:pPr algn="l"/>
            <a:r>
              <a:rPr sz="1400" b="0">
                <a:solidFill>
                  <a:srgbClr val="000000"/>
                </a:solidFill>
                <a:latin typeface="Arial"/>
              </a:rPr>
              <a:t>Âge</a:t>
            </a:r>
          </a:p>
        </p:txBody>
      </p:sp>
      <p:sp>
        <p:nvSpPr>
          <p:cNvPr id="12" name="Rounded Rectangle 11"/>
          <p:cNvSpPr/>
          <p:nvPr/>
        </p:nvSpPr>
        <p:spPr>
          <a:xfrm>
            <a:off x="2931566" y="3200400"/>
            <a:ext cx="2697480" cy="14630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931566" y="3200400"/>
            <a:ext cx="784721"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4166" y="3566160"/>
            <a:ext cx="2011680" cy="329184"/>
          </a:xfrm>
          <a:prstGeom prst="rect">
            <a:avLst/>
          </a:prstGeom>
          <a:noFill/>
        </p:spPr>
        <p:txBody>
          <a:bodyPr wrap="square" lIns="0" rIns="0" tIns="0" bIns="0" anchor="ctr">
            <a:spAutoFit/>
          </a:bodyPr>
          <a:lstStyle/>
          <a:p>
            <a:pPr algn="l"/>
            <a:r>
              <a:rPr sz="1400" b="0">
                <a:solidFill>
                  <a:srgbClr val="000000"/>
                </a:solidFill>
                <a:latin typeface="Arial"/>
              </a:rPr>
              <a:t>Fidélité</a:t>
            </a:r>
          </a:p>
        </p:txBody>
      </p:sp>
      <p:sp>
        <p:nvSpPr>
          <p:cNvPr id="15" name="Rounded Rectangle 14"/>
          <p:cNvSpPr/>
          <p:nvPr/>
        </p:nvSpPr>
        <p:spPr>
          <a:xfrm>
            <a:off x="2931566" y="3657600"/>
            <a:ext cx="2697480" cy="14630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931566" y="3657600"/>
            <a:ext cx="784721"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4166" y="4023360"/>
            <a:ext cx="2011680" cy="329184"/>
          </a:xfrm>
          <a:prstGeom prst="rect">
            <a:avLst/>
          </a:prstGeom>
          <a:noFill/>
        </p:spPr>
        <p:txBody>
          <a:bodyPr wrap="square" lIns="0" rIns="0" tIns="0" bIns="0" anchor="ctr">
            <a:spAutoFit/>
          </a:bodyPr>
          <a:lstStyle/>
          <a:p>
            <a:pPr algn="l"/>
            <a:r>
              <a:rPr sz="1400" b="0">
                <a:solidFill>
                  <a:srgbClr val="000000"/>
                </a:solidFill>
                <a:latin typeface="Arial"/>
              </a:rPr>
              <a:t>Retard à l'arrivée</a:t>
            </a:r>
          </a:p>
        </p:txBody>
      </p:sp>
      <p:sp>
        <p:nvSpPr>
          <p:cNvPr id="18" name="Rounded Rectangle 17"/>
          <p:cNvSpPr/>
          <p:nvPr/>
        </p:nvSpPr>
        <p:spPr>
          <a:xfrm>
            <a:off x="2931566" y="4114800"/>
            <a:ext cx="2697480" cy="14630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31566" y="4114800"/>
            <a:ext cx="208441" cy="14630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4166" y="4480560"/>
            <a:ext cx="2011680" cy="329184"/>
          </a:xfrm>
          <a:prstGeom prst="rect">
            <a:avLst/>
          </a:prstGeom>
          <a:noFill/>
        </p:spPr>
        <p:txBody>
          <a:bodyPr wrap="square" lIns="0" rIns="0" tIns="0" bIns="0" anchor="ctr">
            <a:spAutoFit/>
          </a:bodyPr>
          <a:lstStyle/>
          <a:p>
            <a:pPr algn="l"/>
            <a:r>
              <a:rPr sz="1400" b="0">
                <a:solidFill>
                  <a:srgbClr val="000000"/>
                </a:solidFill>
                <a:latin typeface="Arial"/>
              </a:rPr>
              <a:t>Distance du vol</a:t>
            </a:r>
          </a:p>
        </p:txBody>
      </p:sp>
      <p:sp>
        <p:nvSpPr>
          <p:cNvPr id="21" name="Rounded Rectangle 20"/>
          <p:cNvSpPr/>
          <p:nvPr/>
        </p:nvSpPr>
        <p:spPr>
          <a:xfrm>
            <a:off x="2931566" y="4572000"/>
            <a:ext cx="2697480" cy="14630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931566" y="4572000"/>
            <a:ext cx="146304" cy="14630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4166" y="4937760"/>
            <a:ext cx="2011680" cy="329184"/>
          </a:xfrm>
          <a:prstGeom prst="rect">
            <a:avLst/>
          </a:prstGeom>
          <a:noFill/>
        </p:spPr>
        <p:txBody>
          <a:bodyPr wrap="square" lIns="0" rIns="0" tIns="0" bIns="0" anchor="ctr">
            <a:spAutoFit/>
          </a:bodyPr>
          <a:lstStyle/>
          <a:p>
            <a:pPr algn="l"/>
            <a:r>
              <a:rPr sz="1400" b="0">
                <a:solidFill>
                  <a:srgbClr val="000000"/>
                </a:solidFill>
                <a:latin typeface="Arial"/>
              </a:rPr>
              <a:t>Retard au départ</a:t>
            </a:r>
          </a:p>
        </p:txBody>
      </p:sp>
      <p:sp>
        <p:nvSpPr>
          <p:cNvPr id="24" name="Rounded Rectangle 23"/>
          <p:cNvSpPr/>
          <p:nvPr/>
        </p:nvSpPr>
        <p:spPr>
          <a:xfrm>
            <a:off x="2931566" y="5029200"/>
            <a:ext cx="2697480" cy="14630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931566" y="5029200"/>
            <a:ext cx="146304" cy="146304"/>
          </a:xfrm>
          <a:prstGeom prst="roundRect">
            <a:avLst>
              <a:gd name="adj" fmla="val 50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4166" y="5440680"/>
            <a:ext cx="4754880" cy="457200"/>
          </a:xfrm>
          <a:prstGeom prst="rect">
            <a:avLst/>
          </a:prstGeom>
          <a:noFill/>
        </p:spPr>
        <p:txBody>
          <a:bodyPr wrap="square" lIns="0" rIns="0" tIns="0" bIns="0" anchor="t">
            <a:spAutoFit/>
          </a:bodyPr>
          <a:lstStyle/>
          <a:p>
            <a:pPr algn="l"/>
            <a:r>
              <a:rPr sz="1200" b="0">
                <a:solidFill>
                  <a:srgbClr val="444444"/>
                </a:solidFill>
                <a:latin typeface="Arial"/>
              </a:rPr>
              <a:t>On brouille une information à la fois : plus le modèle se trompe ensuite, plus elle comptait.</a:t>
            </a:r>
          </a:p>
        </p:txBody>
      </p:sp>
      <p:sp>
        <p:nvSpPr>
          <p:cNvPr id="27" name="Rounded Rectangle 26"/>
          <p:cNvSpPr/>
          <p:nvPr/>
        </p:nvSpPr>
        <p:spPr>
          <a:xfrm>
            <a:off x="6314846" y="1828800"/>
            <a:ext cx="5368442" cy="4160520"/>
          </a:xfrm>
          <a:prstGeom prst="roundRect">
            <a:avLst>
              <a:gd name="adj" fmla="val 483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80606" y="2103120"/>
            <a:ext cx="4572000" cy="411480"/>
          </a:xfrm>
          <a:prstGeom prst="rect">
            <a:avLst/>
          </a:prstGeom>
          <a:noFill/>
        </p:spPr>
        <p:txBody>
          <a:bodyPr wrap="square" lIns="0" rIns="0" tIns="0" bIns="0" anchor="t">
            <a:spAutoFit/>
          </a:bodyPr>
          <a:lstStyle/>
          <a:p>
            <a:pPr algn="l"/>
            <a:r>
              <a:rPr sz="1900" b="1">
                <a:solidFill>
                  <a:srgbClr val="000000"/>
                </a:solidFill>
                <a:latin typeface="Arial"/>
              </a:rPr>
              <a:t>Le portrait des passagers signalés</a:t>
            </a:r>
          </a:p>
        </p:txBody>
      </p:sp>
      <p:sp>
        <p:nvSpPr>
          <p:cNvPr id="29" name="TextBox 28"/>
          <p:cNvSpPr txBox="1"/>
          <p:nvPr/>
        </p:nvSpPr>
        <p:spPr>
          <a:xfrm>
            <a:off x="9195206" y="2606040"/>
            <a:ext cx="914400" cy="274320"/>
          </a:xfrm>
          <a:prstGeom prst="rect">
            <a:avLst/>
          </a:prstGeom>
          <a:noFill/>
        </p:spPr>
        <p:txBody>
          <a:bodyPr wrap="square" lIns="0" rIns="0" tIns="0" bIns="0" anchor="t">
            <a:spAutoFit/>
          </a:bodyPr>
          <a:lstStyle/>
          <a:p>
            <a:pPr algn="r"/>
            <a:r>
              <a:rPr sz="1200" b="1">
                <a:solidFill>
                  <a:srgbClr val="000000"/>
                </a:solidFill>
                <a:latin typeface="Arial"/>
              </a:rPr>
              <a:t>Signalés</a:t>
            </a:r>
          </a:p>
        </p:txBody>
      </p:sp>
      <p:sp>
        <p:nvSpPr>
          <p:cNvPr id="30" name="TextBox 29"/>
          <p:cNvSpPr txBox="1"/>
          <p:nvPr/>
        </p:nvSpPr>
        <p:spPr>
          <a:xfrm>
            <a:off x="10201046" y="2606040"/>
            <a:ext cx="914400" cy="274320"/>
          </a:xfrm>
          <a:prstGeom prst="rect">
            <a:avLst/>
          </a:prstGeom>
          <a:noFill/>
        </p:spPr>
        <p:txBody>
          <a:bodyPr wrap="square" lIns="0" rIns="0" tIns="0" bIns="0" anchor="t">
            <a:spAutoFit/>
          </a:bodyPr>
          <a:lstStyle/>
          <a:p>
            <a:pPr algn="r"/>
            <a:r>
              <a:rPr sz="1200" b="0">
                <a:solidFill>
                  <a:srgbClr val="8A8A8A"/>
                </a:solidFill>
                <a:latin typeface="Arial"/>
              </a:rPr>
              <a:t>Tous</a:t>
            </a:r>
          </a:p>
        </p:txBody>
      </p:sp>
      <p:sp>
        <p:nvSpPr>
          <p:cNvPr id="31" name="TextBox 30"/>
          <p:cNvSpPr txBox="1"/>
          <p:nvPr/>
        </p:nvSpPr>
        <p:spPr>
          <a:xfrm>
            <a:off x="6680606" y="2971800"/>
            <a:ext cx="2468880" cy="365760"/>
          </a:xfrm>
          <a:prstGeom prst="rect">
            <a:avLst/>
          </a:prstGeom>
          <a:noFill/>
        </p:spPr>
        <p:txBody>
          <a:bodyPr wrap="square" lIns="0" rIns="0" tIns="0" bIns="0" anchor="ctr">
            <a:spAutoFit/>
          </a:bodyPr>
          <a:lstStyle/>
          <a:p>
            <a:pPr algn="l"/>
            <a:r>
              <a:rPr sz="1500" b="0">
                <a:solidFill>
                  <a:srgbClr val="000000"/>
                </a:solidFill>
                <a:latin typeface="Arial"/>
              </a:rPr>
              <a:t>En classe Eco</a:t>
            </a:r>
          </a:p>
        </p:txBody>
      </p:sp>
      <p:sp>
        <p:nvSpPr>
          <p:cNvPr id="32" name="TextBox 31"/>
          <p:cNvSpPr txBox="1"/>
          <p:nvPr/>
        </p:nvSpPr>
        <p:spPr>
          <a:xfrm>
            <a:off x="9103766" y="2971800"/>
            <a:ext cx="1005840" cy="365760"/>
          </a:xfrm>
          <a:prstGeom prst="rect">
            <a:avLst/>
          </a:prstGeom>
          <a:noFill/>
        </p:spPr>
        <p:txBody>
          <a:bodyPr wrap="square" lIns="0" rIns="0" tIns="0" bIns="0" anchor="ctr">
            <a:spAutoFit/>
          </a:bodyPr>
          <a:lstStyle/>
          <a:p>
            <a:pPr algn="r"/>
            <a:r>
              <a:rPr sz="1700" b="1">
                <a:solidFill>
                  <a:srgbClr val="0055FF"/>
                </a:solidFill>
                <a:latin typeface="Arial"/>
              </a:rPr>
              <a:t>80 %</a:t>
            </a:r>
          </a:p>
        </p:txBody>
      </p:sp>
      <p:sp>
        <p:nvSpPr>
          <p:cNvPr id="33" name="TextBox 32"/>
          <p:cNvSpPr txBox="1"/>
          <p:nvPr/>
        </p:nvSpPr>
        <p:spPr>
          <a:xfrm>
            <a:off x="10201046" y="2971800"/>
            <a:ext cx="914400" cy="365760"/>
          </a:xfrm>
          <a:prstGeom prst="rect">
            <a:avLst/>
          </a:prstGeom>
          <a:noFill/>
        </p:spPr>
        <p:txBody>
          <a:bodyPr wrap="square" lIns="0" rIns="0" tIns="0" bIns="0" anchor="ctr">
            <a:spAutoFit/>
          </a:bodyPr>
          <a:lstStyle/>
          <a:p>
            <a:pPr algn="r"/>
            <a:r>
              <a:rPr sz="1500" b="0">
                <a:solidFill>
                  <a:srgbClr val="8A8A8A"/>
                </a:solidFill>
                <a:latin typeface="Arial"/>
              </a:rPr>
              <a:t>45 %</a:t>
            </a:r>
          </a:p>
        </p:txBody>
      </p:sp>
      <p:sp>
        <p:nvSpPr>
          <p:cNvPr id="34" name="TextBox 33"/>
          <p:cNvSpPr txBox="1"/>
          <p:nvPr/>
        </p:nvSpPr>
        <p:spPr>
          <a:xfrm>
            <a:off x="6680606" y="3474720"/>
            <a:ext cx="2468880" cy="365760"/>
          </a:xfrm>
          <a:prstGeom prst="rect">
            <a:avLst/>
          </a:prstGeom>
          <a:noFill/>
        </p:spPr>
        <p:txBody>
          <a:bodyPr wrap="square" lIns="0" rIns="0" tIns="0" bIns="0" anchor="ctr">
            <a:spAutoFit/>
          </a:bodyPr>
          <a:lstStyle/>
          <a:p>
            <a:pPr algn="l"/>
            <a:r>
              <a:rPr sz="1500" b="0">
                <a:solidFill>
                  <a:srgbClr val="000000"/>
                </a:solidFill>
                <a:latin typeface="Arial"/>
              </a:rPr>
              <a:t>Peu fidèles</a:t>
            </a:r>
          </a:p>
        </p:txBody>
      </p:sp>
      <p:sp>
        <p:nvSpPr>
          <p:cNvPr id="35" name="TextBox 34"/>
          <p:cNvSpPr txBox="1"/>
          <p:nvPr/>
        </p:nvSpPr>
        <p:spPr>
          <a:xfrm>
            <a:off x="9103766" y="3474720"/>
            <a:ext cx="1005840" cy="365760"/>
          </a:xfrm>
          <a:prstGeom prst="rect">
            <a:avLst/>
          </a:prstGeom>
          <a:noFill/>
        </p:spPr>
        <p:txBody>
          <a:bodyPr wrap="square" lIns="0" rIns="0" tIns="0" bIns="0" anchor="ctr">
            <a:spAutoFit/>
          </a:bodyPr>
          <a:lstStyle/>
          <a:p>
            <a:pPr algn="r"/>
            <a:r>
              <a:rPr sz="1700" b="1">
                <a:solidFill>
                  <a:srgbClr val="0055FF"/>
                </a:solidFill>
                <a:latin typeface="Arial"/>
              </a:rPr>
              <a:t>61 %</a:t>
            </a:r>
          </a:p>
        </p:txBody>
      </p:sp>
      <p:sp>
        <p:nvSpPr>
          <p:cNvPr id="36" name="TextBox 35"/>
          <p:cNvSpPr txBox="1"/>
          <p:nvPr/>
        </p:nvSpPr>
        <p:spPr>
          <a:xfrm>
            <a:off x="10201046" y="3474720"/>
            <a:ext cx="914400" cy="365760"/>
          </a:xfrm>
          <a:prstGeom prst="rect">
            <a:avLst/>
          </a:prstGeom>
          <a:noFill/>
        </p:spPr>
        <p:txBody>
          <a:bodyPr wrap="square" lIns="0" rIns="0" tIns="0" bIns="0" anchor="ctr">
            <a:spAutoFit/>
          </a:bodyPr>
          <a:lstStyle/>
          <a:p>
            <a:pPr algn="r"/>
            <a:r>
              <a:rPr sz="1500" b="0">
                <a:solidFill>
                  <a:srgbClr val="8A8A8A"/>
                </a:solidFill>
                <a:latin typeface="Arial"/>
              </a:rPr>
              <a:t>18 %</a:t>
            </a:r>
          </a:p>
        </p:txBody>
      </p:sp>
      <p:sp>
        <p:nvSpPr>
          <p:cNvPr id="37" name="TextBox 36"/>
          <p:cNvSpPr txBox="1"/>
          <p:nvPr/>
        </p:nvSpPr>
        <p:spPr>
          <a:xfrm>
            <a:off x="6680606" y="3977639"/>
            <a:ext cx="2468880" cy="365760"/>
          </a:xfrm>
          <a:prstGeom prst="rect">
            <a:avLst/>
          </a:prstGeom>
          <a:noFill/>
        </p:spPr>
        <p:txBody>
          <a:bodyPr wrap="square" lIns="0" rIns="0" tIns="0" bIns="0" anchor="ctr">
            <a:spAutoFit/>
          </a:bodyPr>
          <a:lstStyle/>
          <a:p>
            <a:pPr algn="l"/>
            <a:r>
              <a:rPr sz="1500" b="0">
                <a:solidFill>
                  <a:srgbClr val="000000"/>
                </a:solidFill>
                <a:latin typeface="Arial"/>
              </a:rPr>
              <a:t>Âge médian</a:t>
            </a:r>
          </a:p>
        </p:txBody>
      </p:sp>
      <p:sp>
        <p:nvSpPr>
          <p:cNvPr id="38" name="TextBox 37"/>
          <p:cNvSpPr txBox="1"/>
          <p:nvPr/>
        </p:nvSpPr>
        <p:spPr>
          <a:xfrm>
            <a:off x="9103766" y="3977639"/>
            <a:ext cx="1005840" cy="365760"/>
          </a:xfrm>
          <a:prstGeom prst="rect">
            <a:avLst/>
          </a:prstGeom>
          <a:noFill/>
        </p:spPr>
        <p:txBody>
          <a:bodyPr wrap="square" lIns="0" rIns="0" tIns="0" bIns="0" anchor="ctr">
            <a:spAutoFit/>
          </a:bodyPr>
          <a:lstStyle/>
          <a:p>
            <a:pPr algn="r"/>
            <a:r>
              <a:rPr sz="1700" b="1">
                <a:solidFill>
                  <a:srgbClr val="0055FF"/>
                </a:solidFill>
                <a:latin typeface="Arial"/>
              </a:rPr>
              <a:t>33 ans</a:t>
            </a:r>
          </a:p>
        </p:txBody>
      </p:sp>
      <p:sp>
        <p:nvSpPr>
          <p:cNvPr id="39" name="TextBox 38"/>
          <p:cNvSpPr txBox="1"/>
          <p:nvPr/>
        </p:nvSpPr>
        <p:spPr>
          <a:xfrm>
            <a:off x="10201046" y="3977639"/>
            <a:ext cx="914400" cy="365760"/>
          </a:xfrm>
          <a:prstGeom prst="rect">
            <a:avLst/>
          </a:prstGeom>
          <a:noFill/>
        </p:spPr>
        <p:txBody>
          <a:bodyPr wrap="square" lIns="0" rIns="0" tIns="0" bIns="0" anchor="ctr">
            <a:spAutoFit/>
          </a:bodyPr>
          <a:lstStyle/>
          <a:p>
            <a:pPr algn="r"/>
            <a:r>
              <a:rPr sz="1500" b="0">
                <a:solidFill>
                  <a:srgbClr val="8A8A8A"/>
                </a:solidFill>
                <a:latin typeface="Arial"/>
              </a:rPr>
              <a:t>40 ans</a:t>
            </a:r>
          </a:p>
        </p:txBody>
      </p:sp>
      <p:sp>
        <p:nvSpPr>
          <p:cNvPr id="40" name="TextBox 39"/>
          <p:cNvSpPr txBox="1"/>
          <p:nvPr/>
        </p:nvSpPr>
        <p:spPr>
          <a:xfrm>
            <a:off x="6680606" y="4480560"/>
            <a:ext cx="2468880" cy="365760"/>
          </a:xfrm>
          <a:prstGeom prst="rect">
            <a:avLst/>
          </a:prstGeom>
          <a:noFill/>
        </p:spPr>
        <p:txBody>
          <a:bodyPr wrap="square" lIns="0" rIns="0" tIns="0" bIns="0" anchor="ctr">
            <a:spAutoFit/>
          </a:bodyPr>
          <a:lstStyle/>
          <a:p>
            <a:pPr algn="l"/>
            <a:r>
              <a:rPr sz="1500" b="0">
                <a:solidFill>
                  <a:srgbClr val="000000"/>
                </a:solidFill>
                <a:latin typeface="Arial"/>
              </a:rPr>
              <a:t>Retard médian</a:t>
            </a:r>
          </a:p>
        </p:txBody>
      </p:sp>
      <p:sp>
        <p:nvSpPr>
          <p:cNvPr id="41" name="TextBox 40"/>
          <p:cNvSpPr txBox="1"/>
          <p:nvPr/>
        </p:nvSpPr>
        <p:spPr>
          <a:xfrm>
            <a:off x="9103766" y="4480560"/>
            <a:ext cx="1005840" cy="365760"/>
          </a:xfrm>
          <a:prstGeom prst="rect">
            <a:avLst/>
          </a:prstGeom>
          <a:noFill/>
        </p:spPr>
        <p:txBody>
          <a:bodyPr wrap="square" lIns="0" rIns="0" tIns="0" bIns="0" anchor="ctr">
            <a:spAutoFit/>
          </a:bodyPr>
          <a:lstStyle/>
          <a:p>
            <a:pPr algn="r"/>
            <a:r>
              <a:rPr sz="1700" b="1">
                <a:solidFill>
                  <a:srgbClr val="0055FF"/>
                </a:solidFill>
                <a:latin typeface="Arial"/>
              </a:rPr>
              <a:t>13 min</a:t>
            </a:r>
          </a:p>
        </p:txBody>
      </p:sp>
      <p:sp>
        <p:nvSpPr>
          <p:cNvPr id="42" name="TextBox 41"/>
          <p:cNvSpPr txBox="1"/>
          <p:nvPr/>
        </p:nvSpPr>
        <p:spPr>
          <a:xfrm>
            <a:off x="10201046" y="4480560"/>
            <a:ext cx="914400" cy="365760"/>
          </a:xfrm>
          <a:prstGeom prst="rect">
            <a:avLst/>
          </a:prstGeom>
          <a:noFill/>
        </p:spPr>
        <p:txBody>
          <a:bodyPr wrap="square" lIns="0" rIns="0" tIns="0" bIns="0" anchor="ctr">
            <a:spAutoFit/>
          </a:bodyPr>
          <a:lstStyle/>
          <a:p>
            <a:pPr algn="r"/>
            <a:r>
              <a:rPr sz="1500" b="0">
                <a:solidFill>
                  <a:srgbClr val="8A8A8A"/>
                </a:solidFill>
                <a:latin typeface="Arial"/>
              </a:rPr>
              <a:t>0 min</a:t>
            </a:r>
          </a:p>
        </p:txBody>
      </p:sp>
      <p:sp>
        <p:nvSpPr>
          <p:cNvPr id="43" name="TextBox 42"/>
          <p:cNvSpPr txBox="1"/>
          <p:nvPr/>
        </p:nvSpPr>
        <p:spPr>
          <a:xfrm>
            <a:off x="6680606" y="4983480"/>
            <a:ext cx="2468880" cy="365760"/>
          </a:xfrm>
          <a:prstGeom prst="rect">
            <a:avLst/>
          </a:prstGeom>
          <a:noFill/>
        </p:spPr>
        <p:txBody>
          <a:bodyPr wrap="square" lIns="0" rIns="0" tIns="0" bIns="0" anchor="ctr">
            <a:spAutoFit/>
          </a:bodyPr>
          <a:lstStyle/>
          <a:p>
            <a:pPr algn="l"/>
            <a:r>
              <a:rPr sz="1500" b="0">
                <a:solidFill>
                  <a:srgbClr val="000000"/>
                </a:solidFill>
                <a:latin typeface="Arial"/>
              </a:rPr>
              <a:t>Vraiment mécontents</a:t>
            </a:r>
          </a:p>
        </p:txBody>
      </p:sp>
      <p:sp>
        <p:nvSpPr>
          <p:cNvPr id="44" name="TextBox 43"/>
          <p:cNvSpPr txBox="1"/>
          <p:nvPr/>
        </p:nvSpPr>
        <p:spPr>
          <a:xfrm>
            <a:off x="9103766" y="4983480"/>
            <a:ext cx="1005840" cy="365760"/>
          </a:xfrm>
          <a:prstGeom prst="rect">
            <a:avLst/>
          </a:prstGeom>
          <a:noFill/>
        </p:spPr>
        <p:txBody>
          <a:bodyPr wrap="square" lIns="0" rIns="0" tIns="0" bIns="0" anchor="ctr">
            <a:spAutoFit/>
          </a:bodyPr>
          <a:lstStyle/>
          <a:p>
            <a:pPr algn="r"/>
            <a:r>
              <a:rPr sz="1700" b="1">
                <a:solidFill>
                  <a:srgbClr val="0055FF"/>
                </a:solidFill>
                <a:latin typeface="Arial"/>
              </a:rPr>
              <a:t>95 %</a:t>
            </a:r>
          </a:p>
        </p:txBody>
      </p:sp>
      <p:sp>
        <p:nvSpPr>
          <p:cNvPr id="45" name="TextBox 44"/>
          <p:cNvSpPr txBox="1"/>
          <p:nvPr/>
        </p:nvSpPr>
        <p:spPr>
          <a:xfrm>
            <a:off x="10201046" y="4983480"/>
            <a:ext cx="914400" cy="365760"/>
          </a:xfrm>
          <a:prstGeom prst="rect">
            <a:avLst/>
          </a:prstGeom>
          <a:noFill/>
        </p:spPr>
        <p:txBody>
          <a:bodyPr wrap="square" lIns="0" rIns="0" tIns="0" bIns="0" anchor="ctr">
            <a:spAutoFit/>
          </a:bodyPr>
          <a:lstStyle/>
          <a:p>
            <a:pPr algn="r"/>
            <a:r>
              <a:rPr sz="1500" b="0">
                <a:solidFill>
                  <a:srgbClr val="8A8A8A"/>
                </a:solidFill>
                <a:latin typeface="Arial"/>
              </a:rPr>
              <a:t>57 %</a:t>
            </a:r>
          </a:p>
        </p:txBody>
      </p:sp>
      <p:sp>
        <p:nvSpPr>
          <p:cNvPr id="46" name="TextBox 45"/>
          <p:cNvSpPr txBox="1"/>
          <p:nvPr/>
        </p:nvSpPr>
        <p:spPr>
          <a:xfrm>
            <a:off x="6680606" y="5532120"/>
            <a:ext cx="4572000" cy="365760"/>
          </a:xfrm>
          <a:prstGeom prst="rect">
            <a:avLst/>
          </a:prstGeom>
          <a:noFill/>
        </p:spPr>
        <p:txBody>
          <a:bodyPr wrap="square" lIns="0" rIns="0" tIns="0" bIns="0" anchor="t">
            <a:spAutoFit/>
          </a:bodyPr>
          <a:lstStyle/>
          <a:p>
            <a:pPr algn="l"/>
            <a:r>
              <a:rPr sz="1200" b="1">
                <a:solidFill>
                  <a:srgbClr val="000000"/>
                </a:solidFill>
                <a:latin typeface="Arial"/>
              </a:rPr>
              <a:t>En une phrase : des passagers en Eco, peu fidèles, plutôt jeunes, un peu retardés.</a:t>
            </a:r>
          </a:p>
        </p:txBody>
      </p:sp>
      <p:sp>
        <p:nvSpPr>
          <p:cNvPr id="47" name="TextBox 46"/>
          <p:cNvSpPr txBox="1"/>
          <p:nvPr/>
        </p:nvSpPr>
        <p:spPr>
          <a:xfrm>
            <a:off x="508406" y="6327648"/>
            <a:ext cx="8229600" cy="274320"/>
          </a:xfrm>
          <a:prstGeom prst="rect">
            <a:avLst/>
          </a:prstGeom>
          <a:noFill/>
        </p:spPr>
        <p:txBody>
          <a:bodyPr wrap="square" lIns="0" rIns="0" tIns="0" bIns="0" anchor="ctr">
            <a:spAutoFit/>
          </a:bodyPr>
          <a:lstStyle/>
          <a:p>
            <a:pPr algn="l"/>
            <a:r>
              <a:rPr sz="1100" b="0">
                <a:solidFill>
                  <a:srgbClr val="8A8A8A"/>
                </a:solidFill>
                <a:latin typeface="Arial"/>
              </a:rPr>
              <a:t>Volet 2 — Prédire · Jeanne · importance par permutation et portrait des 10 % signalés, train</a:t>
            </a:r>
          </a:p>
        </p:txBody>
      </p:sp>
      <p:sp>
        <p:nvSpPr>
          <p:cNvPr id="48" name="Oval 47"/>
          <p:cNvSpPr/>
          <p:nvPr/>
        </p:nvSpPr>
        <p:spPr>
          <a:xfrm>
            <a:off x="831829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47374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62919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878464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94008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909553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925098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40643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956188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71732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987277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02822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18367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10339120" y="6419088"/>
            <a:ext cx="256032" cy="91440"/>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065916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081460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97005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112550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128095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1143640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159184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Oval 1"/>
          <p:cNvSpPr/>
          <p:nvPr/>
        </p:nvSpPr>
        <p:spPr>
          <a:xfrm>
            <a:off x="508406" y="457200"/>
            <a:ext cx="164592" cy="164592"/>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7006" y="457200"/>
            <a:ext cx="164592" cy="164592"/>
          </a:xfrm>
          <a:prstGeom prst="ellipse">
            <a:avLst/>
          </a:prstGeom>
          <a:solidFill>
            <a:srgbClr val="FF6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406" y="777240"/>
            <a:ext cx="11174882" cy="914400"/>
          </a:xfrm>
          <a:prstGeom prst="rect">
            <a:avLst/>
          </a:prstGeom>
          <a:noFill/>
        </p:spPr>
        <p:txBody>
          <a:bodyPr wrap="square" lIns="0" rIns="0" tIns="0" bIns="0" anchor="t">
            <a:spAutoFit/>
          </a:bodyPr>
          <a:lstStyle/>
          <a:p>
            <a:pPr algn="l">
              <a:lnSpc>
                <a:spcPct val="95000"/>
              </a:lnSpc>
            </a:pPr>
            <a:r>
              <a:rPr sz="3000" b="1">
                <a:solidFill>
                  <a:srgbClr val="000000"/>
                </a:solidFill>
                <a:latin typeface="Arial"/>
              </a:rPr>
              <a:t>Sur 100 passagers abordés, 94 sont vraiment mécontents</a:t>
            </a:r>
          </a:p>
        </p:txBody>
      </p:sp>
      <p:sp>
        <p:nvSpPr>
          <p:cNvPr id="5" name="Rounded Rectangle 4"/>
          <p:cNvSpPr/>
          <p:nvPr/>
        </p:nvSpPr>
        <p:spPr>
          <a:xfrm>
            <a:off x="508406" y="1828800"/>
            <a:ext cx="6309360" cy="4160520"/>
          </a:xfrm>
          <a:prstGeom prst="roundRect">
            <a:avLst>
              <a:gd name="adj" fmla="val 483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9886" y="2103120"/>
            <a:ext cx="3474720" cy="2194560"/>
          </a:xfrm>
          <a:prstGeom prst="rect">
            <a:avLst/>
          </a:prstGeom>
          <a:noFill/>
        </p:spPr>
        <p:txBody>
          <a:bodyPr wrap="square" lIns="0" rIns="0" tIns="0" bIns="0" anchor="ctr">
            <a:spAutoFit/>
          </a:bodyPr>
          <a:lstStyle/>
          <a:p>
            <a:pPr algn="l"/>
            <a:r>
              <a:rPr sz="18000" b="1">
                <a:solidFill>
                  <a:srgbClr val="0055FF"/>
                </a:solidFill>
                <a:latin typeface="Arial"/>
              </a:rPr>
              <a:t>94</a:t>
            </a:r>
          </a:p>
        </p:txBody>
      </p:sp>
      <p:pic>
        <p:nvPicPr>
          <p:cNvPr id="7" name="Picture 6" descr="mecontent.png"/>
          <p:cNvPicPr>
            <a:picLocks noChangeAspect="1"/>
          </p:cNvPicPr>
          <p:nvPr/>
        </p:nvPicPr>
        <p:blipFill>
          <a:blip r:embed="rId2"/>
          <a:stretch>
            <a:fillRect/>
          </a:stretch>
        </p:blipFill>
        <p:spPr>
          <a:xfrm>
            <a:off x="3754526" y="3429000"/>
            <a:ext cx="777240" cy="777240"/>
          </a:xfrm>
          <a:prstGeom prst="rect">
            <a:avLst/>
          </a:prstGeom>
        </p:spPr>
      </p:pic>
      <p:sp>
        <p:nvSpPr>
          <p:cNvPr id="8" name="TextBox 7"/>
          <p:cNvSpPr txBox="1"/>
          <p:nvPr/>
        </p:nvSpPr>
        <p:spPr>
          <a:xfrm>
            <a:off x="919886" y="4480560"/>
            <a:ext cx="5486400" cy="1188720"/>
          </a:xfrm>
          <a:prstGeom prst="rect">
            <a:avLst/>
          </a:prstGeom>
          <a:noFill/>
        </p:spPr>
        <p:txBody>
          <a:bodyPr wrap="square" lIns="0" rIns="0" tIns="0" bIns="0" anchor="t">
            <a:spAutoFit/>
          </a:bodyPr>
          <a:lstStyle/>
          <a:p>
            <a:pPr algn="l"/>
            <a:r>
              <a:rPr sz="2000" b="1">
                <a:solidFill>
                  <a:srgbClr val="000000"/>
                </a:solidFill>
                <a:latin typeface="Arial"/>
              </a:rPr>
              <a:t>Le modèle choisit les 10 % de passagers les plus à risque : ce sont presque toujours les bons.</a:t>
            </a:r>
          </a:p>
        </p:txBody>
      </p:sp>
      <p:sp>
        <p:nvSpPr>
          <p:cNvPr id="9" name="Rounded Rectangle 8"/>
          <p:cNvSpPr/>
          <p:nvPr/>
        </p:nvSpPr>
        <p:spPr>
          <a:xfrm>
            <a:off x="7137806" y="1828800"/>
            <a:ext cx="4545482" cy="1280160"/>
          </a:xfrm>
          <a:prstGeom prst="roundRect">
            <a:avLst>
              <a:gd name="adj" fmla="val 1571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euro.png"/>
          <p:cNvPicPr>
            <a:picLocks noChangeAspect="1"/>
          </p:cNvPicPr>
          <p:nvPr/>
        </p:nvPicPr>
        <p:blipFill>
          <a:blip r:embed="rId3"/>
          <a:stretch>
            <a:fillRect/>
          </a:stretch>
        </p:blipFill>
        <p:spPr>
          <a:xfrm>
            <a:off x="7457846" y="2148840"/>
            <a:ext cx="640080" cy="640080"/>
          </a:xfrm>
          <a:prstGeom prst="rect">
            <a:avLst/>
          </a:prstGeom>
        </p:spPr>
      </p:pic>
      <p:sp>
        <p:nvSpPr>
          <p:cNvPr id="11" name="TextBox 10"/>
          <p:cNvSpPr txBox="1"/>
          <p:nvPr/>
        </p:nvSpPr>
        <p:spPr>
          <a:xfrm>
            <a:off x="8372246" y="2011680"/>
            <a:ext cx="3082442" cy="548640"/>
          </a:xfrm>
          <a:prstGeom prst="rect">
            <a:avLst/>
          </a:prstGeom>
          <a:noFill/>
        </p:spPr>
        <p:txBody>
          <a:bodyPr wrap="square" lIns="0" rIns="0" tIns="0" bIns="0" anchor="t">
            <a:spAutoFit/>
          </a:bodyPr>
          <a:lstStyle/>
          <a:p>
            <a:pPr algn="l"/>
            <a:r>
              <a:rPr sz="3000" b="1">
                <a:solidFill>
                  <a:srgbClr val="000000"/>
                </a:solidFill>
                <a:latin typeface="Arial"/>
              </a:rPr>
              <a:t>5 375 €</a:t>
            </a:r>
          </a:p>
        </p:txBody>
      </p:sp>
      <p:sp>
        <p:nvSpPr>
          <p:cNvPr id="12" name="TextBox 11"/>
          <p:cNvSpPr txBox="1"/>
          <p:nvPr/>
        </p:nvSpPr>
        <p:spPr>
          <a:xfrm>
            <a:off x="8372246" y="2578608"/>
            <a:ext cx="3082442" cy="411480"/>
          </a:xfrm>
          <a:prstGeom prst="rect">
            <a:avLst/>
          </a:prstGeom>
          <a:noFill/>
        </p:spPr>
        <p:txBody>
          <a:bodyPr wrap="square" lIns="0" rIns="0" tIns="0" bIns="0" anchor="t">
            <a:spAutoFit/>
          </a:bodyPr>
          <a:lstStyle/>
          <a:p>
            <a:pPr algn="l"/>
            <a:r>
              <a:rPr sz="1300" b="0">
                <a:solidFill>
                  <a:srgbClr val="444444"/>
                </a:solidFill>
                <a:latin typeface="Arial"/>
              </a:rPr>
              <a:t>gagnés pour 1 000 passagers arrivants</a:t>
            </a:r>
          </a:p>
        </p:txBody>
      </p:sp>
      <p:sp>
        <p:nvSpPr>
          <p:cNvPr id="13" name="Rounded Rectangle 12"/>
          <p:cNvSpPr/>
          <p:nvPr/>
        </p:nvSpPr>
        <p:spPr>
          <a:xfrm>
            <a:off x="7137806" y="3273552"/>
            <a:ext cx="4545482" cy="1280160"/>
          </a:xfrm>
          <a:prstGeom prst="roundRect">
            <a:avLst>
              <a:gd name="adj" fmla="val 1571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raphique.png"/>
          <p:cNvPicPr>
            <a:picLocks noChangeAspect="1"/>
          </p:cNvPicPr>
          <p:nvPr/>
        </p:nvPicPr>
        <p:blipFill>
          <a:blip r:embed="rId4"/>
          <a:stretch>
            <a:fillRect/>
          </a:stretch>
        </p:blipFill>
        <p:spPr>
          <a:xfrm>
            <a:off x="7457846" y="3593592"/>
            <a:ext cx="640080" cy="640080"/>
          </a:xfrm>
          <a:prstGeom prst="rect">
            <a:avLst/>
          </a:prstGeom>
        </p:spPr>
      </p:pic>
      <p:sp>
        <p:nvSpPr>
          <p:cNvPr id="15" name="TextBox 14"/>
          <p:cNvSpPr txBox="1"/>
          <p:nvPr/>
        </p:nvSpPr>
        <p:spPr>
          <a:xfrm>
            <a:off x="8372246" y="3456432"/>
            <a:ext cx="3082442" cy="548640"/>
          </a:xfrm>
          <a:prstGeom prst="rect">
            <a:avLst/>
          </a:prstGeom>
          <a:noFill/>
        </p:spPr>
        <p:txBody>
          <a:bodyPr wrap="square" lIns="0" rIns="0" tIns="0" bIns="0" anchor="t">
            <a:spAutoFit/>
          </a:bodyPr>
          <a:lstStyle/>
          <a:p>
            <a:pPr algn="l"/>
            <a:r>
              <a:rPr sz="3000" b="1">
                <a:solidFill>
                  <a:srgbClr val="000000"/>
                </a:solidFill>
                <a:latin typeface="Arial"/>
              </a:rPr>
              <a:t>× 3,8</a:t>
            </a:r>
          </a:p>
        </p:txBody>
      </p:sp>
      <p:sp>
        <p:nvSpPr>
          <p:cNvPr id="16" name="TextBox 15"/>
          <p:cNvSpPr txBox="1"/>
          <p:nvPr/>
        </p:nvSpPr>
        <p:spPr>
          <a:xfrm>
            <a:off x="8372246" y="4023360"/>
            <a:ext cx="3082442" cy="411480"/>
          </a:xfrm>
          <a:prstGeom prst="rect">
            <a:avLst/>
          </a:prstGeom>
          <a:noFill/>
        </p:spPr>
        <p:txBody>
          <a:bodyPr wrap="square" lIns="0" rIns="0" tIns="0" bIns="0" anchor="t">
            <a:spAutoFit/>
          </a:bodyPr>
          <a:lstStyle/>
          <a:p>
            <a:pPr algn="l"/>
            <a:r>
              <a:rPr sz="1300" b="0">
                <a:solidFill>
                  <a:srgbClr val="444444"/>
                </a:solidFill>
                <a:latin typeface="Arial"/>
              </a:rPr>
              <a:t>par rapport à des passagers pris au hasard</a:t>
            </a:r>
          </a:p>
        </p:txBody>
      </p:sp>
      <p:sp>
        <p:nvSpPr>
          <p:cNvPr id="17" name="Rounded Rectangle 16"/>
          <p:cNvSpPr/>
          <p:nvPr/>
        </p:nvSpPr>
        <p:spPr>
          <a:xfrm>
            <a:off x="7137806" y="4718304"/>
            <a:ext cx="4545482" cy="1280160"/>
          </a:xfrm>
          <a:prstGeom prst="roundRect">
            <a:avLst>
              <a:gd name="adj" fmla="val 1571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dialogue.png"/>
          <p:cNvPicPr>
            <a:picLocks noChangeAspect="1"/>
          </p:cNvPicPr>
          <p:nvPr/>
        </p:nvPicPr>
        <p:blipFill>
          <a:blip r:embed="rId5"/>
          <a:stretch>
            <a:fillRect/>
          </a:stretch>
        </p:blipFill>
        <p:spPr>
          <a:xfrm>
            <a:off x="7457846" y="5038344"/>
            <a:ext cx="640080" cy="640080"/>
          </a:xfrm>
          <a:prstGeom prst="rect">
            <a:avLst/>
          </a:prstGeom>
        </p:spPr>
      </p:pic>
      <p:sp>
        <p:nvSpPr>
          <p:cNvPr id="19" name="TextBox 18"/>
          <p:cNvSpPr txBox="1"/>
          <p:nvPr/>
        </p:nvSpPr>
        <p:spPr>
          <a:xfrm>
            <a:off x="8372246" y="4901184"/>
            <a:ext cx="3082442" cy="548640"/>
          </a:xfrm>
          <a:prstGeom prst="rect">
            <a:avLst/>
          </a:prstGeom>
          <a:noFill/>
        </p:spPr>
        <p:txBody>
          <a:bodyPr wrap="square" lIns="0" rIns="0" tIns="0" bIns="0" anchor="t">
            <a:spAutoFit/>
          </a:bodyPr>
          <a:lstStyle/>
          <a:p>
            <a:pPr algn="l"/>
            <a:r>
              <a:rPr sz="3000" b="1">
                <a:solidFill>
                  <a:srgbClr val="000000"/>
                </a:solidFill>
                <a:latin typeface="Arial"/>
              </a:rPr>
              <a:t>6 sur 100</a:t>
            </a:r>
          </a:p>
        </p:txBody>
      </p:sp>
      <p:sp>
        <p:nvSpPr>
          <p:cNvPr id="20" name="TextBox 19"/>
          <p:cNvSpPr txBox="1"/>
          <p:nvPr/>
        </p:nvSpPr>
        <p:spPr>
          <a:xfrm>
            <a:off x="8372246" y="5468112"/>
            <a:ext cx="3082442" cy="411480"/>
          </a:xfrm>
          <a:prstGeom prst="rect">
            <a:avLst/>
          </a:prstGeom>
          <a:noFill/>
        </p:spPr>
        <p:txBody>
          <a:bodyPr wrap="square" lIns="0" rIns="0" tIns="0" bIns="0" anchor="t">
            <a:spAutoFit/>
          </a:bodyPr>
          <a:lstStyle/>
          <a:p>
            <a:pPr algn="l"/>
            <a:r>
              <a:rPr sz="1300" b="0">
                <a:solidFill>
                  <a:srgbClr val="444444"/>
                </a:solidFill>
                <a:latin typeface="Arial"/>
              </a:rPr>
              <a:t>approches inutiles, environ 250 € pour 1 000 passagers</a:t>
            </a:r>
          </a:p>
        </p:txBody>
      </p:sp>
      <p:sp>
        <p:nvSpPr>
          <p:cNvPr id="21" name="TextBox 20"/>
          <p:cNvSpPr txBox="1"/>
          <p:nvPr/>
        </p:nvSpPr>
        <p:spPr>
          <a:xfrm>
            <a:off x="508406" y="6327648"/>
            <a:ext cx="8229600" cy="274320"/>
          </a:xfrm>
          <a:prstGeom prst="rect">
            <a:avLst/>
          </a:prstGeom>
          <a:noFill/>
        </p:spPr>
        <p:txBody>
          <a:bodyPr wrap="square" lIns="0" rIns="0" tIns="0" bIns="0" anchor="ctr">
            <a:spAutoFit/>
          </a:bodyPr>
          <a:lstStyle/>
          <a:p>
            <a:pPr algn="l"/>
            <a:r>
              <a:rPr sz="1100" b="0">
                <a:solidFill>
                  <a:srgbClr val="8A8A8A"/>
                </a:solidFill>
                <a:latin typeface="Arial"/>
              </a:rPr>
              <a:t>Volet 2 — Prédire · Jeanne · évaluation finale sur 25 976 passagers jamais vus, mineurs exclus</a:t>
            </a:r>
          </a:p>
        </p:txBody>
      </p:sp>
      <p:sp>
        <p:nvSpPr>
          <p:cNvPr id="22" name="Oval 21"/>
          <p:cNvSpPr/>
          <p:nvPr/>
        </p:nvSpPr>
        <p:spPr>
          <a:xfrm>
            <a:off x="831829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47374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62919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78464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94008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09553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5098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40643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56188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71732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87277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2822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18367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33912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0494568" y="6419088"/>
            <a:ext cx="256032" cy="91440"/>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81460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97005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112550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128095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143640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159184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Oval 1"/>
          <p:cNvSpPr/>
          <p:nvPr/>
        </p:nvSpPr>
        <p:spPr>
          <a:xfrm>
            <a:off x="508406" y="457200"/>
            <a:ext cx="164592" cy="164592"/>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7006" y="457200"/>
            <a:ext cx="164592" cy="164592"/>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406" y="777240"/>
            <a:ext cx="11174882" cy="914400"/>
          </a:xfrm>
          <a:prstGeom prst="rect">
            <a:avLst/>
          </a:prstGeom>
          <a:noFill/>
        </p:spPr>
        <p:txBody>
          <a:bodyPr wrap="square" lIns="0" rIns="0" tIns="0" bIns="0" anchor="t">
            <a:spAutoFit/>
          </a:bodyPr>
          <a:lstStyle/>
          <a:p>
            <a:pPr algn="l">
              <a:lnSpc>
                <a:spcPct val="95000"/>
              </a:lnSpc>
            </a:pPr>
            <a:r>
              <a:rPr sz="3000" b="1">
                <a:solidFill>
                  <a:srgbClr val="000000"/>
                </a:solidFill>
                <a:latin typeface="Arial"/>
              </a:rPr>
              <a:t>Sur des passagers jamais vus, le modèle bat les règles</a:t>
            </a:r>
          </a:p>
        </p:txBody>
      </p:sp>
      <p:sp>
        <p:nvSpPr>
          <p:cNvPr id="5" name="Rounded Rectangle 4"/>
          <p:cNvSpPr/>
          <p:nvPr/>
        </p:nvSpPr>
        <p:spPr>
          <a:xfrm>
            <a:off x="508406" y="1828800"/>
            <a:ext cx="7589520" cy="4160520"/>
          </a:xfrm>
          <a:prstGeom prst="roundRect">
            <a:avLst>
              <a:gd name="adj" fmla="val 483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Chart 5"/>
          <p:cNvGraphicFramePr>
            <a:graphicFrameLocks noGrp="1"/>
          </p:cNvGraphicFramePr>
          <p:nvPr/>
        </p:nvGraphicFramePr>
        <p:xfrm>
          <a:off x="782726" y="2103120"/>
          <a:ext cx="7040880" cy="3611880"/>
        </p:xfrm>
        <a:graphic>
          <a:graphicData uri="http://schemas.openxmlformats.org/drawingml/2006/chart">
            <c:chart xmlns:c="http://schemas.openxmlformats.org/drawingml/2006/chart" r:id="rId2"/>
          </a:graphicData>
        </a:graphic>
      </p:graphicFrame>
      <p:sp>
        <p:nvSpPr>
          <p:cNvPr id="7" name="Rounded Rectangle 6"/>
          <p:cNvSpPr/>
          <p:nvPr/>
        </p:nvSpPr>
        <p:spPr>
          <a:xfrm>
            <a:off x="8417966" y="1828800"/>
            <a:ext cx="3265322" cy="4160520"/>
          </a:xfrm>
          <a:prstGeom prst="roundRect">
            <a:avLst>
              <a:gd name="adj" fmla="val 616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8006" y="2148840"/>
            <a:ext cx="2926080" cy="640080"/>
          </a:xfrm>
          <a:prstGeom prst="rect">
            <a:avLst/>
          </a:prstGeom>
          <a:noFill/>
        </p:spPr>
        <p:txBody>
          <a:bodyPr wrap="square" lIns="0" rIns="0" tIns="0" bIns="0" anchor="t">
            <a:spAutoFit/>
          </a:bodyPr>
          <a:lstStyle/>
          <a:p>
            <a:pPr algn="l"/>
            <a:r>
              <a:rPr sz="4000" b="1">
                <a:solidFill>
                  <a:srgbClr val="0055FF"/>
                </a:solidFill>
                <a:latin typeface="Arial"/>
              </a:rPr>
              <a:t>+916 €</a:t>
            </a:r>
          </a:p>
        </p:txBody>
      </p:sp>
      <p:sp>
        <p:nvSpPr>
          <p:cNvPr id="9" name="TextBox 8"/>
          <p:cNvSpPr txBox="1"/>
          <p:nvPr/>
        </p:nvSpPr>
        <p:spPr>
          <a:xfrm>
            <a:off x="8738006" y="2788920"/>
            <a:ext cx="2926080" cy="548640"/>
          </a:xfrm>
          <a:prstGeom prst="rect">
            <a:avLst/>
          </a:prstGeom>
          <a:noFill/>
        </p:spPr>
        <p:txBody>
          <a:bodyPr wrap="square" lIns="0" rIns="0" tIns="0" bIns="0" anchor="t">
            <a:spAutoFit/>
          </a:bodyPr>
          <a:lstStyle/>
          <a:p>
            <a:pPr algn="l"/>
            <a:r>
              <a:rPr sz="1400" b="0">
                <a:solidFill>
                  <a:srgbClr val="444444"/>
                </a:solidFill>
                <a:latin typeface="Arial"/>
              </a:rPr>
              <a:t>par rapport à la meilleure règle simple</a:t>
            </a:r>
          </a:p>
        </p:txBody>
      </p:sp>
      <p:sp>
        <p:nvSpPr>
          <p:cNvPr id="10" name="TextBox 9"/>
          <p:cNvSpPr txBox="1"/>
          <p:nvPr/>
        </p:nvSpPr>
        <p:spPr>
          <a:xfrm>
            <a:off x="8738006" y="3611880"/>
            <a:ext cx="2926080" cy="365760"/>
          </a:xfrm>
          <a:prstGeom prst="rect">
            <a:avLst/>
          </a:prstGeom>
          <a:noFill/>
        </p:spPr>
        <p:txBody>
          <a:bodyPr wrap="square" lIns="0" rIns="0" tIns="0" bIns="0" anchor="t">
            <a:spAutoFit/>
          </a:bodyPr>
          <a:lstStyle/>
          <a:p>
            <a:pPr algn="l"/>
            <a:r>
              <a:rPr sz="1700" b="1">
                <a:solidFill>
                  <a:srgbClr val="000000"/>
                </a:solidFill>
                <a:latin typeface="Arial"/>
              </a:rPr>
              <a:t>Un résultat stable</a:t>
            </a:r>
          </a:p>
        </p:txBody>
      </p:sp>
      <p:sp>
        <p:nvSpPr>
          <p:cNvPr id="11" name="TextBox 10"/>
          <p:cNvSpPr txBox="1"/>
          <p:nvPr/>
        </p:nvSpPr>
        <p:spPr>
          <a:xfrm>
            <a:off x="8738006" y="4023360"/>
            <a:ext cx="2926080" cy="1737360"/>
          </a:xfrm>
          <a:prstGeom prst="rect">
            <a:avLst/>
          </a:prstGeom>
          <a:noFill/>
        </p:spPr>
        <p:txBody>
          <a:bodyPr wrap="square" lIns="0" rIns="0" tIns="0" bIns="0" anchor="t">
            <a:spAutoFit/>
          </a:bodyPr>
          <a:lstStyle/>
          <a:p>
            <a:pPr algn="l"/>
            <a:r>
              <a:rPr sz="1300" b="1">
                <a:solidFill>
                  <a:srgbClr val="444444"/>
                </a:solidFill>
                <a:latin typeface="Arial"/>
              </a:rPr>
              <a:t>Validation croisée : </a:t>
            </a:r>
            <a:r>
              <a:rPr sz="1300" b="0">
                <a:solidFill>
                  <a:srgbClr val="444444"/>
                </a:solidFill>
                <a:latin typeface="Arial"/>
              </a:rPr>
              <a:t>5 386 €, 93,9 %</a:t>
            </a:r>
          </a:p>
          <a:p>
            <a:pPr algn="l">
              <a:spcBef>
                <a:spcPts val="600"/>
              </a:spcBef>
            </a:pPr>
            <a:r>
              <a:rPr sz="1300" b="1">
                <a:solidFill>
                  <a:srgbClr val="444444"/>
                </a:solidFill>
                <a:latin typeface="Arial"/>
              </a:rPr>
              <a:t>Test final : </a:t>
            </a:r>
            <a:r>
              <a:rPr sz="1300" b="0">
                <a:solidFill>
                  <a:srgbClr val="444444"/>
                </a:solidFill>
                <a:latin typeface="Arial"/>
              </a:rPr>
              <a:t>5 375 €, 93,8 %</a:t>
            </a:r>
          </a:p>
          <a:p>
            <a:pPr algn="l">
              <a:spcBef>
                <a:spcPts val="600"/>
              </a:spcBef>
            </a:pPr>
            <a:r>
              <a:rPr sz="1300" b="0">
                <a:solidFill>
                  <a:srgbClr val="444444"/>
                </a:solidFill>
                <a:latin typeface="Arial"/>
              </a:rPr>
              <a:t>Le chiffre annoncé est fiable.</a:t>
            </a:r>
          </a:p>
        </p:txBody>
      </p:sp>
      <p:sp>
        <p:nvSpPr>
          <p:cNvPr id="12" name="TextBox 11"/>
          <p:cNvSpPr txBox="1"/>
          <p:nvPr/>
        </p:nvSpPr>
        <p:spPr>
          <a:xfrm>
            <a:off x="508406" y="6327648"/>
            <a:ext cx="8229600" cy="274320"/>
          </a:xfrm>
          <a:prstGeom prst="rect">
            <a:avLst/>
          </a:prstGeom>
          <a:noFill/>
        </p:spPr>
        <p:txBody>
          <a:bodyPr wrap="square" lIns="0" rIns="0" tIns="0" bIns="0" anchor="ctr">
            <a:spAutoFit/>
          </a:bodyPr>
          <a:lstStyle/>
          <a:p>
            <a:pPr algn="l"/>
            <a:r>
              <a:rPr sz="1100" b="0">
                <a:solidFill>
                  <a:srgbClr val="8A8A8A"/>
                </a:solidFill>
                <a:latin typeface="Arial"/>
              </a:rPr>
              <a:t>Volet 2 — Prédire · Jeanne · gain net pour 1 000 passagers arrivants, test.csv utilisé une seule fois</a:t>
            </a:r>
          </a:p>
        </p:txBody>
      </p:sp>
      <p:sp>
        <p:nvSpPr>
          <p:cNvPr id="13" name="Oval 12"/>
          <p:cNvSpPr/>
          <p:nvPr/>
        </p:nvSpPr>
        <p:spPr>
          <a:xfrm>
            <a:off x="831829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47374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2919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8464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94008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9553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25098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40643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56188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71732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87277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2822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18367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33912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49456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650016" y="6419088"/>
            <a:ext cx="256032" cy="91440"/>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970056"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112550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28095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43640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159184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Oval 1"/>
          <p:cNvSpPr/>
          <p:nvPr/>
        </p:nvSpPr>
        <p:spPr>
          <a:xfrm>
            <a:off x="508406" y="457200"/>
            <a:ext cx="164592" cy="164592"/>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7006" y="457200"/>
            <a:ext cx="164592" cy="164592"/>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406" y="777240"/>
            <a:ext cx="11174882" cy="914400"/>
          </a:xfrm>
          <a:prstGeom prst="rect">
            <a:avLst/>
          </a:prstGeom>
          <a:noFill/>
        </p:spPr>
        <p:txBody>
          <a:bodyPr wrap="square" lIns="0" rIns="0" tIns="0" bIns="0" anchor="t">
            <a:spAutoFit/>
          </a:bodyPr>
          <a:lstStyle/>
          <a:p>
            <a:pPr algn="l">
              <a:lnSpc>
                <a:spcPct val="95000"/>
              </a:lnSpc>
            </a:pPr>
            <a:r>
              <a:rPr sz="3000" b="1">
                <a:solidFill>
                  <a:srgbClr val="000000"/>
                </a:solidFill>
                <a:latin typeface="Arial"/>
              </a:rPr>
              <a:t>Aucun enfant n'est jamais signalé aux équipes</a:t>
            </a:r>
          </a:p>
        </p:txBody>
      </p:sp>
      <p:sp>
        <p:nvSpPr>
          <p:cNvPr id="5" name="Rounded Rectangle 4"/>
          <p:cNvSpPr/>
          <p:nvPr/>
        </p:nvSpPr>
        <p:spPr>
          <a:xfrm>
            <a:off x="508406" y="1828800"/>
            <a:ext cx="3511600" cy="3246120"/>
          </a:xfrm>
          <a:prstGeom prst="roundRect">
            <a:avLst>
              <a:gd name="adj" fmla="val 6197"/>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4166" y="2148840"/>
            <a:ext cx="685800" cy="6858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4166" y="2148840"/>
            <a:ext cx="685800" cy="685800"/>
          </a:xfrm>
          <a:prstGeom prst="rect">
            <a:avLst/>
          </a:prstGeom>
          <a:noFill/>
        </p:spPr>
        <p:txBody>
          <a:bodyPr wrap="square" lIns="0" rIns="0" tIns="0" bIns="0" anchor="ctr">
            <a:spAutoFit/>
          </a:bodyPr>
          <a:lstStyle/>
          <a:p>
            <a:pPr algn="ctr"/>
            <a:r>
              <a:rPr sz="3000" b="1">
                <a:solidFill>
                  <a:srgbClr val="FFDC00"/>
                </a:solidFill>
                <a:latin typeface="Arial"/>
              </a:rPr>
              <a:t>!</a:t>
            </a:r>
          </a:p>
        </p:txBody>
      </p:sp>
      <p:sp>
        <p:nvSpPr>
          <p:cNvPr id="8" name="TextBox 7"/>
          <p:cNvSpPr txBox="1"/>
          <p:nvPr/>
        </p:nvSpPr>
        <p:spPr>
          <a:xfrm>
            <a:off x="874166" y="2971800"/>
            <a:ext cx="2780080" cy="914400"/>
          </a:xfrm>
          <a:prstGeom prst="rect">
            <a:avLst/>
          </a:prstGeom>
          <a:noFill/>
        </p:spPr>
        <p:txBody>
          <a:bodyPr wrap="square" lIns="0" rIns="0" tIns="0" bIns="0" anchor="t">
            <a:spAutoFit/>
          </a:bodyPr>
          <a:lstStyle/>
          <a:p>
            <a:pPr algn="l"/>
            <a:r>
              <a:rPr sz="5400" b="1">
                <a:solidFill>
                  <a:srgbClr val="000000"/>
                </a:solidFill>
                <a:latin typeface="Arial"/>
              </a:rPr>
              <a:t>23,7 %</a:t>
            </a:r>
          </a:p>
        </p:txBody>
      </p:sp>
      <p:sp>
        <p:nvSpPr>
          <p:cNvPr id="9" name="TextBox 8"/>
          <p:cNvSpPr txBox="1"/>
          <p:nvPr/>
        </p:nvSpPr>
        <p:spPr>
          <a:xfrm>
            <a:off x="874166" y="3931920"/>
            <a:ext cx="2780080" cy="1005840"/>
          </a:xfrm>
          <a:prstGeom prst="rect">
            <a:avLst/>
          </a:prstGeom>
          <a:noFill/>
        </p:spPr>
        <p:txBody>
          <a:bodyPr wrap="square" lIns="0" rIns="0" tIns="0" bIns="0" anchor="t">
            <a:spAutoFit/>
          </a:bodyPr>
          <a:lstStyle/>
          <a:p>
            <a:pPr algn="l"/>
            <a:r>
              <a:rPr sz="1500" b="0">
                <a:solidFill>
                  <a:srgbClr val="000000"/>
                </a:solidFill>
                <a:latin typeface="Arial"/>
              </a:rPr>
              <a:t>des passagers signalés seraient mineurs sans précaution, contre 7,6 % des passagers</a:t>
            </a:r>
          </a:p>
        </p:txBody>
      </p:sp>
      <p:sp>
        <p:nvSpPr>
          <p:cNvPr id="10" name="Rounded Rectangle 9"/>
          <p:cNvSpPr/>
          <p:nvPr/>
        </p:nvSpPr>
        <p:spPr>
          <a:xfrm>
            <a:off x="4340047" y="1828800"/>
            <a:ext cx="3511600" cy="3246120"/>
          </a:xfrm>
          <a:prstGeom prst="roundRect">
            <a:avLst>
              <a:gd name="adj" fmla="val 619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amille.png"/>
          <p:cNvPicPr>
            <a:picLocks noChangeAspect="1"/>
          </p:cNvPicPr>
          <p:nvPr/>
        </p:nvPicPr>
        <p:blipFill>
          <a:blip r:embed="rId2"/>
          <a:stretch>
            <a:fillRect/>
          </a:stretch>
        </p:blipFill>
        <p:spPr>
          <a:xfrm>
            <a:off x="4705807" y="2148840"/>
            <a:ext cx="685800" cy="685800"/>
          </a:xfrm>
          <a:prstGeom prst="rect">
            <a:avLst/>
          </a:prstGeom>
        </p:spPr>
      </p:pic>
      <p:sp>
        <p:nvSpPr>
          <p:cNvPr id="12" name="TextBox 11"/>
          <p:cNvSpPr txBox="1"/>
          <p:nvPr/>
        </p:nvSpPr>
        <p:spPr>
          <a:xfrm>
            <a:off x="4705807" y="2971800"/>
            <a:ext cx="2780080" cy="914400"/>
          </a:xfrm>
          <a:prstGeom prst="rect">
            <a:avLst/>
          </a:prstGeom>
          <a:noFill/>
        </p:spPr>
        <p:txBody>
          <a:bodyPr wrap="square" lIns="0" rIns="0" tIns="0" bIns="0" anchor="t">
            <a:spAutoFit/>
          </a:bodyPr>
          <a:lstStyle/>
          <a:p>
            <a:pPr algn="l"/>
            <a:r>
              <a:rPr sz="5400" b="1">
                <a:solidFill>
                  <a:srgbClr val="000000"/>
                </a:solidFill>
                <a:latin typeface="Arial"/>
              </a:rPr>
              <a:t>0 %</a:t>
            </a:r>
          </a:p>
        </p:txBody>
      </p:sp>
      <p:sp>
        <p:nvSpPr>
          <p:cNvPr id="13" name="TextBox 12"/>
          <p:cNvSpPr txBox="1"/>
          <p:nvPr/>
        </p:nvSpPr>
        <p:spPr>
          <a:xfrm>
            <a:off x="4705807" y="3931920"/>
            <a:ext cx="2780080" cy="1005840"/>
          </a:xfrm>
          <a:prstGeom prst="rect">
            <a:avLst/>
          </a:prstGeom>
          <a:noFill/>
        </p:spPr>
        <p:txBody>
          <a:bodyPr wrap="square" lIns="0" rIns="0" tIns="0" bIns="0" anchor="t">
            <a:spAutoFit/>
          </a:bodyPr>
          <a:lstStyle/>
          <a:p>
            <a:pPr algn="l"/>
            <a:r>
              <a:rPr sz="1500" b="0">
                <a:solidFill>
                  <a:srgbClr val="000000"/>
                </a:solidFill>
                <a:latin typeface="Arial"/>
              </a:rPr>
              <a:t>après exclusion des mineurs du signalement</a:t>
            </a:r>
          </a:p>
        </p:txBody>
      </p:sp>
      <p:sp>
        <p:nvSpPr>
          <p:cNvPr id="14" name="Rounded Rectangle 13"/>
          <p:cNvSpPr/>
          <p:nvPr/>
        </p:nvSpPr>
        <p:spPr>
          <a:xfrm>
            <a:off x="8171688" y="1828800"/>
            <a:ext cx="3511600" cy="3246120"/>
          </a:xfrm>
          <a:prstGeom prst="roundRect">
            <a:avLst>
              <a:gd name="adj" fmla="val 619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ouclier.png"/>
          <p:cNvPicPr>
            <a:picLocks noChangeAspect="1"/>
          </p:cNvPicPr>
          <p:nvPr/>
        </p:nvPicPr>
        <p:blipFill>
          <a:blip r:embed="rId3"/>
          <a:stretch>
            <a:fillRect/>
          </a:stretch>
        </p:blipFill>
        <p:spPr>
          <a:xfrm>
            <a:off x="8537448" y="2148840"/>
            <a:ext cx="685800" cy="685800"/>
          </a:xfrm>
          <a:prstGeom prst="rect">
            <a:avLst/>
          </a:prstGeom>
        </p:spPr>
      </p:pic>
      <p:sp>
        <p:nvSpPr>
          <p:cNvPr id="16" name="TextBox 15"/>
          <p:cNvSpPr txBox="1"/>
          <p:nvPr/>
        </p:nvSpPr>
        <p:spPr>
          <a:xfrm>
            <a:off x="8537448" y="2971800"/>
            <a:ext cx="2780080" cy="914400"/>
          </a:xfrm>
          <a:prstGeom prst="rect">
            <a:avLst/>
          </a:prstGeom>
          <a:noFill/>
        </p:spPr>
        <p:txBody>
          <a:bodyPr wrap="square" lIns="0" rIns="0" tIns="0" bIns="0" anchor="t">
            <a:spAutoFit/>
          </a:bodyPr>
          <a:lstStyle/>
          <a:p>
            <a:pPr algn="l"/>
            <a:r>
              <a:rPr sz="5400" b="1">
                <a:solidFill>
                  <a:srgbClr val="000000"/>
                </a:solidFill>
                <a:latin typeface="Arial"/>
              </a:rPr>
              <a:t>−2 %</a:t>
            </a:r>
          </a:p>
        </p:txBody>
      </p:sp>
      <p:sp>
        <p:nvSpPr>
          <p:cNvPr id="17" name="TextBox 16"/>
          <p:cNvSpPr txBox="1"/>
          <p:nvPr/>
        </p:nvSpPr>
        <p:spPr>
          <a:xfrm>
            <a:off x="8537448" y="3931920"/>
            <a:ext cx="2780080" cy="1005840"/>
          </a:xfrm>
          <a:prstGeom prst="rect">
            <a:avLst/>
          </a:prstGeom>
          <a:noFill/>
        </p:spPr>
        <p:txBody>
          <a:bodyPr wrap="square" lIns="0" rIns="0" tIns="0" bIns="0" anchor="t">
            <a:spAutoFit/>
          </a:bodyPr>
          <a:lstStyle/>
          <a:p>
            <a:pPr algn="l"/>
            <a:r>
              <a:rPr sz="1500" b="0">
                <a:solidFill>
                  <a:srgbClr val="000000"/>
                </a:solidFill>
                <a:latin typeface="Arial"/>
              </a:rPr>
              <a:t>de gain seulement : 5 386 € au lieu de 5 512 € pour 1 000 passagers</a:t>
            </a:r>
          </a:p>
        </p:txBody>
      </p:sp>
      <p:sp>
        <p:nvSpPr>
          <p:cNvPr id="18" name="Rounded Rectangle 17"/>
          <p:cNvSpPr/>
          <p:nvPr/>
        </p:nvSpPr>
        <p:spPr>
          <a:xfrm>
            <a:off x="508406" y="5303520"/>
            <a:ext cx="11174882" cy="685800"/>
          </a:xfrm>
          <a:prstGeom prst="roundRect">
            <a:avLst>
              <a:gd name="adj" fmla="val 2933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clu.png"/>
          <p:cNvPicPr>
            <a:picLocks noChangeAspect="1"/>
          </p:cNvPicPr>
          <p:nvPr/>
        </p:nvPicPr>
        <p:blipFill>
          <a:blip r:embed="rId4"/>
          <a:stretch>
            <a:fillRect/>
          </a:stretch>
        </p:blipFill>
        <p:spPr>
          <a:xfrm>
            <a:off x="782726" y="5413248"/>
            <a:ext cx="457200" cy="457200"/>
          </a:xfrm>
          <a:prstGeom prst="rect">
            <a:avLst/>
          </a:prstGeom>
        </p:spPr>
      </p:pic>
      <p:sp>
        <p:nvSpPr>
          <p:cNvPr id="20" name="TextBox 19"/>
          <p:cNvSpPr txBox="1"/>
          <p:nvPr/>
        </p:nvSpPr>
        <p:spPr>
          <a:xfrm>
            <a:off x="1422806" y="5303520"/>
            <a:ext cx="9986162" cy="685800"/>
          </a:xfrm>
          <a:prstGeom prst="rect">
            <a:avLst/>
          </a:prstGeom>
          <a:noFill/>
        </p:spPr>
        <p:txBody>
          <a:bodyPr wrap="square" lIns="0" rIns="0" tIns="0" bIns="0" anchor="ctr">
            <a:spAutoFit/>
          </a:bodyPr>
          <a:lstStyle/>
          <a:p>
            <a:pPr algn="l"/>
            <a:r>
              <a:rPr sz="1500" b="1">
                <a:solidFill>
                  <a:srgbClr val="000000"/>
                </a:solidFill>
                <a:latin typeface="Arial"/>
              </a:rPr>
              <a:t>Retirer l'âge du modèle ne suffirait pas : </a:t>
            </a:r>
            <a:r>
              <a:rPr sz="1500" b="0">
                <a:solidFill>
                  <a:srgbClr val="000000"/>
                </a:solidFill>
                <a:latin typeface="Arial"/>
              </a:rPr>
              <a:t>−539 € et encore 11,6 % de mineurs signalés.</a:t>
            </a:r>
          </a:p>
        </p:txBody>
      </p:sp>
      <p:sp>
        <p:nvSpPr>
          <p:cNvPr id="21" name="TextBox 20"/>
          <p:cNvSpPr txBox="1"/>
          <p:nvPr/>
        </p:nvSpPr>
        <p:spPr>
          <a:xfrm>
            <a:off x="508406" y="6327648"/>
            <a:ext cx="8229600" cy="274320"/>
          </a:xfrm>
          <a:prstGeom prst="rect">
            <a:avLst/>
          </a:prstGeom>
          <a:noFill/>
        </p:spPr>
        <p:txBody>
          <a:bodyPr wrap="square" lIns="0" rIns="0" tIns="0" bIns="0" anchor="ctr">
            <a:spAutoFit/>
          </a:bodyPr>
          <a:lstStyle/>
          <a:p>
            <a:pPr algn="l"/>
            <a:r>
              <a:rPr sz="1100" b="0">
                <a:solidFill>
                  <a:srgbClr val="8A8A8A"/>
                </a:solidFill>
                <a:latin typeface="Arial"/>
              </a:rPr>
              <a:t>Volet 3 — Encadrer · Côme</a:t>
            </a:r>
          </a:p>
        </p:txBody>
      </p:sp>
      <p:sp>
        <p:nvSpPr>
          <p:cNvPr id="22" name="Oval 21"/>
          <p:cNvSpPr/>
          <p:nvPr/>
        </p:nvSpPr>
        <p:spPr>
          <a:xfrm>
            <a:off x="831829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47374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62919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78464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94008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09553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5098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40643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56188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71732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87277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2822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18367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33912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49456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65001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0805464" y="6419088"/>
            <a:ext cx="256032" cy="91440"/>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1125504"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128095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143640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159184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Oval 1"/>
          <p:cNvSpPr/>
          <p:nvPr/>
        </p:nvSpPr>
        <p:spPr>
          <a:xfrm>
            <a:off x="508406" y="457200"/>
            <a:ext cx="164592" cy="164592"/>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7006" y="457200"/>
            <a:ext cx="164592" cy="164592"/>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65606" y="457200"/>
            <a:ext cx="164592" cy="164592"/>
          </a:xfrm>
          <a:prstGeom prst="ellipse">
            <a:avLst/>
          </a:prstGeom>
          <a:solidFill>
            <a:srgbClr val="FFB3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406" y="777240"/>
            <a:ext cx="11174882" cy="914400"/>
          </a:xfrm>
          <a:prstGeom prst="rect">
            <a:avLst/>
          </a:prstGeom>
          <a:noFill/>
        </p:spPr>
        <p:txBody>
          <a:bodyPr wrap="square" lIns="0" rIns="0" tIns="0" bIns="0" anchor="t">
            <a:spAutoFit/>
          </a:bodyPr>
          <a:lstStyle/>
          <a:p>
            <a:pPr algn="l">
              <a:lnSpc>
                <a:spcPct val="95000"/>
              </a:lnSpc>
            </a:pPr>
            <a:r>
              <a:rPr sz="3000" b="1">
                <a:solidFill>
                  <a:srgbClr val="000000"/>
                </a:solidFill>
                <a:latin typeface="Arial"/>
              </a:rPr>
              <a:t>Un nouvel usage des données, sous quatre conditions</a:t>
            </a:r>
          </a:p>
        </p:txBody>
      </p:sp>
      <p:sp>
        <p:nvSpPr>
          <p:cNvPr id="6" name="Rounded Rectangle 5"/>
          <p:cNvSpPr/>
          <p:nvPr/>
        </p:nvSpPr>
        <p:spPr>
          <a:xfrm>
            <a:off x="508406" y="1828800"/>
            <a:ext cx="5427421" cy="1920240"/>
          </a:xfrm>
          <a:prstGeom prst="roundRect">
            <a:avLst>
              <a:gd name="adj" fmla="val 1047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alogue.png"/>
          <p:cNvPicPr>
            <a:picLocks noChangeAspect="1"/>
          </p:cNvPicPr>
          <p:nvPr/>
        </p:nvPicPr>
        <p:blipFill>
          <a:blip r:embed="rId2"/>
          <a:stretch>
            <a:fillRect/>
          </a:stretch>
        </p:blipFill>
        <p:spPr>
          <a:xfrm>
            <a:off x="874166" y="2176272"/>
            <a:ext cx="685800" cy="685800"/>
          </a:xfrm>
          <a:prstGeom prst="rect">
            <a:avLst/>
          </a:prstGeom>
        </p:spPr>
      </p:pic>
      <p:sp>
        <p:nvSpPr>
          <p:cNvPr id="8" name="TextBox 7"/>
          <p:cNvSpPr txBox="1"/>
          <p:nvPr/>
        </p:nvSpPr>
        <p:spPr>
          <a:xfrm>
            <a:off x="1788566" y="2148840"/>
            <a:ext cx="3781501" cy="411480"/>
          </a:xfrm>
          <a:prstGeom prst="rect">
            <a:avLst/>
          </a:prstGeom>
          <a:noFill/>
        </p:spPr>
        <p:txBody>
          <a:bodyPr wrap="square" lIns="0" rIns="0" tIns="0" bIns="0" anchor="t">
            <a:spAutoFit/>
          </a:bodyPr>
          <a:lstStyle/>
          <a:p>
            <a:pPr algn="l"/>
            <a:r>
              <a:rPr sz="1900" b="1">
                <a:solidFill>
                  <a:srgbClr val="000000"/>
                </a:solidFill>
                <a:latin typeface="Arial"/>
              </a:rPr>
              <a:t>Informer et permettre de refuser</a:t>
            </a:r>
          </a:p>
        </p:txBody>
      </p:sp>
      <p:sp>
        <p:nvSpPr>
          <p:cNvPr id="9" name="TextBox 8"/>
          <p:cNvSpPr txBox="1"/>
          <p:nvPr/>
        </p:nvSpPr>
        <p:spPr>
          <a:xfrm>
            <a:off x="1788566" y="2606040"/>
            <a:ext cx="3781501" cy="1005840"/>
          </a:xfrm>
          <a:prstGeom prst="rect">
            <a:avLst/>
          </a:prstGeom>
          <a:noFill/>
        </p:spPr>
        <p:txBody>
          <a:bodyPr wrap="square" lIns="0" rIns="0" tIns="0" bIns="0" anchor="t">
            <a:spAutoFit/>
          </a:bodyPr>
          <a:lstStyle/>
          <a:p>
            <a:pPr algn="l"/>
            <a:r>
              <a:rPr sz="1400" b="0">
                <a:solidFill>
                  <a:srgbClr val="444444"/>
                </a:solidFill>
                <a:latin typeface="Arial"/>
              </a:rPr>
              <a:t>Nouvelle finalité : mise à jour de la politique de confidentialité, intérêt légitime, droit d'opposition simple, analyse d'impact.</a:t>
            </a:r>
          </a:p>
        </p:txBody>
      </p:sp>
      <p:sp>
        <p:nvSpPr>
          <p:cNvPr id="10" name="Rounded Rectangle 9"/>
          <p:cNvSpPr/>
          <p:nvPr/>
        </p:nvSpPr>
        <p:spPr>
          <a:xfrm>
            <a:off x="6255867" y="1828800"/>
            <a:ext cx="5427421" cy="1920240"/>
          </a:xfrm>
          <a:prstGeom prst="roundRect">
            <a:avLst>
              <a:gd name="adj" fmla="val 1047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amille.png"/>
          <p:cNvPicPr>
            <a:picLocks noChangeAspect="1"/>
          </p:cNvPicPr>
          <p:nvPr/>
        </p:nvPicPr>
        <p:blipFill>
          <a:blip r:embed="rId3"/>
          <a:stretch>
            <a:fillRect/>
          </a:stretch>
        </p:blipFill>
        <p:spPr>
          <a:xfrm>
            <a:off x="6621627" y="2176272"/>
            <a:ext cx="685800" cy="685800"/>
          </a:xfrm>
          <a:prstGeom prst="rect">
            <a:avLst/>
          </a:prstGeom>
        </p:spPr>
      </p:pic>
      <p:sp>
        <p:nvSpPr>
          <p:cNvPr id="12" name="TextBox 11"/>
          <p:cNvSpPr txBox="1"/>
          <p:nvPr/>
        </p:nvSpPr>
        <p:spPr>
          <a:xfrm>
            <a:off x="7536027" y="2148840"/>
            <a:ext cx="3781501" cy="411480"/>
          </a:xfrm>
          <a:prstGeom prst="rect">
            <a:avLst/>
          </a:prstGeom>
          <a:noFill/>
        </p:spPr>
        <p:txBody>
          <a:bodyPr wrap="square" lIns="0" rIns="0" tIns="0" bIns="0" anchor="t">
            <a:spAutoFit/>
          </a:bodyPr>
          <a:lstStyle/>
          <a:p>
            <a:pPr algn="l"/>
            <a:r>
              <a:rPr sz="1900" b="1">
                <a:solidFill>
                  <a:srgbClr val="000000"/>
                </a:solidFill>
                <a:latin typeface="Arial"/>
              </a:rPr>
              <a:t>Protéger les enfants</a:t>
            </a:r>
          </a:p>
        </p:txBody>
      </p:sp>
      <p:sp>
        <p:nvSpPr>
          <p:cNvPr id="13" name="TextBox 12"/>
          <p:cNvSpPr txBox="1"/>
          <p:nvPr/>
        </p:nvSpPr>
        <p:spPr>
          <a:xfrm>
            <a:off x="7536027" y="2606040"/>
            <a:ext cx="3781501" cy="1005840"/>
          </a:xfrm>
          <a:prstGeom prst="rect">
            <a:avLst/>
          </a:prstGeom>
          <a:noFill/>
        </p:spPr>
        <p:txBody>
          <a:bodyPr wrap="square" lIns="0" rIns="0" tIns="0" bIns="0" anchor="t">
            <a:spAutoFit/>
          </a:bodyPr>
          <a:lstStyle/>
          <a:p>
            <a:pPr algn="l"/>
            <a:r>
              <a:rPr sz="1400" b="0">
                <a:solidFill>
                  <a:srgbClr val="444444"/>
                </a:solidFill>
                <a:latin typeface="Arial"/>
              </a:rPr>
              <a:t>Aucun mineur signalé. Le profilage des enfants appelle une protection renforcée.</a:t>
            </a:r>
          </a:p>
        </p:txBody>
      </p:sp>
      <p:sp>
        <p:nvSpPr>
          <p:cNvPr id="14" name="Rounded Rectangle 13"/>
          <p:cNvSpPr/>
          <p:nvPr/>
        </p:nvSpPr>
        <p:spPr>
          <a:xfrm>
            <a:off x="508406" y="4069080"/>
            <a:ext cx="5427421" cy="1920240"/>
          </a:xfrm>
          <a:prstGeom prst="roundRect">
            <a:avLst>
              <a:gd name="adj" fmla="val 1047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ible.png"/>
          <p:cNvPicPr>
            <a:picLocks noChangeAspect="1"/>
          </p:cNvPicPr>
          <p:nvPr/>
        </p:nvPicPr>
        <p:blipFill>
          <a:blip r:embed="rId4"/>
          <a:stretch>
            <a:fillRect/>
          </a:stretch>
        </p:blipFill>
        <p:spPr>
          <a:xfrm>
            <a:off x="874166" y="4416552"/>
            <a:ext cx="685800" cy="685800"/>
          </a:xfrm>
          <a:prstGeom prst="rect">
            <a:avLst/>
          </a:prstGeom>
        </p:spPr>
      </p:pic>
      <p:sp>
        <p:nvSpPr>
          <p:cNvPr id="16" name="TextBox 15"/>
          <p:cNvSpPr txBox="1"/>
          <p:nvPr/>
        </p:nvSpPr>
        <p:spPr>
          <a:xfrm>
            <a:off x="1788566" y="4389120"/>
            <a:ext cx="3781501" cy="411480"/>
          </a:xfrm>
          <a:prstGeom prst="rect">
            <a:avLst/>
          </a:prstGeom>
          <a:noFill/>
        </p:spPr>
        <p:txBody>
          <a:bodyPr wrap="square" lIns="0" rIns="0" tIns="0" bIns="0" anchor="t">
            <a:spAutoFit/>
          </a:bodyPr>
          <a:lstStyle/>
          <a:p>
            <a:pPr algn="l"/>
            <a:r>
              <a:rPr sz="1900" b="1">
                <a:solidFill>
                  <a:srgbClr val="000000"/>
                </a:solidFill>
                <a:latin typeface="Arial"/>
              </a:rPr>
              <a:t>Limiter les informations utilisées</a:t>
            </a:r>
          </a:p>
        </p:txBody>
      </p:sp>
      <p:sp>
        <p:nvSpPr>
          <p:cNvPr id="17" name="TextBox 16"/>
          <p:cNvSpPr txBox="1"/>
          <p:nvPr/>
        </p:nvSpPr>
        <p:spPr>
          <a:xfrm>
            <a:off x="1788566" y="4846320"/>
            <a:ext cx="3781501" cy="1005840"/>
          </a:xfrm>
          <a:prstGeom prst="rect">
            <a:avLst/>
          </a:prstGeom>
          <a:noFill/>
        </p:spPr>
        <p:txBody>
          <a:bodyPr wrap="square" lIns="0" rIns="0" tIns="0" bIns="0" anchor="t">
            <a:spAutoFit/>
          </a:bodyPr>
          <a:lstStyle/>
          <a:p>
            <a:pPr algn="l"/>
            <a:r>
              <a:rPr sz="1400" b="0">
                <a:solidFill>
                  <a:srgbClr val="444444"/>
                </a:solidFill>
                <a:latin typeface="Arial"/>
              </a:rPr>
              <a:t>Classe, fidélité, distance, retards et âge. Genre et motif du voyage exclus.</a:t>
            </a:r>
          </a:p>
        </p:txBody>
      </p:sp>
      <p:sp>
        <p:nvSpPr>
          <p:cNvPr id="18" name="Rounded Rectangle 17"/>
          <p:cNvSpPr/>
          <p:nvPr/>
        </p:nvSpPr>
        <p:spPr>
          <a:xfrm>
            <a:off x="6255867" y="4069080"/>
            <a:ext cx="5427421" cy="1920240"/>
          </a:xfrm>
          <a:prstGeom prst="roundRect">
            <a:avLst>
              <a:gd name="adj" fmla="val 1047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nfidentiel.png"/>
          <p:cNvPicPr>
            <a:picLocks noChangeAspect="1"/>
          </p:cNvPicPr>
          <p:nvPr/>
        </p:nvPicPr>
        <p:blipFill>
          <a:blip r:embed="rId5"/>
          <a:stretch>
            <a:fillRect/>
          </a:stretch>
        </p:blipFill>
        <p:spPr>
          <a:xfrm>
            <a:off x="6621627" y="4416552"/>
            <a:ext cx="685800" cy="685800"/>
          </a:xfrm>
          <a:prstGeom prst="rect">
            <a:avLst/>
          </a:prstGeom>
        </p:spPr>
      </p:pic>
      <p:sp>
        <p:nvSpPr>
          <p:cNvPr id="20" name="TextBox 19"/>
          <p:cNvSpPr txBox="1"/>
          <p:nvPr/>
        </p:nvSpPr>
        <p:spPr>
          <a:xfrm>
            <a:off x="7536027" y="4389120"/>
            <a:ext cx="3781501" cy="411480"/>
          </a:xfrm>
          <a:prstGeom prst="rect">
            <a:avLst/>
          </a:prstGeom>
          <a:noFill/>
        </p:spPr>
        <p:txBody>
          <a:bodyPr wrap="square" lIns="0" rIns="0" tIns="0" bIns="0" anchor="t">
            <a:spAutoFit/>
          </a:bodyPr>
          <a:lstStyle/>
          <a:p>
            <a:pPr algn="l"/>
            <a:r>
              <a:rPr sz="1900" b="1">
                <a:solidFill>
                  <a:srgbClr val="000000"/>
                </a:solidFill>
                <a:latin typeface="Arial"/>
              </a:rPr>
              <a:t>Montrer le minimum aux agents</a:t>
            </a:r>
          </a:p>
        </p:txBody>
      </p:sp>
      <p:sp>
        <p:nvSpPr>
          <p:cNvPr id="21" name="TextBox 20"/>
          <p:cNvSpPr txBox="1"/>
          <p:nvPr/>
        </p:nvSpPr>
        <p:spPr>
          <a:xfrm>
            <a:off x="7536027" y="4846320"/>
            <a:ext cx="3781501" cy="1005840"/>
          </a:xfrm>
          <a:prstGeom prst="rect">
            <a:avLst/>
          </a:prstGeom>
          <a:noFill/>
        </p:spPr>
        <p:txBody>
          <a:bodyPr wrap="square" lIns="0" rIns="0" tIns="0" bIns="0" anchor="t">
            <a:spAutoFit/>
          </a:bodyPr>
          <a:lstStyle/>
          <a:p>
            <a:pPr algn="l"/>
            <a:r>
              <a:rPr sz="1400" b="0">
                <a:solidFill>
                  <a:srgbClr val="444444"/>
                </a:solidFill>
                <a:latin typeface="Arial"/>
              </a:rPr>
              <a:t>Ni score, ni âge, ni étiquette « mécontent » ; signalements effacés après le vol.</a:t>
            </a:r>
          </a:p>
        </p:txBody>
      </p:sp>
      <p:sp>
        <p:nvSpPr>
          <p:cNvPr id="22" name="TextBox 21"/>
          <p:cNvSpPr txBox="1"/>
          <p:nvPr/>
        </p:nvSpPr>
        <p:spPr>
          <a:xfrm>
            <a:off x="508406" y="6327648"/>
            <a:ext cx="8229600" cy="274320"/>
          </a:xfrm>
          <a:prstGeom prst="rect">
            <a:avLst/>
          </a:prstGeom>
          <a:noFill/>
        </p:spPr>
        <p:txBody>
          <a:bodyPr wrap="square" lIns="0" rIns="0" tIns="0" bIns="0" anchor="ctr">
            <a:spAutoFit/>
          </a:bodyPr>
          <a:lstStyle/>
          <a:p>
            <a:pPr algn="l"/>
            <a:r>
              <a:rPr sz="1100" b="0">
                <a:solidFill>
                  <a:srgbClr val="8A8A8A"/>
                </a:solidFill>
                <a:latin typeface="Arial"/>
              </a:rPr>
              <a:t>Volet 3 — Encadrer · Côme</a:t>
            </a:r>
          </a:p>
        </p:txBody>
      </p:sp>
      <p:sp>
        <p:nvSpPr>
          <p:cNvPr id="23" name="Oval 22"/>
          <p:cNvSpPr/>
          <p:nvPr/>
        </p:nvSpPr>
        <p:spPr>
          <a:xfrm>
            <a:off x="831829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7374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62919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78464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94008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09553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25098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40643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56188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71732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87277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02822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18367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33912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49456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65001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80546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960912" y="6419088"/>
            <a:ext cx="256032" cy="91440"/>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1280952"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143640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159184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Oval 1"/>
          <p:cNvSpPr/>
          <p:nvPr/>
        </p:nvSpPr>
        <p:spPr>
          <a:xfrm>
            <a:off x="508406" y="457200"/>
            <a:ext cx="164592" cy="164592"/>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7006" y="457200"/>
            <a:ext cx="164592" cy="164592"/>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406" y="777240"/>
            <a:ext cx="11174882" cy="914400"/>
          </a:xfrm>
          <a:prstGeom prst="rect">
            <a:avLst/>
          </a:prstGeom>
          <a:noFill/>
        </p:spPr>
        <p:txBody>
          <a:bodyPr wrap="square" lIns="0" rIns="0" tIns="0" bIns="0" anchor="t">
            <a:spAutoFit/>
          </a:bodyPr>
          <a:lstStyle/>
          <a:p>
            <a:pPr algn="l">
              <a:lnSpc>
                <a:spcPct val="95000"/>
              </a:lnSpc>
            </a:pPr>
            <a:r>
              <a:rPr sz="3000" b="1">
                <a:solidFill>
                  <a:srgbClr val="000000"/>
                </a:solidFill>
                <a:latin typeface="Arial"/>
              </a:rPr>
              <a:t>Ce que l'agent voit, et ce qu'il ne voit jamais</a:t>
            </a:r>
          </a:p>
        </p:txBody>
      </p:sp>
      <p:sp>
        <p:nvSpPr>
          <p:cNvPr id="5" name="Rounded Rectangle 4"/>
          <p:cNvSpPr/>
          <p:nvPr/>
        </p:nvSpPr>
        <p:spPr>
          <a:xfrm>
            <a:off x="508406" y="1828800"/>
            <a:ext cx="5486400" cy="4160520"/>
          </a:xfrm>
          <a:prstGeom prst="roundRect">
            <a:avLst>
              <a:gd name="adj" fmla="val 7692"/>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7006" y="2057400"/>
            <a:ext cx="5029200" cy="3703320"/>
          </a:xfrm>
          <a:prstGeom prst="roundRect">
            <a:avLst>
              <a:gd name="adj" fmla="val 543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7046" y="2286000"/>
            <a:ext cx="4389120" cy="320040"/>
          </a:xfrm>
          <a:prstGeom prst="rect">
            <a:avLst/>
          </a:prstGeom>
          <a:noFill/>
        </p:spPr>
        <p:txBody>
          <a:bodyPr wrap="square" lIns="0" rIns="0" tIns="0" bIns="0" anchor="t">
            <a:spAutoFit/>
          </a:bodyPr>
          <a:lstStyle/>
          <a:p>
            <a:pPr algn="l"/>
            <a:r>
              <a:rPr sz="1300" b="0">
                <a:solidFill>
                  <a:srgbClr val="8A8A8A"/>
                </a:solidFill>
                <a:latin typeface="Arial"/>
              </a:rPr>
              <a:t>Vol 1234 · arrivée 14:35 · porte 21</a:t>
            </a:r>
          </a:p>
        </p:txBody>
      </p:sp>
      <p:pic>
        <p:nvPicPr>
          <p:cNvPr id="8" name="Picture 7" descr="dialogue.png"/>
          <p:cNvPicPr>
            <a:picLocks noChangeAspect="1"/>
          </p:cNvPicPr>
          <p:nvPr/>
        </p:nvPicPr>
        <p:blipFill>
          <a:blip r:embed="rId2"/>
          <a:stretch>
            <a:fillRect/>
          </a:stretch>
        </p:blipFill>
        <p:spPr>
          <a:xfrm>
            <a:off x="1057046" y="2743200"/>
            <a:ext cx="640080" cy="640080"/>
          </a:xfrm>
          <a:prstGeom prst="rect">
            <a:avLst/>
          </a:prstGeom>
        </p:spPr>
      </p:pic>
      <p:sp>
        <p:nvSpPr>
          <p:cNvPr id="9" name="TextBox 8"/>
          <p:cNvSpPr txBox="1"/>
          <p:nvPr/>
        </p:nvSpPr>
        <p:spPr>
          <a:xfrm>
            <a:off x="1925726" y="2724912"/>
            <a:ext cx="3566160" cy="685800"/>
          </a:xfrm>
          <a:prstGeom prst="rect">
            <a:avLst/>
          </a:prstGeom>
          <a:noFill/>
        </p:spPr>
        <p:txBody>
          <a:bodyPr wrap="square" lIns="0" rIns="0" tIns="0" bIns="0" anchor="t">
            <a:spAutoFit/>
          </a:bodyPr>
          <a:lstStyle/>
          <a:p>
            <a:pPr algn="l"/>
            <a:r>
              <a:rPr sz="2400" b="1">
                <a:solidFill>
                  <a:srgbClr val="000000"/>
                </a:solidFill>
                <a:latin typeface="Arial"/>
              </a:rPr>
              <a:t>Siège 12B</a:t>
            </a:r>
          </a:p>
          <a:p>
            <a:pPr algn="l"/>
            <a:r>
              <a:rPr sz="1500" b="0">
                <a:solidFill>
                  <a:srgbClr val="444444"/>
                </a:solidFill>
                <a:latin typeface="Arial"/>
              </a:rPr>
              <a:t>À accueillir en priorité</a:t>
            </a:r>
          </a:p>
        </p:txBody>
      </p:sp>
      <p:pic>
        <p:nvPicPr>
          <p:cNvPr id="10" name="Picture 9" descr="horloge.png"/>
          <p:cNvPicPr>
            <a:picLocks noChangeAspect="1"/>
          </p:cNvPicPr>
          <p:nvPr/>
        </p:nvPicPr>
        <p:blipFill>
          <a:blip r:embed="rId3"/>
          <a:stretch>
            <a:fillRect/>
          </a:stretch>
        </p:blipFill>
        <p:spPr>
          <a:xfrm>
            <a:off x="1057046" y="3703320"/>
            <a:ext cx="457200" cy="457200"/>
          </a:xfrm>
          <a:prstGeom prst="rect">
            <a:avLst/>
          </a:prstGeom>
        </p:spPr>
      </p:pic>
      <p:sp>
        <p:nvSpPr>
          <p:cNvPr id="11" name="TextBox 10"/>
          <p:cNvSpPr txBox="1"/>
          <p:nvPr/>
        </p:nvSpPr>
        <p:spPr>
          <a:xfrm>
            <a:off x="1742846" y="3703320"/>
            <a:ext cx="3749039" cy="457200"/>
          </a:xfrm>
          <a:prstGeom prst="rect">
            <a:avLst/>
          </a:prstGeom>
          <a:noFill/>
        </p:spPr>
        <p:txBody>
          <a:bodyPr wrap="square" lIns="0" rIns="0" tIns="0" bIns="0" anchor="ctr">
            <a:spAutoFit/>
          </a:bodyPr>
          <a:lstStyle/>
          <a:p>
            <a:pPr algn="l"/>
            <a:r>
              <a:rPr sz="1600" b="1">
                <a:solidFill>
                  <a:srgbClr val="000000"/>
                </a:solidFill>
                <a:latin typeface="Arial"/>
              </a:rPr>
              <a:t>Motif : retard de 45 minutes</a:t>
            </a:r>
          </a:p>
        </p:txBody>
      </p:sp>
      <p:sp>
        <p:nvSpPr>
          <p:cNvPr id="12" name="TextBox 11"/>
          <p:cNvSpPr txBox="1"/>
          <p:nvPr/>
        </p:nvSpPr>
        <p:spPr>
          <a:xfrm>
            <a:off x="1057046" y="4434840"/>
            <a:ext cx="4389120" cy="1097280"/>
          </a:xfrm>
          <a:prstGeom prst="rect">
            <a:avLst/>
          </a:prstGeom>
          <a:noFill/>
        </p:spPr>
        <p:txBody>
          <a:bodyPr wrap="square" lIns="0" rIns="0" tIns="0" bIns="0" anchor="t">
            <a:spAutoFit/>
          </a:bodyPr>
          <a:lstStyle/>
          <a:p>
            <a:pPr algn="l"/>
            <a:r>
              <a:rPr sz="1500" b="1">
                <a:solidFill>
                  <a:srgbClr val="444444"/>
                </a:solidFill>
                <a:latin typeface="Arial"/>
              </a:rPr>
              <a:t>Action suggérée : </a:t>
            </a:r>
            <a:r>
              <a:rPr sz="1500" b="0">
                <a:solidFill>
                  <a:srgbClr val="444444"/>
                </a:solidFill>
                <a:latin typeface="Arial"/>
              </a:rPr>
              <a:t>demander comment s'est passé le vol, proposer une collation ou une aide pour la correspondance.</a:t>
            </a:r>
          </a:p>
        </p:txBody>
      </p:sp>
      <p:sp>
        <p:nvSpPr>
          <p:cNvPr id="13" name="Rounded Rectangle 12"/>
          <p:cNvSpPr/>
          <p:nvPr/>
        </p:nvSpPr>
        <p:spPr>
          <a:xfrm>
            <a:off x="6314846" y="1828800"/>
            <a:ext cx="5368442" cy="4160520"/>
          </a:xfrm>
          <a:prstGeom prst="roundRect">
            <a:avLst>
              <a:gd name="adj" fmla="val 483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80606" y="2103120"/>
            <a:ext cx="4572000" cy="457200"/>
          </a:xfrm>
          <a:prstGeom prst="rect">
            <a:avLst/>
          </a:prstGeom>
          <a:noFill/>
        </p:spPr>
        <p:txBody>
          <a:bodyPr wrap="square" lIns="0" rIns="0" tIns="0" bIns="0" anchor="t">
            <a:spAutoFit/>
          </a:bodyPr>
          <a:lstStyle/>
          <a:p>
            <a:pPr algn="l"/>
            <a:r>
              <a:rPr sz="2200" b="1">
                <a:solidFill>
                  <a:srgbClr val="000000"/>
                </a:solidFill>
                <a:latin typeface="Arial"/>
              </a:rPr>
              <a:t>Jamais affiché</a:t>
            </a:r>
          </a:p>
        </p:txBody>
      </p:sp>
      <p:pic>
        <p:nvPicPr>
          <p:cNvPr id="15" name="Picture 14" descr="exclu.png"/>
          <p:cNvPicPr>
            <a:picLocks noChangeAspect="1"/>
          </p:cNvPicPr>
          <p:nvPr/>
        </p:nvPicPr>
        <p:blipFill>
          <a:blip r:embed="rId4"/>
          <a:stretch>
            <a:fillRect/>
          </a:stretch>
        </p:blipFill>
        <p:spPr>
          <a:xfrm>
            <a:off x="6680606" y="2743200"/>
            <a:ext cx="457200" cy="457200"/>
          </a:xfrm>
          <a:prstGeom prst="rect">
            <a:avLst/>
          </a:prstGeom>
        </p:spPr>
      </p:pic>
      <p:sp>
        <p:nvSpPr>
          <p:cNvPr id="16" name="TextBox 15"/>
          <p:cNvSpPr txBox="1"/>
          <p:nvPr/>
        </p:nvSpPr>
        <p:spPr>
          <a:xfrm>
            <a:off x="7366406" y="2743200"/>
            <a:ext cx="4114800" cy="457200"/>
          </a:xfrm>
          <a:prstGeom prst="rect">
            <a:avLst/>
          </a:prstGeom>
          <a:noFill/>
        </p:spPr>
        <p:txBody>
          <a:bodyPr wrap="square" lIns="0" rIns="0" tIns="0" bIns="0" anchor="ctr">
            <a:spAutoFit/>
          </a:bodyPr>
          <a:lstStyle/>
          <a:p>
            <a:pPr algn="l"/>
            <a:r>
              <a:rPr sz="1700" b="1">
                <a:solidFill>
                  <a:srgbClr val="000000"/>
                </a:solidFill>
                <a:latin typeface="Arial"/>
              </a:rPr>
              <a:t>Le score de risque</a:t>
            </a:r>
          </a:p>
        </p:txBody>
      </p:sp>
      <p:pic>
        <p:nvPicPr>
          <p:cNvPr id="17" name="Picture 16" descr="exclu.png"/>
          <p:cNvPicPr>
            <a:picLocks noChangeAspect="1"/>
          </p:cNvPicPr>
          <p:nvPr/>
        </p:nvPicPr>
        <p:blipFill>
          <a:blip r:embed="rId4"/>
          <a:stretch>
            <a:fillRect/>
          </a:stretch>
        </p:blipFill>
        <p:spPr>
          <a:xfrm>
            <a:off x="6680606" y="3474720"/>
            <a:ext cx="457200" cy="457200"/>
          </a:xfrm>
          <a:prstGeom prst="rect">
            <a:avLst/>
          </a:prstGeom>
        </p:spPr>
      </p:pic>
      <p:sp>
        <p:nvSpPr>
          <p:cNvPr id="18" name="TextBox 17"/>
          <p:cNvSpPr txBox="1"/>
          <p:nvPr/>
        </p:nvSpPr>
        <p:spPr>
          <a:xfrm>
            <a:off x="7366406" y="3474720"/>
            <a:ext cx="4114800" cy="457200"/>
          </a:xfrm>
          <a:prstGeom prst="rect">
            <a:avLst/>
          </a:prstGeom>
          <a:noFill/>
        </p:spPr>
        <p:txBody>
          <a:bodyPr wrap="square" lIns="0" rIns="0" tIns="0" bIns="0" anchor="ctr">
            <a:spAutoFit/>
          </a:bodyPr>
          <a:lstStyle/>
          <a:p>
            <a:pPr algn="l"/>
            <a:r>
              <a:rPr sz="1700" b="1">
                <a:solidFill>
                  <a:srgbClr val="000000"/>
                </a:solidFill>
                <a:latin typeface="Arial"/>
              </a:rPr>
              <a:t>L'âge ou le genre</a:t>
            </a:r>
          </a:p>
        </p:txBody>
      </p:sp>
      <p:pic>
        <p:nvPicPr>
          <p:cNvPr id="19" name="Picture 18" descr="exclu.png"/>
          <p:cNvPicPr>
            <a:picLocks noChangeAspect="1"/>
          </p:cNvPicPr>
          <p:nvPr/>
        </p:nvPicPr>
        <p:blipFill>
          <a:blip r:embed="rId4"/>
          <a:stretch>
            <a:fillRect/>
          </a:stretch>
        </p:blipFill>
        <p:spPr>
          <a:xfrm>
            <a:off x="6680606" y="4206240"/>
            <a:ext cx="457200" cy="457200"/>
          </a:xfrm>
          <a:prstGeom prst="rect">
            <a:avLst/>
          </a:prstGeom>
        </p:spPr>
      </p:pic>
      <p:sp>
        <p:nvSpPr>
          <p:cNvPr id="20" name="TextBox 19"/>
          <p:cNvSpPr txBox="1"/>
          <p:nvPr/>
        </p:nvSpPr>
        <p:spPr>
          <a:xfrm>
            <a:off x="7366406" y="4206240"/>
            <a:ext cx="4114800" cy="457200"/>
          </a:xfrm>
          <a:prstGeom prst="rect">
            <a:avLst/>
          </a:prstGeom>
          <a:noFill/>
        </p:spPr>
        <p:txBody>
          <a:bodyPr wrap="square" lIns="0" rIns="0" tIns="0" bIns="0" anchor="ctr">
            <a:spAutoFit/>
          </a:bodyPr>
          <a:lstStyle/>
          <a:p>
            <a:pPr algn="l"/>
            <a:r>
              <a:rPr sz="1700" b="1">
                <a:solidFill>
                  <a:srgbClr val="000000"/>
                </a:solidFill>
                <a:latin typeface="Arial"/>
              </a:rPr>
              <a:t>Une étiquette « mécontent »</a:t>
            </a:r>
          </a:p>
        </p:txBody>
      </p:sp>
      <p:pic>
        <p:nvPicPr>
          <p:cNvPr id="21" name="Picture 20" descr="exclu.png"/>
          <p:cNvPicPr>
            <a:picLocks noChangeAspect="1"/>
          </p:cNvPicPr>
          <p:nvPr/>
        </p:nvPicPr>
        <p:blipFill>
          <a:blip r:embed="rId4"/>
          <a:stretch>
            <a:fillRect/>
          </a:stretch>
        </p:blipFill>
        <p:spPr>
          <a:xfrm>
            <a:off x="6680606" y="4937760"/>
            <a:ext cx="457200" cy="457200"/>
          </a:xfrm>
          <a:prstGeom prst="rect">
            <a:avLst/>
          </a:prstGeom>
        </p:spPr>
      </p:pic>
      <p:sp>
        <p:nvSpPr>
          <p:cNvPr id="22" name="TextBox 21"/>
          <p:cNvSpPr txBox="1"/>
          <p:nvPr/>
        </p:nvSpPr>
        <p:spPr>
          <a:xfrm>
            <a:off x="7366406" y="4937760"/>
            <a:ext cx="4114800" cy="457200"/>
          </a:xfrm>
          <a:prstGeom prst="rect">
            <a:avLst/>
          </a:prstGeom>
          <a:noFill/>
        </p:spPr>
        <p:txBody>
          <a:bodyPr wrap="square" lIns="0" rIns="0" tIns="0" bIns="0" anchor="ctr">
            <a:spAutoFit/>
          </a:bodyPr>
          <a:lstStyle/>
          <a:p>
            <a:pPr algn="l"/>
            <a:r>
              <a:rPr sz="1700" b="1">
                <a:solidFill>
                  <a:srgbClr val="000000"/>
                </a:solidFill>
                <a:latin typeface="Arial"/>
              </a:rPr>
              <a:t>Les réponses à l'enquête</a:t>
            </a:r>
          </a:p>
        </p:txBody>
      </p:sp>
      <p:sp>
        <p:nvSpPr>
          <p:cNvPr id="23" name="TextBox 22"/>
          <p:cNvSpPr txBox="1"/>
          <p:nvPr/>
        </p:nvSpPr>
        <p:spPr>
          <a:xfrm>
            <a:off x="508406" y="6327648"/>
            <a:ext cx="8229600" cy="274320"/>
          </a:xfrm>
          <a:prstGeom prst="rect">
            <a:avLst/>
          </a:prstGeom>
          <a:noFill/>
        </p:spPr>
        <p:txBody>
          <a:bodyPr wrap="square" lIns="0" rIns="0" tIns="0" bIns="0" anchor="ctr">
            <a:spAutoFit/>
          </a:bodyPr>
          <a:lstStyle/>
          <a:p>
            <a:pPr algn="l"/>
            <a:r>
              <a:rPr sz="1100" b="0">
                <a:solidFill>
                  <a:srgbClr val="8A8A8A"/>
                </a:solidFill>
                <a:latin typeface="Arial"/>
              </a:rPr>
              <a:t>Volet 3 — Encadrer · Côme · exemple d'écran (vol fictif)</a:t>
            </a:r>
          </a:p>
        </p:txBody>
      </p:sp>
      <p:sp>
        <p:nvSpPr>
          <p:cNvPr id="24" name="Oval 23"/>
          <p:cNvSpPr/>
          <p:nvPr/>
        </p:nvSpPr>
        <p:spPr>
          <a:xfrm>
            <a:off x="831829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7374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62919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78464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94008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09553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25098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40643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56188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71732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87277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02822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367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33912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49456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65001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80546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096091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1116360" y="6419088"/>
            <a:ext cx="256032" cy="91440"/>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1436400"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159184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Oval 1"/>
          <p:cNvSpPr/>
          <p:nvPr/>
        </p:nvSpPr>
        <p:spPr>
          <a:xfrm>
            <a:off x="508406" y="457200"/>
            <a:ext cx="164592" cy="164592"/>
          </a:xfrm>
          <a:prstGeom prst="ellipse">
            <a:avLst/>
          </a:prstGeom>
          <a:solidFill>
            <a:srgbClr val="009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7006" y="457200"/>
            <a:ext cx="164592" cy="164592"/>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65606" y="457200"/>
            <a:ext cx="164592" cy="164592"/>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406" y="777240"/>
            <a:ext cx="11174882" cy="914400"/>
          </a:xfrm>
          <a:prstGeom prst="rect">
            <a:avLst/>
          </a:prstGeom>
          <a:noFill/>
        </p:spPr>
        <p:txBody>
          <a:bodyPr wrap="square" lIns="0" rIns="0" tIns="0" bIns="0" anchor="t">
            <a:spAutoFit/>
          </a:bodyPr>
          <a:lstStyle/>
          <a:p>
            <a:pPr algn="l">
              <a:lnSpc>
                <a:spcPct val="95000"/>
              </a:lnSpc>
            </a:pPr>
            <a:r>
              <a:rPr sz="3000" b="1">
                <a:solidFill>
                  <a:srgbClr val="000000"/>
                </a:solidFill>
                <a:latin typeface="Arial"/>
              </a:rPr>
              <a:t>Où investir : le service atteint ceux qu'on n'aborde pas</a:t>
            </a:r>
          </a:p>
        </p:txBody>
      </p:sp>
      <p:sp>
        <p:nvSpPr>
          <p:cNvPr id="6" name="Rounded Rectangle 5"/>
          <p:cNvSpPr/>
          <p:nvPr/>
        </p:nvSpPr>
        <p:spPr>
          <a:xfrm>
            <a:off x="508406" y="1828800"/>
            <a:ext cx="7589520" cy="914400"/>
          </a:xfrm>
          <a:prstGeom prst="roundRect">
            <a:avLst>
              <a:gd name="adj" fmla="val 2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82726" y="2075688"/>
            <a:ext cx="411480" cy="411480"/>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2726" y="2075688"/>
            <a:ext cx="411480" cy="411480"/>
          </a:xfrm>
          <a:prstGeom prst="rect">
            <a:avLst/>
          </a:prstGeom>
          <a:noFill/>
        </p:spPr>
        <p:txBody>
          <a:bodyPr wrap="square" lIns="0" rIns="0" tIns="0" bIns="0" anchor="ctr">
            <a:spAutoFit/>
          </a:bodyPr>
          <a:lstStyle/>
          <a:p>
            <a:pPr algn="ctr"/>
            <a:r>
              <a:rPr sz="1600" b="1">
                <a:solidFill>
                  <a:srgbClr val="FFFFFF"/>
                </a:solidFill>
                <a:latin typeface="Arial"/>
              </a:rPr>
              <a:t>1</a:t>
            </a:r>
          </a:p>
        </p:txBody>
      </p:sp>
      <p:pic>
        <p:nvPicPr>
          <p:cNvPr id="9" name="Picture 8" descr="cible.png"/>
          <p:cNvPicPr>
            <a:picLocks noChangeAspect="1"/>
          </p:cNvPicPr>
          <p:nvPr/>
        </p:nvPicPr>
        <p:blipFill>
          <a:blip r:embed="rId2"/>
          <a:stretch>
            <a:fillRect/>
          </a:stretch>
        </p:blipFill>
        <p:spPr>
          <a:xfrm>
            <a:off x="7320686" y="2029968"/>
            <a:ext cx="502920" cy="502920"/>
          </a:xfrm>
          <a:prstGeom prst="rect">
            <a:avLst/>
          </a:prstGeom>
        </p:spPr>
      </p:pic>
      <p:sp>
        <p:nvSpPr>
          <p:cNvPr id="10" name="TextBox 9"/>
          <p:cNvSpPr txBox="1"/>
          <p:nvPr/>
        </p:nvSpPr>
        <p:spPr>
          <a:xfrm>
            <a:off x="1422806" y="1965960"/>
            <a:ext cx="5760720" cy="640080"/>
          </a:xfrm>
          <a:prstGeom prst="rect">
            <a:avLst/>
          </a:prstGeom>
          <a:noFill/>
        </p:spPr>
        <p:txBody>
          <a:bodyPr wrap="square" lIns="0" rIns="0" tIns="0" bIns="0" anchor="ctr">
            <a:spAutoFit/>
          </a:bodyPr>
          <a:lstStyle/>
          <a:p>
            <a:pPr algn="l"/>
            <a:r>
              <a:rPr sz="1700" b="1">
                <a:solidFill>
                  <a:srgbClr val="000000"/>
                </a:solidFill>
                <a:latin typeface="Arial"/>
              </a:rPr>
              <a:t>Parcours numérique</a:t>
            </a:r>
          </a:p>
          <a:p>
            <a:pPr algn="l"/>
            <a:r>
              <a:rPr sz="1300" b="0">
                <a:solidFill>
                  <a:srgbClr val="444444"/>
                </a:solidFill>
                <a:latin typeface="Arial"/>
              </a:rPr>
              <a:t>embarquement en ligne (voyage pro), réservation en ligne (voyage perso)</a:t>
            </a:r>
          </a:p>
        </p:txBody>
      </p:sp>
      <p:sp>
        <p:nvSpPr>
          <p:cNvPr id="11" name="Rounded Rectangle 10"/>
          <p:cNvSpPr/>
          <p:nvPr/>
        </p:nvSpPr>
        <p:spPr>
          <a:xfrm>
            <a:off x="508406" y="2907791"/>
            <a:ext cx="7589520" cy="914400"/>
          </a:xfrm>
          <a:prstGeom prst="roundRect">
            <a:avLst>
              <a:gd name="adj" fmla="val 2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2726" y="3154679"/>
            <a:ext cx="411480" cy="411480"/>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2726" y="3154679"/>
            <a:ext cx="411480" cy="411480"/>
          </a:xfrm>
          <a:prstGeom prst="rect">
            <a:avLst/>
          </a:prstGeom>
          <a:noFill/>
        </p:spPr>
        <p:txBody>
          <a:bodyPr wrap="square" lIns="0" rIns="0" tIns="0" bIns="0" anchor="ctr">
            <a:spAutoFit/>
          </a:bodyPr>
          <a:lstStyle/>
          <a:p>
            <a:pPr algn="ctr"/>
            <a:r>
              <a:rPr sz="1600" b="1">
                <a:solidFill>
                  <a:srgbClr val="FFFFFF"/>
                </a:solidFill>
                <a:latin typeface="Arial"/>
              </a:rPr>
              <a:t>2</a:t>
            </a:r>
          </a:p>
        </p:txBody>
      </p:sp>
      <p:pic>
        <p:nvPicPr>
          <p:cNvPr id="14" name="Picture 13" descr="wifi.png"/>
          <p:cNvPicPr>
            <a:picLocks noChangeAspect="1"/>
          </p:cNvPicPr>
          <p:nvPr/>
        </p:nvPicPr>
        <p:blipFill>
          <a:blip r:embed="rId3"/>
          <a:stretch>
            <a:fillRect/>
          </a:stretch>
        </p:blipFill>
        <p:spPr>
          <a:xfrm>
            <a:off x="7320686" y="3108960"/>
            <a:ext cx="502920" cy="502920"/>
          </a:xfrm>
          <a:prstGeom prst="rect">
            <a:avLst/>
          </a:prstGeom>
        </p:spPr>
      </p:pic>
      <p:sp>
        <p:nvSpPr>
          <p:cNvPr id="15" name="TextBox 14"/>
          <p:cNvSpPr txBox="1"/>
          <p:nvPr/>
        </p:nvSpPr>
        <p:spPr>
          <a:xfrm>
            <a:off x="1422806" y="3044951"/>
            <a:ext cx="5760720" cy="640080"/>
          </a:xfrm>
          <a:prstGeom prst="rect">
            <a:avLst/>
          </a:prstGeom>
          <a:noFill/>
        </p:spPr>
        <p:txBody>
          <a:bodyPr wrap="square" lIns="0" rIns="0" tIns="0" bIns="0" anchor="ctr">
            <a:spAutoFit/>
          </a:bodyPr>
          <a:lstStyle/>
          <a:p>
            <a:pPr algn="l"/>
            <a:r>
              <a:rPr sz="1700" b="1">
                <a:solidFill>
                  <a:srgbClr val="000000"/>
                </a:solidFill>
                <a:latin typeface="Arial"/>
              </a:rPr>
              <a:t>Wi-Fi en vol</a:t>
            </a:r>
          </a:p>
          <a:p>
            <a:pPr algn="l"/>
            <a:r>
              <a:rPr sz="1300" b="0">
                <a:solidFill>
                  <a:srgbClr val="444444"/>
                </a:solidFill>
                <a:latin typeface="Arial"/>
              </a:rPr>
              <a:t>le service le plus pénalisant pour les voyageurs perso (écart de 2,10)</a:t>
            </a:r>
          </a:p>
        </p:txBody>
      </p:sp>
      <p:sp>
        <p:nvSpPr>
          <p:cNvPr id="16" name="Rounded Rectangle 15"/>
          <p:cNvSpPr/>
          <p:nvPr/>
        </p:nvSpPr>
        <p:spPr>
          <a:xfrm>
            <a:off x="508406" y="3986783"/>
            <a:ext cx="7589520" cy="914400"/>
          </a:xfrm>
          <a:prstGeom prst="roundRect">
            <a:avLst>
              <a:gd name="adj" fmla="val 2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82726" y="4233671"/>
            <a:ext cx="411480" cy="411480"/>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2726" y="4233671"/>
            <a:ext cx="411480" cy="411480"/>
          </a:xfrm>
          <a:prstGeom prst="rect">
            <a:avLst/>
          </a:prstGeom>
          <a:noFill/>
        </p:spPr>
        <p:txBody>
          <a:bodyPr wrap="square" lIns="0" rIns="0" tIns="0" bIns="0" anchor="ctr">
            <a:spAutoFit/>
          </a:bodyPr>
          <a:lstStyle/>
          <a:p>
            <a:pPr algn="ctr"/>
            <a:r>
              <a:rPr sz="1600" b="1">
                <a:solidFill>
                  <a:srgbClr val="FFFFFF"/>
                </a:solidFill>
                <a:latin typeface="Arial"/>
              </a:rPr>
              <a:t>3</a:t>
            </a:r>
          </a:p>
        </p:txBody>
      </p:sp>
      <p:pic>
        <p:nvPicPr>
          <p:cNvPr id="19" name="Picture 18" descr="siege.png"/>
          <p:cNvPicPr>
            <a:picLocks noChangeAspect="1"/>
          </p:cNvPicPr>
          <p:nvPr/>
        </p:nvPicPr>
        <p:blipFill>
          <a:blip r:embed="rId4"/>
          <a:stretch>
            <a:fillRect/>
          </a:stretch>
        </p:blipFill>
        <p:spPr>
          <a:xfrm>
            <a:off x="7320686" y="4187951"/>
            <a:ext cx="502920" cy="502920"/>
          </a:xfrm>
          <a:prstGeom prst="rect">
            <a:avLst/>
          </a:prstGeom>
        </p:spPr>
      </p:pic>
      <p:sp>
        <p:nvSpPr>
          <p:cNvPr id="20" name="TextBox 19"/>
          <p:cNvSpPr txBox="1"/>
          <p:nvPr/>
        </p:nvSpPr>
        <p:spPr>
          <a:xfrm>
            <a:off x="1422806" y="4123944"/>
            <a:ext cx="5760720" cy="640080"/>
          </a:xfrm>
          <a:prstGeom prst="rect">
            <a:avLst/>
          </a:prstGeom>
          <a:noFill/>
        </p:spPr>
        <p:txBody>
          <a:bodyPr wrap="square" lIns="0" rIns="0" tIns="0" bIns="0" anchor="ctr">
            <a:spAutoFit/>
          </a:bodyPr>
          <a:lstStyle/>
          <a:p>
            <a:pPr algn="l"/>
            <a:r>
              <a:rPr sz="1700" b="1">
                <a:solidFill>
                  <a:srgbClr val="000000"/>
                </a:solidFill>
                <a:latin typeface="Arial"/>
              </a:rPr>
              <a:t>Cabines</a:t>
            </a:r>
          </a:p>
          <a:p>
            <a:pPr algn="l"/>
            <a:r>
              <a:rPr sz="1300" b="0">
                <a:solidFill>
                  <a:srgbClr val="444444"/>
                </a:solidFill>
                <a:latin typeface="Arial"/>
              </a:rPr>
              <a:t>confort du siège et divertissement, d'abord sur les lignes affaires</a:t>
            </a:r>
          </a:p>
        </p:txBody>
      </p:sp>
      <p:sp>
        <p:nvSpPr>
          <p:cNvPr id="21" name="Rounded Rectangle 20"/>
          <p:cNvSpPr/>
          <p:nvPr/>
        </p:nvSpPr>
        <p:spPr>
          <a:xfrm>
            <a:off x="508406" y="5065776"/>
            <a:ext cx="7589520" cy="914400"/>
          </a:xfrm>
          <a:prstGeom prst="roundRect">
            <a:avLst>
              <a:gd name="adj" fmla="val 2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82726" y="5312664"/>
            <a:ext cx="411480" cy="41148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2726" y="5312664"/>
            <a:ext cx="411480" cy="411480"/>
          </a:xfrm>
          <a:prstGeom prst="rect">
            <a:avLst/>
          </a:prstGeom>
          <a:noFill/>
        </p:spPr>
        <p:txBody>
          <a:bodyPr wrap="square" lIns="0" rIns="0" tIns="0" bIns="0" anchor="ctr">
            <a:spAutoFit/>
          </a:bodyPr>
          <a:lstStyle/>
          <a:p>
            <a:pPr algn="ctr"/>
            <a:r>
              <a:rPr sz="1600" b="1">
                <a:solidFill>
                  <a:srgbClr val="000000"/>
                </a:solidFill>
                <a:latin typeface="Arial"/>
              </a:rPr>
              <a:t>–</a:t>
            </a:r>
          </a:p>
        </p:txBody>
      </p:sp>
      <p:pic>
        <p:nvPicPr>
          <p:cNvPr id="24" name="Picture 23" descr="exclu.png"/>
          <p:cNvPicPr>
            <a:picLocks noChangeAspect="1"/>
          </p:cNvPicPr>
          <p:nvPr/>
        </p:nvPicPr>
        <p:blipFill>
          <a:blip r:embed="rId5"/>
          <a:stretch>
            <a:fillRect/>
          </a:stretch>
        </p:blipFill>
        <p:spPr>
          <a:xfrm>
            <a:off x="7320686" y="5266944"/>
            <a:ext cx="502920" cy="502920"/>
          </a:xfrm>
          <a:prstGeom prst="rect">
            <a:avLst/>
          </a:prstGeom>
        </p:spPr>
      </p:pic>
      <p:sp>
        <p:nvSpPr>
          <p:cNvPr id="25" name="TextBox 24"/>
          <p:cNvSpPr txBox="1"/>
          <p:nvPr/>
        </p:nvSpPr>
        <p:spPr>
          <a:xfrm>
            <a:off x="1422806" y="5202936"/>
            <a:ext cx="5760720" cy="640080"/>
          </a:xfrm>
          <a:prstGeom prst="rect">
            <a:avLst/>
          </a:prstGeom>
          <a:noFill/>
        </p:spPr>
        <p:txBody>
          <a:bodyPr wrap="square" lIns="0" rIns="0" tIns="0" bIns="0" anchor="ctr">
            <a:spAutoFit/>
          </a:bodyPr>
          <a:lstStyle/>
          <a:p>
            <a:pPr algn="l"/>
            <a:r>
              <a:rPr sz="1700" b="1">
                <a:solidFill>
                  <a:srgbClr val="000000"/>
                </a:solidFill>
                <a:latin typeface="Arial"/>
              </a:rPr>
              <a:t>Pas de budget</a:t>
            </a:r>
          </a:p>
          <a:p>
            <a:pPr algn="l"/>
            <a:r>
              <a:rPr sz="1300" b="0">
                <a:solidFill>
                  <a:srgbClr val="444444"/>
                </a:solidFill>
                <a:latin typeface="Arial"/>
              </a:rPr>
              <a:t>pour l'emplacement des portes et les horaires, sans lien avec la satisfaction</a:t>
            </a:r>
          </a:p>
        </p:txBody>
      </p:sp>
      <p:sp>
        <p:nvSpPr>
          <p:cNvPr id="26" name="Rounded Rectangle 25"/>
          <p:cNvSpPr/>
          <p:nvPr/>
        </p:nvSpPr>
        <p:spPr>
          <a:xfrm>
            <a:off x="8417966" y="1828800"/>
            <a:ext cx="3265322" cy="4151376"/>
          </a:xfrm>
          <a:prstGeom prst="roundRect">
            <a:avLst>
              <a:gd name="adj" fmla="val 616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mecontent.png"/>
          <p:cNvPicPr>
            <a:picLocks noChangeAspect="1"/>
          </p:cNvPicPr>
          <p:nvPr/>
        </p:nvPicPr>
        <p:blipFill>
          <a:blip r:embed="rId6"/>
          <a:stretch>
            <a:fillRect/>
          </a:stretch>
        </p:blipFill>
        <p:spPr>
          <a:xfrm>
            <a:off x="8783726" y="2148840"/>
            <a:ext cx="685800" cy="685800"/>
          </a:xfrm>
          <a:prstGeom prst="rect">
            <a:avLst/>
          </a:prstGeom>
        </p:spPr>
      </p:pic>
      <p:sp>
        <p:nvSpPr>
          <p:cNvPr id="28" name="TextBox 27"/>
          <p:cNvSpPr txBox="1"/>
          <p:nvPr/>
        </p:nvSpPr>
        <p:spPr>
          <a:xfrm>
            <a:off x="8783726" y="3017520"/>
            <a:ext cx="2926080" cy="822960"/>
          </a:xfrm>
          <a:prstGeom prst="rect">
            <a:avLst/>
          </a:prstGeom>
          <a:noFill/>
        </p:spPr>
        <p:txBody>
          <a:bodyPr wrap="square" lIns="0" rIns="0" tIns="0" bIns="0" anchor="t">
            <a:spAutoFit/>
          </a:bodyPr>
          <a:lstStyle/>
          <a:p>
            <a:pPr algn="l"/>
            <a:r>
              <a:rPr sz="5400" b="1">
                <a:solidFill>
                  <a:srgbClr val="000000"/>
                </a:solidFill>
                <a:latin typeface="Arial"/>
              </a:rPr>
              <a:t>470</a:t>
            </a:r>
          </a:p>
        </p:txBody>
      </p:sp>
      <p:sp>
        <p:nvSpPr>
          <p:cNvPr id="29" name="TextBox 28"/>
          <p:cNvSpPr txBox="1"/>
          <p:nvPr/>
        </p:nvSpPr>
        <p:spPr>
          <a:xfrm>
            <a:off x="8783726" y="3886200"/>
            <a:ext cx="2926080" cy="1280160"/>
          </a:xfrm>
          <a:prstGeom prst="rect">
            <a:avLst/>
          </a:prstGeom>
          <a:noFill/>
        </p:spPr>
        <p:txBody>
          <a:bodyPr wrap="square" lIns="0" rIns="0" tIns="0" bIns="0" anchor="t">
            <a:spAutoFit/>
          </a:bodyPr>
          <a:lstStyle/>
          <a:p>
            <a:pPr algn="l"/>
            <a:r>
              <a:rPr sz="1400" b="0">
                <a:solidFill>
                  <a:srgbClr val="444444"/>
                </a:solidFill>
                <a:latin typeface="Arial"/>
              </a:rPr>
              <a:t>mécontents sur 1 000 passagers ne pourront pas être abordés : seule l'amélioration du service les atteint.</a:t>
            </a:r>
          </a:p>
        </p:txBody>
      </p:sp>
      <p:sp>
        <p:nvSpPr>
          <p:cNvPr id="30" name="TextBox 29"/>
          <p:cNvSpPr txBox="1"/>
          <p:nvPr/>
        </p:nvSpPr>
        <p:spPr>
          <a:xfrm>
            <a:off x="508406" y="6327648"/>
            <a:ext cx="8229600" cy="274320"/>
          </a:xfrm>
          <a:prstGeom prst="rect">
            <a:avLst/>
          </a:prstGeom>
          <a:noFill/>
        </p:spPr>
        <p:txBody>
          <a:bodyPr wrap="square" lIns="0" rIns="0" tIns="0" bIns="0" anchor="ctr">
            <a:spAutoFit/>
          </a:bodyPr>
          <a:lstStyle/>
          <a:p>
            <a:pPr algn="l"/>
            <a:r>
              <a:rPr sz="1100" b="0">
                <a:solidFill>
                  <a:srgbClr val="8A8A8A"/>
                </a:solidFill>
                <a:latin typeface="Arial"/>
              </a:rPr>
              <a:t>Volet 1 — Expliquer · Léa</a:t>
            </a:r>
          </a:p>
        </p:txBody>
      </p:sp>
      <p:sp>
        <p:nvSpPr>
          <p:cNvPr id="31" name="Oval 30"/>
          <p:cNvSpPr/>
          <p:nvPr/>
        </p:nvSpPr>
        <p:spPr>
          <a:xfrm>
            <a:off x="831829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47374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62919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78464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94008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09553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925098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40643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956188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71732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87277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02822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018367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33912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49456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65001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80546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96091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111636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11271808" y="6419088"/>
            <a:ext cx="256032" cy="91440"/>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1591848" y="6419088"/>
            <a:ext cx="91440" cy="91440"/>
          </a:xfrm>
          <a:prstGeom prst="ellipse">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Oval 1"/>
          <p:cNvSpPr/>
          <p:nvPr/>
        </p:nvSpPr>
        <p:spPr>
          <a:xfrm>
            <a:off x="508406" y="457200"/>
            <a:ext cx="164592" cy="164592"/>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7006" y="457200"/>
            <a:ext cx="164592" cy="164592"/>
          </a:xfrm>
          <a:prstGeom prst="ellipse">
            <a:avLst/>
          </a:prstGeom>
          <a:solidFill>
            <a:srgbClr val="009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65606" y="457200"/>
            <a:ext cx="164592" cy="164592"/>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406" y="777240"/>
            <a:ext cx="11174882" cy="914400"/>
          </a:xfrm>
          <a:prstGeom prst="rect">
            <a:avLst/>
          </a:prstGeom>
          <a:noFill/>
        </p:spPr>
        <p:txBody>
          <a:bodyPr wrap="square" lIns="0" rIns="0" tIns="0" bIns="0" anchor="t">
            <a:spAutoFit/>
          </a:bodyPr>
          <a:lstStyle/>
          <a:p>
            <a:pPr algn="l">
              <a:lnSpc>
                <a:spcPct val="95000"/>
              </a:lnSpc>
            </a:pPr>
            <a:r>
              <a:rPr sz="3000" b="1">
                <a:solidFill>
                  <a:srgbClr val="000000"/>
                </a:solidFill>
                <a:latin typeface="Arial"/>
              </a:rPr>
              <a:t>Ce que nous vous proposons</a:t>
            </a:r>
          </a:p>
        </p:txBody>
      </p:sp>
      <p:sp>
        <p:nvSpPr>
          <p:cNvPr id="6" name="Rounded Rectangle 5"/>
          <p:cNvSpPr/>
          <p:nvPr/>
        </p:nvSpPr>
        <p:spPr>
          <a:xfrm>
            <a:off x="508406" y="1828800"/>
            <a:ext cx="11174882" cy="1207008"/>
          </a:xfrm>
          <a:prstGeom prst="roundRect">
            <a:avLst>
              <a:gd name="adj" fmla="val 166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74166" y="2130552"/>
            <a:ext cx="603504" cy="603504"/>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4166" y="2130552"/>
            <a:ext cx="603504" cy="603504"/>
          </a:xfrm>
          <a:prstGeom prst="rect">
            <a:avLst/>
          </a:prstGeom>
          <a:noFill/>
        </p:spPr>
        <p:txBody>
          <a:bodyPr wrap="square" lIns="0" rIns="0" tIns="0" bIns="0" anchor="ctr">
            <a:spAutoFit/>
          </a:bodyPr>
          <a:lstStyle/>
          <a:p>
            <a:pPr algn="ctr"/>
            <a:r>
              <a:rPr sz="2400" b="1">
                <a:solidFill>
                  <a:srgbClr val="FFFFFF"/>
                </a:solidFill>
                <a:latin typeface="Arial"/>
              </a:rPr>
              <a:t>1</a:t>
            </a:r>
          </a:p>
        </p:txBody>
      </p:sp>
      <p:sp>
        <p:nvSpPr>
          <p:cNvPr id="9" name="TextBox 8"/>
          <p:cNvSpPr txBox="1"/>
          <p:nvPr/>
        </p:nvSpPr>
        <p:spPr>
          <a:xfrm>
            <a:off x="1742846" y="1993392"/>
            <a:ext cx="8778240" cy="914400"/>
          </a:xfrm>
          <a:prstGeom prst="rect">
            <a:avLst/>
          </a:prstGeom>
          <a:noFill/>
        </p:spPr>
        <p:txBody>
          <a:bodyPr wrap="square" lIns="0" rIns="0" tIns="0" bIns="0" anchor="ctr">
            <a:spAutoFit/>
          </a:bodyPr>
          <a:lstStyle/>
          <a:p>
            <a:pPr algn="l"/>
            <a:r>
              <a:rPr sz="2200" b="1">
                <a:solidFill>
                  <a:srgbClr val="000000"/>
                </a:solidFill>
                <a:latin typeface="Arial"/>
              </a:rPr>
              <a:t>Financer le parcours numérique, le wi-fi et les cabines</a:t>
            </a:r>
          </a:p>
          <a:p>
            <a:pPr algn="l"/>
            <a:r>
              <a:rPr sz="1500" b="0">
                <a:solidFill>
                  <a:srgbClr val="444444"/>
                </a:solidFill>
                <a:latin typeface="Arial"/>
              </a:rPr>
              <a:t>priorités issues de l'analyse de satisfaction</a:t>
            </a:r>
          </a:p>
        </p:txBody>
      </p:sp>
      <p:pic>
        <p:nvPicPr>
          <p:cNvPr id="10" name="Picture 9" descr="satisfait.png"/>
          <p:cNvPicPr>
            <a:picLocks noChangeAspect="1"/>
          </p:cNvPicPr>
          <p:nvPr/>
        </p:nvPicPr>
        <p:blipFill>
          <a:blip r:embed="rId2"/>
          <a:stretch>
            <a:fillRect/>
          </a:stretch>
        </p:blipFill>
        <p:spPr>
          <a:xfrm>
            <a:off x="10586008" y="2048256"/>
            <a:ext cx="777240" cy="777240"/>
          </a:xfrm>
          <a:prstGeom prst="rect">
            <a:avLst/>
          </a:prstGeom>
        </p:spPr>
      </p:pic>
      <p:sp>
        <p:nvSpPr>
          <p:cNvPr id="11" name="Rounded Rectangle 10"/>
          <p:cNvSpPr/>
          <p:nvPr/>
        </p:nvSpPr>
        <p:spPr>
          <a:xfrm>
            <a:off x="508406" y="3218688"/>
            <a:ext cx="11174882" cy="1207008"/>
          </a:xfrm>
          <a:prstGeom prst="roundRect">
            <a:avLst>
              <a:gd name="adj" fmla="val 166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74166" y="3520440"/>
            <a:ext cx="603504" cy="603504"/>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4166" y="3520440"/>
            <a:ext cx="603504" cy="603504"/>
          </a:xfrm>
          <a:prstGeom prst="rect">
            <a:avLst/>
          </a:prstGeom>
          <a:noFill/>
        </p:spPr>
        <p:txBody>
          <a:bodyPr wrap="square" lIns="0" rIns="0" tIns="0" bIns="0" anchor="ctr">
            <a:spAutoFit/>
          </a:bodyPr>
          <a:lstStyle/>
          <a:p>
            <a:pPr algn="ctr"/>
            <a:r>
              <a:rPr sz="2400" b="1">
                <a:solidFill>
                  <a:srgbClr val="FFFFFF"/>
                </a:solidFill>
                <a:latin typeface="Arial"/>
              </a:rPr>
              <a:t>2</a:t>
            </a:r>
          </a:p>
        </p:txBody>
      </p:sp>
      <p:sp>
        <p:nvSpPr>
          <p:cNvPr id="14" name="TextBox 13"/>
          <p:cNvSpPr txBox="1"/>
          <p:nvPr/>
        </p:nvSpPr>
        <p:spPr>
          <a:xfrm>
            <a:off x="1742846" y="3383280"/>
            <a:ext cx="8778240" cy="914400"/>
          </a:xfrm>
          <a:prstGeom prst="rect">
            <a:avLst/>
          </a:prstGeom>
          <a:noFill/>
        </p:spPr>
        <p:txBody>
          <a:bodyPr wrap="square" lIns="0" rIns="0" tIns="0" bIns="0" anchor="ctr">
            <a:spAutoFit/>
          </a:bodyPr>
          <a:lstStyle/>
          <a:p>
            <a:pPr algn="l"/>
            <a:r>
              <a:rPr sz="2200" b="1">
                <a:solidFill>
                  <a:srgbClr val="000000"/>
                </a:solidFill>
                <a:latin typeface="Arial"/>
              </a:rPr>
              <a:t>Lancer un pilote d'accueil à l'arrivée sur quelques aéroports</a:t>
            </a:r>
          </a:p>
          <a:p>
            <a:pPr algn="l"/>
            <a:r>
              <a:rPr sz="1500" b="0">
                <a:solidFill>
                  <a:srgbClr val="444444"/>
                </a:solidFill>
                <a:latin typeface="Arial"/>
              </a:rPr>
              <a:t>avec un groupe témoin non abordé, pour mesurer combien de clients reviennent vraiment</a:t>
            </a:r>
          </a:p>
        </p:txBody>
      </p:sp>
      <p:pic>
        <p:nvPicPr>
          <p:cNvPr id="15" name="Picture 14" descr="dialogue.png"/>
          <p:cNvPicPr>
            <a:picLocks noChangeAspect="1"/>
          </p:cNvPicPr>
          <p:nvPr/>
        </p:nvPicPr>
        <p:blipFill>
          <a:blip r:embed="rId3"/>
          <a:stretch>
            <a:fillRect/>
          </a:stretch>
        </p:blipFill>
        <p:spPr>
          <a:xfrm>
            <a:off x="10586008" y="3438144"/>
            <a:ext cx="777240" cy="777240"/>
          </a:xfrm>
          <a:prstGeom prst="rect">
            <a:avLst/>
          </a:prstGeom>
        </p:spPr>
      </p:pic>
      <p:sp>
        <p:nvSpPr>
          <p:cNvPr id="16" name="Rounded Rectangle 15"/>
          <p:cNvSpPr/>
          <p:nvPr/>
        </p:nvSpPr>
        <p:spPr>
          <a:xfrm>
            <a:off x="508406" y="4608576"/>
            <a:ext cx="11174882" cy="1207008"/>
          </a:xfrm>
          <a:prstGeom prst="roundRect">
            <a:avLst>
              <a:gd name="adj" fmla="val 166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74166" y="4910328"/>
            <a:ext cx="603504" cy="603504"/>
          </a:xfrm>
          <a:prstGeom prst="ellipse">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4166" y="4910328"/>
            <a:ext cx="603504" cy="603504"/>
          </a:xfrm>
          <a:prstGeom prst="rect">
            <a:avLst/>
          </a:prstGeom>
          <a:noFill/>
        </p:spPr>
        <p:txBody>
          <a:bodyPr wrap="square" lIns="0" rIns="0" tIns="0" bIns="0" anchor="ctr">
            <a:spAutoFit/>
          </a:bodyPr>
          <a:lstStyle/>
          <a:p>
            <a:pPr algn="ctr"/>
            <a:r>
              <a:rPr sz="2400" b="1">
                <a:solidFill>
                  <a:srgbClr val="FFFFFF"/>
                </a:solidFill>
                <a:latin typeface="Arial"/>
              </a:rPr>
              <a:t>3</a:t>
            </a:r>
          </a:p>
        </p:txBody>
      </p:sp>
      <p:sp>
        <p:nvSpPr>
          <p:cNvPr id="19" name="TextBox 18"/>
          <p:cNvSpPr txBox="1"/>
          <p:nvPr/>
        </p:nvSpPr>
        <p:spPr>
          <a:xfrm>
            <a:off x="1742846" y="4773168"/>
            <a:ext cx="8778240" cy="914400"/>
          </a:xfrm>
          <a:prstGeom prst="rect">
            <a:avLst/>
          </a:prstGeom>
          <a:noFill/>
        </p:spPr>
        <p:txBody>
          <a:bodyPr wrap="square" lIns="0" rIns="0" tIns="0" bIns="0" anchor="ctr">
            <a:spAutoFit/>
          </a:bodyPr>
          <a:lstStyle/>
          <a:p>
            <a:pPr algn="l"/>
            <a:r>
              <a:rPr sz="2200" b="1">
                <a:solidFill>
                  <a:srgbClr val="000000"/>
                </a:solidFill>
                <a:latin typeface="Arial"/>
              </a:rPr>
              <a:t>Encadrer l'usage des données avant tout déploiement</a:t>
            </a:r>
          </a:p>
          <a:p>
            <a:pPr algn="l"/>
            <a:r>
              <a:rPr sz="1500" b="0">
                <a:solidFill>
                  <a:srgbClr val="444444"/>
                </a:solidFill>
                <a:latin typeface="Arial"/>
              </a:rPr>
              <a:t>analyse d'impact, information des passagers, aucun mineur signalé, écran agent minimal</a:t>
            </a:r>
          </a:p>
        </p:txBody>
      </p:sp>
      <p:pic>
        <p:nvPicPr>
          <p:cNvPr id="20" name="Picture 19" descr="bouclier.png"/>
          <p:cNvPicPr>
            <a:picLocks noChangeAspect="1"/>
          </p:cNvPicPr>
          <p:nvPr/>
        </p:nvPicPr>
        <p:blipFill>
          <a:blip r:embed="rId4"/>
          <a:stretch>
            <a:fillRect/>
          </a:stretch>
        </p:blipFill>
        <p:spPr>
          <a:xfrm>
            <a:off x="10586008" y="4828032"/>
            <a:ext cx="777240" cy="777240"/>
          </a:xfrm>
          <a:prstGeom prst="rect">
            <a:avLst/>
          </a:prstGeom>
        </p:spPr>
      </p:pic>
      <p:sp>
        <p:nvSpPr>
          <p:cNvPr id="21" name="TextBox 20"/>
          <p:cNvSpPr txBox="1"/>
          <p:nvPr/>
        </p:nvSpPr>
        <p:spPr>
          <a:xfrm>
            <a:off x="508406" y="6327648"/>
            <a:ext cx="8229600" cy="274320"/>
          </a:xfrm>
          <a:prstGeom prst="rect">
            <a:avLst/>
          </a:prstGeom>
          <a:noFill/>
        </p:spPr>
        <p:txBody>
          <a:bodyPr wrap="square" lIns="0" rIns="0" tIns="0" bIns="0" anchor="ctr">
            <a:spAutoFit/>
          </a:bodyPr>
          <a:lstStyle/>
          <a:p>
            <a:pPr algn="l"/>
            <a:r>
              <a:rPr sz="1100" b="0">
                <a:solidFill>
                  <a:srgbClr val="8A8A8A"/>
                </a:solidFill>
                <a:latin typeface="Arial"/>
              </a:rPr>
              <a:t>Décisions demandées à la direction Expérience Client — Côme</a:t>
            </a:r>
          </a:p>
        </p:txBody>
      </p:sp>
      <p:sp>
        <p:nvSpPr>
          <p:cNvPr id="22" name="Oval 21"/>
          <p:cNvSpPr/>
          <p:nvPr/>
        </p:nvSpPr>
        <p:spPr>
          <a:xfrm>
            <a:off x="831829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47374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62919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78464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94008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09553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5098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40643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56188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71732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87277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2822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18367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33912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49456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650016"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805464"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960912"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1116360"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1271808" y="6419088"/>
            <a:ext cx="91440" cy="9144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1427256" y="6419088"/>
            <a:ext cx="256032" cy="91440"/>
          </a:xfrm>
          <a:prstGeom prst="roundRect">
            <a:avLst>
              <a:gd name="adj" fmla="val 50000"/>
            </a:avLst>
          </a:prstGeom>
          <a:solidFill>
            <a:srgbClr val="005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