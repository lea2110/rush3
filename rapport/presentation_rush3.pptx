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valeurs</c:v>
                </c:pt>
              </c:strCache>
            </c:strRef>
          </c:tx>
          <c:invertIfNegative val="0"/>
          <c:dPt>
            <c:idx val="0"/>
            <c:invertIfNegative val="0"/>
            <c:spPr>
              <a:solidFill>
                <a:srgbClr val="009925"/>
              </a:solidFill>
              <a:ln>
                <a:noFill/>
              </a:ln>
            </c:spPr>
          </c:dPt>
          <c:dPt>
            <c:idx val="1"/>
            <c:invertIfNegative val="0"/>
            <c:spPr>
              <a:solidFill>
                <a:srgbClr val="009925"/>
              </a:solidFill>
              <a:ln>
                <a:noFill/>
              </a:ln>
            </c:spPr>
          </c:dPt>
          <c:dPt>
            <c:idx val="2"/>
            <c:invertIfNegative val="0"/>
            <c:spPr>
              <a:solidFill>
                <a:srgbClr val="009925"/>
              </a:solidFill>
              <a:ln>
                <a:noFill/>
              </a:ln>
            </c:spPr>
          </c:dPt>
          <c:dPt>
            <c:idx val="3"/>
            <c:invertIfNegative val="0"/>
            <c:spPr>
              <a:solidFill>
                <a:srgbClr val="009925"/>
              </a:solidFill>
              <a:ln>
                <a:noFill/>
              </a:ln>
            </c:spPr>
          </c:dPt>
          <c:dPt>
            <c:idx val="4"/>
            <c:invertIfNegative val="0"/>
            <c:spPr>
              <a:solidFill>
                <a:srgbClr val="009925"/>
              </a:solidFill>
              <a:ln>
                <a:noFill/>
              </a:ln>
            </c:spPr>
          </c:dPt>
          <c:dPt>
            <c:idx val="5"/>
            <c:invertIfNegative val="0"/>
            <c:spPr>
              <a:solidFill>
                <a:srgbClr val="009925"/>
              </a:solidFill>
              <a:ln>
                <a:noFill/>
              </a:ln>
            </c:spPr>
          </c:dPt>
          <c:dPt>
            <c:idx val="6"/>
            <c:invertIfNegative val="0"/>
            <c:spPr>
              <a:solidFill>
                <a:srgbClr val="009925"/>
              </a:solidFill>
              <a:ln>
                <a:noFill/>
              </a:ln>
            </c:spPr>
          </c:dPt>
          <c:cat>
            <c:strRef>
              <c:f>Sheet1!$A$2:$A$8</c:f>
              <c:strCache>
                <c:ptCount val="7"/>
                <c:pt idx="0">
                  <c:v>Voyage pro</c:v>
                </c:pt>
                <c:pt idx="1">
                  <c:v>Voyage perso</c:v>
                </c:pt>
                <c:pt idx="2">
                  <c:v>Classe Business</c:v>
                </c:pt>
                <c:pt idx="3">
                  <c:v>Classe Eco Plus</c:v>
                </c:pt>
                <c:pt idx="4">
                  <c:v>Classe Eco</c:v>
                </c:pt>
                <c:pt idx="5">
                  <c:v>Clients fidèles</c:v>
                </c:pt>
                <c:pt idx="6">
                  <c:v>Clients non fidèles</c:v>
                </c:pt>
              </c:strCache>
            </c:strRef>
          </c:cat>
          <c:val>
            <c:numRef>
              <c:f>Sheet1!$B$2:$B$8</c:f>
              <c:numCache>
                <c:formatCode>General</c:formatCode>
                <c:ptCount val="7"/>
                <c:pt idx="0">
                  <c:v>58.3</c:v>
                </c:pt>
                <c:pt idx="1">
                  <c:v>10.2</c:v>
                </c:pt>
                <c:pt idx="2">
                  <c:v>69.4</c:v>
                </c:pt>
                <c:pt idx="3">
                  <c:v>24.6</c:v>
                </c:pt>
                <c:pt idx="4">
                  <c:v>18.6</c:v>
                </c:pt>
                <c:pt idx="5">
                  <c:v>47.7</c:v>
                </c:pt>
                <c:pt idx="6">
                  <c:v>23.7</c:v>
                </c:pt>
              </c:numCache>
            </c:numRef>
          </c:val>
        </c:ser>
        <c:dLbls>
          <c:numFmt formatCode="0.0&quot; %&quot;" sourceLinked="0"/>
          <c:txPr>
            <a:bodyPr/>
            <a:lstStyle/>
            <a:p>
              <a:pPr>
                <a:defRPr sz="1300" b="1">
                  <a:solidFill>
                    <a:srgbClr val="000000"/>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9D9D9"/>
            </a:solidFill>
          </a:ln>
        </c:spPr>
        <c:txPr>
          <a:bodyPr/>
          <a:lstStyle/>
          <a:p>
            <a:pPr>
              <a:defRPr sz="1300">
                <a:solidFill>
                  <a:srgbClr val="000000"/>
                </a:solidFill>
                <a:latin typeface="Arial"/>
              </a:defRPr>
            </a:pPr>
          </a:p>
        </c:txPr>
        <c:crossAx val="-2113994440"/>
        <c:crosses val="autoZero"/>
        <c:auto val="1"/>
        <c:lblAlgn val="ctr"/>
        <c:lblOffset val="100"/>
        <c:noMultiLvlLbl val="0"/>
      </c:catAx>
      <c:valAx>
        <c:axId val="-2113994440"/>
        <c:scaling>
          <c:max val="85.0"/>
          <c:min val="0.0"/>
        </c:scaling>
        <c:delete/>
        <c:axPos val="b"/>
        <c:majorTickMark val="out"/>
        <c:minorTickMark val="none"/>
        <c:tickLblPos val="nextTo"/>
        <c:crossAx val="-2068027336"/>
        <c:crosses val="autoZero"/>
      </c:valAx>
    </c:plotArea>
    <c:dispBlanksAs val="gap"/>
  </c:chart>
  <c:txPr>
    <a:bodyPr/>
    <a:lstStyle/>
    <a:p>
      <a:pPr>
        <a:defRPr sz="13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valeurs</c:v>
                </c:pt>
              </c:strCache>
            </c:strRef>
          </c:tx>
          <c:invertIfNegative val="0"/>
          <c:dPt>
            <c:idx val="0"/>
            <c:invertIfNegative val="0"/>
            <c:spPr>
              <a:solidFill>
                <a:srgbClr val="0055FF"/>
              </a:solidFill>
              <a:ln>
                <a:noFill/>
              </a:ln>
            </c:spPr>
          </c:dPt>
          <c:dPt>
            <c:idx val="1"/>
            <c:invertIfNegative val="0"/>
            <c:spPr>
              <a:solidFill>
                <a:srgbClr val="0055FF"/>
              </a:solidFill>
              <a:ln>
                <a:noFill/>
              </a:ln>
            </c:spPr>
          </c:dPt>
          <c:dPt>
            <c:idx val="2"/>
            <c:invertIfNegative val="0"/>
            <c:spPr>
              <a:solidFill>
                <a:srgbClr val="0055FF"/>
              </a:solidFill>
              <a:ln>
                <a:noFill/>
              </a:ln>
            </c:spPr>
          </c:dPt>
          <c:dPt>
            <c:idx val="3"/>
            <c:invertIfNegative val="0"/>
            <c:spPr>
              <a:solidFill>
                <a:srgbClr val="D9D9D9"/>
              </a:solidFill>
              <a:ln>
                <a:noFill/>
              </a:ln>
            </c:spPr>
          </c:dPt>
          <c:dPt>
            <c:idx val="4"/>
            <c:invertIfNegative val="0"/>
            <c:spPr>
              <a:solidFill>
                <a:srgbClr val="D9D9D9"/>
              </a:solidFill>
              <a:ln>
                <a:noFill/>
              </a:ln>
            </c:spPr>
          </c:dPt>
          <c:dPt>
            <c:idx val="5"/>
            <c:invertIfNegative val="0"/>
            <c:spPr>
              <a:solidFill>
                <a:srgbClr val="D9D9D9"/>
              </a:solidFill>
              <a:ln>
                <a:noFill/>
              </a:ln>
            </c:spPr>
          </c:dPt>
          <c:dPt>
            <c:idx val="6"/>
            <c:invertIfNegative val="0"/>
            <c:spPr>
              <a:solidFill>
                <a:srgbClr val="D9D9D9"/>
              </a:solidFill>
              <a:ln>
                <a:noFill/>
              </a:ln>
            </c:spPr>
          </c:dPt>
          <c:dPt>
            <c:idx val="7"/>
            <c:invertIfNegative val="0"/>
            <c:spPr>
              <a:solidFill>
                <a:srgbClr val="D9D9D9"/>
              </a:solidFill>
              <a:ln>
                <a:noFill/>
              </a:ln>
            </c:spPr>
          </c:dPt>
          <c:dPt>
            <c:idx val="8"/>
            <c:invertIfNegative val="0"/>
            <c:spPr>
              <a:solidFill>
                <a:srgbClr val="D9D9D9"/>
              </a:solidFill>
              <a:ln>
                <a:noFill/>
              </a:ln>
            </c:spPr>
          </c:dPt>
          <c:dPt>
            <c:idx val="9"/>
            <c:invertIfNegative val="0"/>
            <c:spPr>
              <a:solidFill>
                <a:srgbClr val="D9D9D9"/>
              </a:solidFill>
              <a:ln>
                <a:noFill/>
              </a:ln>
            </c:spPr>
          </c:dPt>
          <c:dPt>
            <c:idx val="10"/>
            <c:invertIfNegative val="0"/>
            <c:spPr>
              <a:solidFill>
                <a:srgbClr val="D9D9D9"/>
              </a:solidFill>
              <a:ln>
                <a:noFill/>
              </a:ln>
            </c:spPr>
          </c:dPt>
          <c:dPt>
            <c:idx val="11"/>
            <c:invertIfNegative val="0"/>
            <c:spPr>
              <a:solidFill>
                <a:srgbClr val="D9D9D9"/>
              </a:solidFill>
              <a:ln>
                <a:noFill/>
              </a:ln>
            </c:spPr>
          </c:dPt>
          <c:dPt>
            <c:idx val="12"/>
            <c:invertIfNegative val="0"/>
            <c:spPr>
              <a:solidFill>
                <a:srgbClr val="D9D9D9"/>
              </a:solidFill>
              <a:ln>
                <a:noFill/>
              </a:ln>
            </c:spPr>
          </c:dPt>
          <c:dPt>
            <c:idx val="13"/>
            <c:invertIfNegative val="0"/>
            <c:spPr>
              <a:solidFill>
                <a:srgbClr val="D9D9D9"/>
              </a:solidFill>
              <a:ln>
                <a:noFill/>
              </a:ln>
            </c:spPr>
          </c:dPt>
          <c:cat>
            <c:strRef>
              <c:f>Sheet1!$A$2:$A$15</c:f>
              <c:strCache>
                <c:ptCount val="14"/>
                <c:pt idx="0">
                  <c:v>Embarquement en ligne</c:v>
                </c:pt>
                <c:pt idx="1">
                  <c:v>Divertissement à bord</c:v>
                </c:pt>
                <c:pt idx="2">
                  <c:v>Wi-Fi en vol</c:v>
                </c:pt>
                <c:pt idx="3">
                  <c:v>Confort du siège</c:v>
                </c:pt>
                <c:pt idx="4">
                  <c:v>Service à bord</c:v>
                </c:pt>
                <c:pt idx="5">
                  <c:v>Espace pour les jambes</c:v>
                </c:pt>
                <c:pt idx="6">
                  <c:v>Propreté</c:v>
                </c:pt>
                <c:pt idx="7">
                  <c:v>Réservation en ligne</c:v>
                </c:pt>
                <c:pt idx="8">
                  <c:v>Enregistrement</c:v>
                </c:pt>
                <c:pt idx="9">
                  <c:v>Bagages</c:v>
                </c:pt>
                <c:pt idx="10">
                  <c:v>Service en vol</c:v>
                </c:pt>
                <c:pt idx="11">
                  <c:v>Repas et boissons</c:v>
                </c:pt>
                <c:pt idx="12">
                  <c:v>Porte d'embarquement</c:v>
                </c:pt>
                <c:pt idx="13">
                  <c:v>Horaires pratiques</c:v>
                </c:pt>
              </c:strCache>
            </c:strRef>
          </c:cat>
          <c:val>
            <c:numRef>
              <c:f>Sheet1!$B$2:$B$15</c:f>
              <c:numCache>
                <c:formatCode>General</c:formatCode>
                <c:ptCount val="14"/>
                <c:pt idx="0">
                  <c:v>1.45</c:v>
                </c:pt>
                <c:pt idx="1">
                  <c:v>1.07</c:v>
                </c:pt>
                <c:pt idx="2">
                  <c:v>0.99</c:v>
                </c:pt>
                <c:pt idx="3">
                  <c:v>0.93</c:v>
                </c:pt>
                <c:pt idx="4">
                  <c:v>0.84</c:v>
                </c:pt>
                <c:pt idx="5">
                  <c:v>0.83</c:v>
                </c:pt>
                <c:pt idx="6">
                  <c:v>0.81</c:v>
                </c:pt>
                <c:pt idx="7">
                  <c:v>0.63</c:v>
                </c:pt>
                <c:pt idx="8">
                  <c:v>0.6</c:v>
                </c:pt>
                <c:pt idx="9">
                  <c:v>0.59</c:v>
                </c:pt>
                <c:pt idx="10">
                  <c:v>0.58</c:v>
                </c:pt>
                <c:pt idx="11">
                  <c:v>0.56</c:v>
                </c:pt>
                <c:pt idx="12">
                  <c:v>0.0</c:v>
                </c:pt>
                <c:pt idx="13">
                  <c:v>-0.14</c:v>
                </c:pt>
              </c:numCache>
            </c:numRef>
          </c:val>
        </c:ser>
        <c:dLbls>
          <c:numFmt formatCode="0.00" sourceLinked="0"/>
          <c:txPr>
            <a:bodyPr/>
            <a:lstStyle/>
            <a:p>
              <a:pPr>
                <a:defRPr sz="1300" b="1">
                  <a:solidFill>
                    <a:srgbClr val="000000"/>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9D9D9"/>
            </a:solidFill>
          </a:ln>
        </c:spPr>
        <c:txPr>
          <a:bodyPr/>
          <a:lstStyle/>
          <a:p>
            <a:pPr>
              <a:defRPr sz="1300">
                <a:solidFill>
                  <a:srgbClr val="000000"/>
                </a:solidFill>
                <a:latin typeface="Arial"/>
              </a:defRPr>
            </a:pPr>
          </a:p>
        </c:txPr>
        <c:crossAx val="-2113994440"/>
        <c:crosses val="autoZero"/>
        <c:auto val="1"/>
        <c:lblAlgn val="ctr"/>
        <c:lblOffset val="100"/>
        <c:noMultiLvlLbl val="0"/>
      </c:catAx>
      <c:valAx>
        <c:axId val="-2113994440"/>
        <c:scaling>
          <c:max val="1.75"/>
          <c:min val="-0.3"/>
        </c:scaling>
        <c:delete/>
        <c:axPos val="b"/>
        <c:majorTickMark val="out"/>
        <c:minorTickMark val="none"/>
        <c:tickLblPos val="nextTo"/>
        <c:crossAx val="-2068027336"/>
        <c:crosses val="autoZero"/>
      </c:valAx>
    </c:plotArea>
    <c:dispBlanksAs val="gap"/>
  </c:chart>
  <c:txPr>
    <a:bodyPr/>
    <a:lstStyle/>
    <a:p>
      <a:pPr>
        <a:defRPr sz="13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valeurs</c:v>
                </c:pt>
              </c:strCache>
            </c:strRef>
          </c:tx>
          <c:invertIfNegative val="0"/>
          <c:dPt>
            <c:idx val="0"/>
            <c:invertIfNegative val="0"/>
            <c:spPr>
              <a:solidFill>
                <a:srgbClr val="D9D9D9"/>
              </a:solidFill>
              <a:ln>
                <a:noFill/>
              </a:ln>
            </c:spPr>
          </c:dPt>
          <c:dPt>
            <c:idx val="1"/>
            <c:invertIfNegative val="0"/>
            <c:spPr>
              <a:solidFill>
                <a:srgbClr val="D9D9D9"/>
              </a:solidFill>
              <a:ln>
                <a:noFill/>
              </a:ln>
            </c:spPr>
          </c:dPt>
          <c:dPt>
            <c:idx val="2"/>
            <c:invertIfNegative val="0"/>
            <c:spPr>
              <a:solidFill>
                <a:srgbClr val="0055FF"/>
              </a:solidFill>
              <a:ln>
                <a:noFill/>
              </a:ln>
            </c:spPr>
          </c:dPt>
          <c:cat>
            <c:strRef>
              <c:f>Sheet1!$A$2:$A$4</c:f>
              <c:strCache>
                <c:ptCount val="3"/>
                <c:pt idx="0">
                  <c:v>Hasard</c:v>
                </c:pt>
                <c:pt idx="1">
                  <c:v>Règle : Eco puis retard</c:v>
                </c:pt>
                <c:pt idx="2">
                  <c:v>Modèle retenu</c:v>
                </c:pt>
              </c:strCache>
            </c:strRef>
          </c:cat>
          <c:val>
            <c:numRef>
              <c:f>Sheet1!$B$2:$B$4</c:f>
              <c:numCache>
                <c:formatCode>General</c:formatCode>
                <c:ptCount val="3"/>
                <c:pt idx="0">
                  <c:v>1429</c:v>
                </c:pt>
                <c:pt idx="1">
                  <c:v>4459</c:v>
                </c:pt>
                <c:pt idx="2">
                  <c:v>5375</c:v>
                </c:pt>
              </c:numCache>
            </c:numRef>
          </c:val>
        </c:ser>
        <c:dLbls>
          <c:numFmt formatCode="#,##0&quot; €&quot;" sourceLinked="0"/>
          <c:txPr>
            <a:bodyPr/>
            <a:lstStyle/>
            <a:p>
              <a:pPr>
                <a:defRPr sz="1300" b="1">
                  <a:solidFill>
                    <a:srgbClr val="000000"/>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9D9D9"/>
            </a:solidFill>
          </a:ln>
        </c:spPr>
        <c:txPr>
          <a:bodyPr/>
          <a:lstStyle/>
          <a:p>
            <a:pPr>
              <a:defRPr sz="1300">
                <a:solidFill>
                  <a:srgbClr val="000000"/>
                </a:solidFill>
                <a:latin typeface="Arial"/>
              </a:defRPr>
            </a:pPr>
          </a:p>
        </c:txPr>
        <c:crossAx val="-2113994440"/>
        <c:crosses val="autoZero"/>
        <c:auto val="1"/>
        <c:lblAlgn val="ctr"/>
        <c:lblOffset val="100"/>
        <c:noMultiLvlLbl val="0"/>
      </c:catAx>
      <c:valAx>
        <c:axId val="-2113994440"/>
        <c:scaling>
          <c:max val="6600.0"/>
          <c:min val="0.0"/>
        </c:scaling>
        <c:delete/>
        <c:axPos val="b"/>
        <c:majorTickMark val="out"/>
        <c:minorTickMark val="none"/>
        <c:tickLblPos val="nextTo"/>
        <c:crossAx val="-2068027336"/>
        <c:crosses val="autoZero"/>
      </c:valAx>
    </c:plotArea>
    <c:dispBlanksAs val="gap"/>
  </c:chart>
  <c:txPr>
    <a:bodyPr/>
    <a:lstStyle/>
    <a:p>
      <a:pPr>
        <a:defRPr sz="13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Introduction (20 s). Nous sommes consultants data pour la direction Expérience Client. Plus de la moitié des passagers jugent leur vol neutre ou décevant. Vous nous avez posé deux questions : où investir votre budget, et qui aborder à l'arrivée avant qu'il quitte l'aéroport. Léa répond à la première, Jeanne à la seconde, et je vous présenterai les conditions pour le faire dans le respect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Synthèse (40 s). Trois messages : 1) la satisfaction est de 43 %, et elle dépend surtout du motif du voyage et de la classe ; le budget doit cibler le parcours numérique, le wi-fi et les cabines. 2) Notre modèle permet d'aborder les bons passagers : sur 100 abordés, 94 sont vraiment mécontents, soit 5 375 € gagnés pour 1 000 passagers. 3) Le dispositif respecte les données : aucun enfant signalé, le minimum d'information pour les agents.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Données (40 s). Nous avons travaillé sur 103 904 réponses. Le second fichier, 25 976 passagers, représente le mois prochain : nous ne l'avons ouvert qu'une fois, à la fin, pour mesurer le modèle retenu. Nos choix : un 0 veut dire « pas de réponse », pas une mauvaise note ; les 310 retards manquants sont remplacés par le retard au départ, presque identique ; l'identifiant est retiré. Tout est reproductible.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Profils (50 s). 58 % de satisfaits en voyage pro, seulement 10 % en voyage perso. En classe Business, 69 % ; en Eco, 19 %. Les clients fidèles sont deux fois plus satisfaits. Le genre ne joue presque pas (43 % chez les hommes comme chez les femmes). La classe et le motif du voyage sont de loin les liens les plus forts.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Services (50 s). Pour chaque service, nous comparons la note moyenne des satisfaits et des mécontents. L'embarquement en ligne arrive en tête (1,45 point d'écart), puis le divertissement et le wi-fi. À l'inverse, l'emplacement de la porte et la commodité des horaires ne sont pas liés à la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Segments (50 s). Chez les voyageurs pro, la satisfaction se joue sur l'embarquement en ligne, le divertissement et le siège. Chez les voyageurs perso, c'est presque uniquement le numérique : wi-fi (2,10 points d'écart) et réservation en ligne. Une même dépense n'aura donc pas le même effet partout.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Associé, actionnable, causal (50 s). Un lien statistique ne prouve pas une cause. La classe et le motif du voyage sont très liés à la satisfaction, mais ce sont des caractéristiques du client : on ne peut pas agir dessus directement. Le wi-fi et l'embarquement en ligne, eux, sont des leviers sur lesquels investir. Pour prouver l'effet, il faudra tester l'amélioration sur une partie des vols et comparer.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Jeanne — Variables (40 s). Vos équipes agissent à l'atterrissage : l'enquête n'existe pas encore, et la plupart des passagers n'y répondront jamais. Nous n'utilisons donc que ce que la compagnie sait déjà : classe, âge, fidélité, distance et retards. Nous écartons les notes de service, le motif du voyage, déclaré dans l'enquête, et le genre, qui ne change rien et poserait un risque de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Jeanne — Pourquoi un modèle (50 s). Le motif du voyage prédit très bien l'insatisfaction : si on le connaissait, une règle simple, « voyage perso d'abord », rapporterait presque autant qu'un modèle. Mais la compagnie ne le connaît pas pour les passagers qui n'ont pas répondu. Sans lui, la meilleure règle tombe à 4 744 €, et notre modèle rapporte 768 € de plus pour 1 000 passagers. C'est là qu'il se justifie.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Jeanne — Résultat (50 s). Vos équipes peuvent aborder un passager sur dix. Le modèle donne un score de risque à chacun et désigne les 10 % les plus à risque. Testé sur 26 000 passagers qu'il n'avait jamais vus : 94 abordés sur 100 sont vraiment mécontents. Calcul : 94 mécontents, un sur trois serait parti, l'approche en ramène la moitié, soit environ 16 clients gardés à 600 € ; moins 100 approches à 40 €. Environ 5 400 € pour 1 000 passagers.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Jeanne — Comparaison (40 s). Au hasard, on gagnerait 1 429 € ; avec la meilleure règle qu'un agent pourrait appliquer sans outil, 4 459 € ; avec le modèle, 5 375 €. Le résultat sur ces passagers jamais vus est presque identique à celui de notre validation croisée : 5 386 €. La performance annoncée n'est pas surestimée. Je passe la parole à Côme pour les conditions d'usage.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Mineurs (50 s). Sans précaution, près d'un passager signalé sur quatre serait un enfant. Nous avons décidé qu'aucun mineur n'est jamais signalé : cela ne coûte que 2 % du gain. Retirer l'âge du modèle semblait plus respectueux, mais le modèle retrouverait quand même des enfants par d'autres indices, et perdrait plus : c'est justement l'âge qui permet de les exclure. L'âge n'est jamais montré aux agents.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Conditions (50 s). L'enquête servait à mesurer la satisfaction ; signaler des passagers qui n'ont jamais répondu est un nouvel usage. Il est acceptable à quatre conditions : informer les passagers et leur permettre de refuser, sur la base de l'intérêt légitime et après une analyse d'impact ; protéger les enfants ; limiter les informations utilisées ; montrer le minimum aux agents et ne pas conserver les signalements.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Écran agent (40 s). Concrètement, l'agent ne voit qu'un siège, un motif factuel comme un retard, et une action simple et positive. Il ne voit jamais le score, l'âge, le genre, ni une étiquette « mécontent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Léa — Budget (50 s). Même avec le meilleur modèle, les équipes ne peuvent aborder qu'un passager sur dix : environ 470 mécontents sur 1 000 ne seront jamais abordés. Pour eux, le seul levier est le service. Nos priorités : le parcours numérique, le wi-fi en vol, puis les cabines sur les lignes affaires. Pas de budget pour les portes ou les horaires, qui ne sont pas liés à la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Côme — Décision (40 s). Nous vous demandons trois décisions : financer les services prioritaires ; lancer un pilote d'accueil avec un groupe témoin, car c'est le seul moyen de prouver que l'approche fait revenir les clients ; et encadrer l'usage des données avant tout déploiement. Merci, nous sommes prêts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4.png"/><Relationship Id="rId10" Type="http://schemas.openxmlformats.org/officeDocument/2006/relationships/image" Target="../media/image20.png"/><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22.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21.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ounded Rectangle 1"/>
          <p:cNvSpPr/>
          <p:nvPr/>
        </p:nvSpPr>
        <p:spPr>
          <a:xfrm>
            <a:off x="508406" y="685800"/>
            <a:ext cx="11174882" cy="3246120"/>
          </a:xfrm>
          <a:prstGeom prst="roundRect">
            <a:avLst>
              <a:gd name="adj" fmla="val 8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9886" y="1024128"/>
            <a:ext cx="164592" cy="164592"/>
          </a:xfrm>
          <a:prstGeom prst="ellipse">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8486" y="1024128"/>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77086" y="1024128"/>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5686" y="1024128"/>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34286" y="1024128"/>
            <a:ext cx="164592" cy="164592"/>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9886" y="1325880"/>
            <a:ext cx="7863840" cy="1188720"/>
          </a:xfrm>
          <a:prstGeom prst="rect">
            <a:avLst/>
          </a:prstGeom>
          <a:noFill/>
        </p:spPr>
        <p:txBody>
          <a:bodyPr wrap="square" lIns="0" rIns="0" tIns="0" bIns="0" anchor="ctr">
            <a:spAutoFit/>
          </a:bodyPr>
          <a:lstStyle/>
          <a:p>
            <a:pPr algn="l"/>
            <a:r>
              <a:rPr sz="8400" b="1">
                <a:solidFill>
                  <a:srgbClr val="000000"/>
                </a:solidFill>
                <a:latin typeface="Arial"/>
              </a:rPr>
              <a:t>Satisfaction</a:t>
            </a:r>
          </a:p>
        </p:txBody>
      </p:sp>
      <p:pic>
        <p:nvPicPr>
          <p:cNvPr id="9" name="Picture 8" descr="satisfait.png"/>
          <p:cNvPicPr>
            <a:picLocks noChangeAspect="1"/>
          </p:cNvPicPr>
          <p:nvPr/>
        </p:nvPicPr>
        <p:blipFill>
          <a:blip r:embed="rId2"/>
          <a:stretch>
            <a:fillRect/>
          </a:stretch>
        </p:blipFill>
        <p:spPr>
          <a:xfrm>
            <a:off x="8549640" y="1481328"/>
            <a:ext cx="896112" cy="896112"/>
          </a:xfrm>
          <a:prstGeom prst="rect">
            <a:avLst/>
          </a:prstGeom>
        </p:spPr>
      </p:pic>
      <p:pic>
        <p:nvPicPr>
          <p:cNvPr id="10" name="Picture 9" descr="avion.png"/>
          <p:cNvPicPr>
            <a:picLocks noChangeAspect="1"/>
          </p:cNvPicPr>
          <p:nvPr/>
        </p:nvPicPr>
        <p:blipFill>
          <a:blip r:embed="rId3"/>
          <a:stretch>
            <a:fillRect/>
          </a:stretch>
        </p:blipFill>
        <p:spPr>
          <a:xfrm>
            <a:off x="9582912" y="1481328"/>
            <a:ext cx="896112" cy="896112"/>
          </a:xfrm>
          <a:prstGeom prst="rect">
            <a:avLst/>
          </a:prstGeom>
        </p:spPr>
      </p:pic>
      <p:pic>
        <p:nvPicPr>
          <p:cNvPr id="11" name="Picture 10" descr="passager.png"/>
          <p:cNvPicPr>
            <a:picLocks noChangeAspect="1"/>
          </p:cNvPicPr>
          <p:nvPr/>
        </p:nvPicPr>
        <p:blipFill>
          <a:blip r:embed="rId4"/>
          <a:stretch>
            <a:fillRect/>
          </a:stretch>
        </p:blipFill>
        <p:spPr>
          <a:xfrm>
            <a:off x="919886" y="2670048"/>
            <a:ext cx="896112" cy="896112"/>
          </a:xfrm>
          <a:prstGeom prst="rect">
            <a:avLst/>
          </a:prstGeom>
        </p:spPr>
      </p:pic>
      <p:sp>
        <p:nvSpPr>
          <p:cNvPr id="12" name="TextBox 11"/>
          <p:cNvSpPr txBox="1"/>
          <p:nvPr/>
        </p:nvSpPr>
        <p:spPr>
          <a:xfrm>
            <a:off x="2017166" y="2514600"/>
            <a:ext cx="7315200" cy="1188720"/>
          </a:xfrm>
          <a:prstGeom prst="rect">
            <a:avLst/>
          </a:prstGeom>
          <a:noFill/>
        </p:spPr>
        <p:txBody>
          <a:bodyPr wrap="square" lIns="0" rIns="0" tIns="0" bIns="0" anchor="ctr">
            <a:spAutoFit/>
          </a:bodyPr>
          <a:lstStyle/>
          <a:p>
            <a:pPr algn="l"/>
            <a:r>
              <a:rPr sz="8400" b="1">
                <a:solidFill>
                  <a:srgbClr val="000000"/>
                </a:solidFill>
                <a:latin typeface="Arial"/>
              </a:rPr>
              <a:t>passagers</a:t>
            </a:r>
          </a:p>
        </p:txBody>
      </p:sp>
      <p:sp>
        <p:nvSpPr>
          <p:cNvPr id="13" name="Rounded Rectangle 12"/>
          <p:cNvSpPr/>
          <p:nvPr/>
        </p:nvSpPr>
        <p:spPr>
          <a:xfrm>
            <a:off x="508406" y="4160520"/>
            <a:ext cx="11174882" cy="1508760"/>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9886" y="4462272"/>
            <a:ext cx="164592" cy="164592"/>
          </a:xfrm>
          <a:prstGeom prst="ellipse">
            <a:avLst/>
          </a:prstGeom>
          <a:solidFill>
            <a:srgbClr val="FFB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8486" y="4462272"/>
            <a:ext cx="164592" cy="164592"/>
          </a:xfrm>
          <a:prstGeom prst="ellipse">
            <a:avLst/>
          </a:prstGeom>
          <a:solidFill>
            <a:srgbClr val="A885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77086" y="4462272"/>
            <a:ext cx="164592" cy="164592"/>
          </a:xfrm>
          <a:prstGeom prst="ellipse">
            <a:avLst/>
          </a:prstGeom>
          <a:solidFill>
            <a:srgbClr val="FF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605686" y="4462272"/>
            <a:ext cx="164592" cy="164592"/>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34286" y="4462272"/>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062886" y="4462272"/>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886" y="4754880"/>
            <a:ext cx="6400800" cy="640080"/>
          </a:xfrm>
          <a:prstGeom prst="rect">
            <a:avLst/>
          </a:prstGeom>
          <a:noFill/>
        </p:spPr>
        <p:txBody>
          <a:bodyPr wrap="square" lIns="0" rIns="0" tIns="0" bIns="0" anchor="ctr">
            <a:spAutoFit/>
          </a:bodyPr>
          <a:lstStyle/>
          <a:p>
            <a:pPr algn="l"/>
            <a:r>
              <a:rPr sz="2600" b="1">
                <a:solidFill>
                  <a:srgbClr val="000000"/>
                </a:solidFill>
                <a:latin typeface="Arial"/>
              </a:rPr>
              <a:t>Où investir, et qui aborder à l'arrivée</a:t>
            </a:r>
          </a:p>
        </p:txBody>
      </p:sp>
      <p:pic>
        <p:nvPicPr>
          <p:cNvPr id="21" name="Picture 20" descr="valise.png"/>
          <p:cNvPicPr>
            <a:picLocks noChangeAspect="1"/>
          </p:cNvPicPr>
          <p:nvPr/>
        </p:nvPicPr>
        <p:blipFill>
          <a:blip r:embed="rId5"/>
          <a:stretch>
            <a:fillRect/>
          </a:stretch>
        </p:blipFill>
        <p:spPr>
          <a:xfrm>
            <a:off x="7269480" y="4544568"/>
            <a:ext cx="713232" cy="713232"/>
          </a:xfrm>
          <a:prstGeom prst="rect">
            <a:avLst/>
          </a:prstGeom>
        </p:spPr>
      </p:pic>
      <p:pic>
        <p:nvPicPr>
          <p:cNvPr id="22" name="Picture 21" descr="horloge.png"/>
          <p:cNvPicPr>
            <a:picLocks noChangeAspect="1"/>
          </p:cNvPicPr>
          <p:nvPr/>
        </p:nvPicPr>
        <p:blipFill>
          <a:blip r:embed="rId6"/>
          <a:stretch>
            <a:fillRect/>
          </a:stretch>
        </p:blipFill>
        <p:spPr>
          <a:xfrm>
            <a:off x="8110728" y="4544568"/>
            <a:ext cx="713232" cy="713232"/>
          </a:xfrm>
          <a:prstGeom prst="rect">
            <a:avLst/>
          </a:prstGeom>
        </p:spPr>
      </p:pic>
      <p:pic>
        <p:nvPicPr>
          <p:cNvPr id="23" name="Picture 22" descr="wifi.png"/>
          <p:cNvPicPr>
            <a:picLocks noChangeAspect="1"/>
          </p:cNvPicPr>
          <p:nvPr/>
        </p:nvPicPr>
        <p:blipFill>
          <a:blip r:embed="rId7"/>
          <a:stretch>
            <a:fillRect/>
          </a:stretch>
        </p:blipFill>
        <p:spPr>
          <a:xfrm>
            <a:off x="8951976" y="4544568"/>
            <a:ext cx="713232" cy="713232"/>
          </a:xfrm>
          <a:prstGeom prst="rect">
            <a:avLst/>
          </a:prstGeom>
        </p:spPr>
      </p:pic>
      <p:pic>
        <p:nvPicPr>
          <p:cNvPr id="24" name="Picture 23" descr="famille.png"/>
          <p:cNvPicPr>
            <a:picLocks noChangeAspect="1"/>
          </p:cNvPicPr>
          <p:nvPr/>
        </p:nvPicPr>
        <p:blipFill>
          <a:blip r:embed="rId8"/>
          <a:stretch>
            <a:fillRect/>
          </a:stretch>
        </p:blipFill>
        <p:spPr>
          <a:xfrm>
            <a:off x="9793224" y="4544568"/>
            <a:ext cx="713232" cy="713232"/>
          </a:xfrm>
          <a:prstGeom prst="rect">
            <a:avLst/>
          </a:prstGeom>
        </p:spPr>
      </p:pic>
      <p:pic>
        <p:nvPicPr>
          <p:cNvPr id="25" name="Picture 24" descr="repas.png"/>
          <p:cNvPicPr>
            <a:picLocks noChangeAspect="1"/>
          </p:cNvPicPr>
          <p:nvPr/>
        </p:nvPicPr>
        <p:blipFill>
          <a:blip r:embed="rId9"/>
          <a:stretch>
            <a:fillRect/>
          </a:stretch>
        </p:blipFill>
        <p:spPr>
          <a:xfrm>
            <a:off x="10634472" y="4544568"/>
            <a:ext cx="713232" cy="713232"/>
          </a:xfrm>
          <a:prstGeom prst="rect">
            <a:avLst/>
          </a:prstGeom>
        </p:spPr>
      </p:pic>
      <p:sp>
        <p:nvSpPr>
          <p:cNvPr id="26" name="TextBox 25"/>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Léa · Jeanne · Côme — Epitech Bootcamp Data, Rush 3 · octobre 2026</a:t>
            </a:r>
          </a:p>
        </p:txBody>
      </p:sp>
      <p:sp>
        <p:nvSpPr>
          <p:cNvPr id="27" name="Rounded Rectangle 26"/>
          <p:cNvSpPr/>
          <p:nvPr/>
        </p:nvSpPr>
        <p:spPr>
          <a:xfrm>
            <a:off x="9095536"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1557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57102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2647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8192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3736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5606" y="457200"/>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En bref : trois réponses pour la direction</a:t>
            </a:r>
          </a:p>
        </p:txBody>
      </p:sp>
      <p:sp>
        <p:nvSpPr>
          <p:cNvPr id="6" name="Rounded Rectangle 5"/>
          <p:cNvSpPr/>
          <p:nvPr/>
        </p:nvSpPr>
        <p:spPr>
          <a:xfrm>
            <a:off x="508406" y="1828800"/>
            <a:ext cx="3511600" cy="4160520"/>
          </a:xfrm>
          <a:prstGeom prst="roundRect">
            <a:avLst>
              <a:gd name="adj" fmla="val 57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ique.png"/>
          <p:cNvPicPr>
            <a:picLocks noChangeAspect="1"/>
          </p:cNvPicPr>
          <p:nvPr/>
        </p:nvPicPr>
        <p:blipFill>
          <a:blip r:embed="rId2"/>
          <a:stretch>
            <a:fillRect/>
          </a:stretch>
        </p:blipFill>
        <p:spPr>
          <a:xfrm>
            <a:off x="874166" y="2194560"/>
            <a:ext cx="731520" cy="731520"/>
          </a:xfrm>
          <a:prstGeom prst="rect">
            <a:avLst/>
          </a:prstGeom>
        </p:spPr>
      </p:pic>
      <p:sp>
        <p:nvSpPr>
          <p:cNvPr id="8" name="TextBox 7"/>
          <p:cNvSpPr txBox="1"/>
          <p:nvPr/>
        </p:nvSpPr>
        <p:spPr>
          <a:xfrm>
            <a:off x="874166" y="3108960"/>
            <a:ext cx="2780080" cy="914400"/>
          </a:xfrm>
          <a:prstGeom prst="rect">
            <a:avLst/>
          </a:prstGeom>
          <a:noFill/>
        </p:spPr>
        <p:txBody>
          <a:bodyPr wrap="square" lIns="0" rIns="0" tIns="0" bIns="0" anchor="t">
            <a:spAutoFit/>
          </a:bodyPr>
          <a:lstStyle/>
          <a:p>
            <a:pPr algn="l"/>
            <a:r>
              <a:rPr sz="5400" b="1">
                <a:solidFill>
                  <a:srgbClr val="000000"/>
                </a:solidFill>
                <a:latin typeface="Arial"/>
              </a:rPr>
              <a:t>43,3 %</a:t>
            </a:r>
          </a:p>
        </p:txBody>
      </p:sp>
      <p:sp>
        <p:nvSpPr>
          <p:cNvPr id="9" name="TextBox 8"/>
          <p:cNvSpPr txBox="1"/>
          <p:nvPr/>
        </p:nvSpPr>
        <p:spPr>
          <a:xfrm>
            <a:off x="874166" y="4069080"/>
            <a:ext cx="2780080" cy="685800"/>
          </a:xfrm>
          <a:prstGeom prst="rect">
            <a:avLst/>
          </a:prstGeom>
          <a:noFill/>
        </p:spPr>
        <p:txBody>
          <a:bodyPr wrap="square" lIns="0" rIns="0" tIns="0" bIns="0" anchor="t">
            <a:spAutoFit/>
          </a:bodyPr>
          <a:lstStyle/>
          <a:p>
            <a:pPr algn="l"/>
            <a:r>
              <a:rPr sz="1800" b="1">
                <a:solidFill>
                  <a:srgbClr val="000000"/>
                </a:solidFill>
                <a:latin typeface="Arial"/>
              </a:rPr>
              <a:t>de passagers satisfaits</a:t>
            </a:r>
          </a:p>
        </p:txBody>
      </p:sp>
      <p:sp>
        <p:nvSpPr>
          <p:cNvPr id="10" name="TextBox 9"/>
          <p:cNvSpPr txBox="1"/>
          <p:nvPr/>
        </p:nvSpPr>
        <p:spPr>
          <a:xfrm>
            <a:off x="874166" y="4846320"/>
            <a:ext cx="2780080" cy="1005840"/>
          </a:xfrm>
          <a:prstGeom prst="rect">
            <a:avLst/>
          </a:prstGeom>
          <a:noFill/>
        </p:spPr>
        <p:txBody>
          <a:bodyPr wrap="square" lIns="0" rIns="0" tIns="0" bIns="0" anchor="t">
            <a:spAutoFit/>
          </a:bodyPr>
          <a:lstStyle/>
          <a:p>
            <a:pPr algn="l"/>
            <a:r>
              <a:rPr sz="1500" b="0">
                <a:solidFill>
                  <a:srgbClr val="444444"/>
                </a:solidFill>
                <a:latin typeface="Arial"/>
              </a:rPr>
              <a:t>58 % en voyage pro, 10 % en voyage perso. Leviers : parcours numérique, wi-fi, cabines.</a:t>
            </a:r>
          </a:p>
        </p:txBody>
      </p:sp>
      <p:sp>
        <p:nvSpPr>
          <p:cNvPr id="11" name="Rounded Rectangle 10"/>
          <p:cNvSpPr/>
          <p:nvPr/>
        </p:nvSpPr>
        <p:spPr>
          <a:xfrm>
            <a:off x="4340047" y="1828800"/>
            <a:ext cx="3511600" cy="4160520"/>
          </a:xfrm>
          <a:prstGeom prst="roundRect">
            <a:avLst>
              <a:gd name="adj" fmla="val 57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uro.png"/>
          <p:cNvPicPr>
            <a:picLocks noChangeAspect="1"/>
          </p:cNvPicPr>
          <p:nvPr/>
        </p:nvPicPr>
        <p:blipFill>
          <a:blip r:embed="rId3"/>
          <a:stretch>
            <a:fillRect/>
          </a:stretch>
        </p:blipFill>
        <p:spPr>
          <a:xfrm>
            <a:off x="4705807" y="2194560"/>
            <a:ext cx="731520" cy="731520"/>
          </a:xfrm>
          <a:prstGeom prst="rect">
            <a:avLst/>
          </a:prstGeom>
        </p:spPr>
      </p:pic>
      <p:sp>
        <p:nvSpPr>
          <p:cNvPr id="13" name="TextBox 12"/>
          <p:cNvSpPr txBox="1"/>
          <p:nvPr/>
        </p:nvSpPr>
        <p:spPr>
          <a:xfrm>
            <a:off x="4705807" y="3108960"/>
            <a:ext cx="2780080" cy="914400"/>
          </a:xfrm>
          <a:prstGeom prst="rect">
            <a:avLst/>
          </a:prstGeom>
          <a:noFill/>
        </p:spPr>
        <p:txBody>
          <a:bodyPr wrap="square" lIns="0" rIns="0" tIns="0" bIns="0" anchor="t">
            <a:spAutoFit/>
          </a:bodyPr>
          <a:lstStyle/>
          <a:p>
            <a:pPr algn="l"/>
            <a:r>
              <a:rPr sz="5400" b="1">
                <a:solidFill>
                  <a:srgbClr val="0055FF"/>
                </a:solidFill>
                <a:latin typeface="Arial"/>
              </a:rPr>
              <a:t>5 375 €</a:t>
            </a:r>
          </a:p>
        </p:txBody>
      </p:sp>
      <p:sp>
        <p:nvSpPr>
          <p:cNvPr id="14" name="TextBox 13"/>
          <p:cNvSpPr txBox="1"/>
          <p:nvPr/>
        </p:nvSpPr>
        <p:spPr>
          <a:xfrm>
            <a:off x="4705807" y="4069080"/>
            <a:ext cx="2780080" cy="685800"/>
          </a:xfrm>
          <a:prstGeom prst="rect">
            <a:avLst/>
          </a:prstGeom>
          <a:noFill/>
        </p:spPr>
        <p:txBody>
          <a:bodyPr wrap="square" lIns="0" rIns="0" tIns="0" bIns="0" anchor="t">
            <a:spAutoFit/>
          </a:bodyPr>
          <a:lstStyle/>
          <a:p>
            <a:pPr algn="l"/>
            <a:r>
              <a:rPr sz="1800" b="1">
                <a:solidFill>
                  <a:srgbClr val="000000"/>
                </a:solidFill>
                <a:latin typeface="Arial"/>
              </a:rPr>
              <a:t>gagnés pour 1 000 passagers</a:t>
            </a:r>
          </a:p>
        </p:txBody>
      </p:sp>
      <p:sp>
        <p:nvSpPr>
          <p:cNvPr id="15" name="TextBox 14"/>
          <p:cNvSpPr txBox="1"/>
          <p:nvPr/>
        </p:nvSpPr>
        <p:spPr>
          <a:xfrm>
            <a:off x="4705807" y="4846320"/>
            <a:ext cx="2780080" cy="1005840"/>
          </a:xfrm>
          <a:prstGeom prst="rect">
            <a:avLst/>
          </a:prstGeom>
          <a:noFill/>
        </p:spPr>
        <p:txBody>
          <a:bodyPr wrap="square" lIns="0" rIns="0" tIns="0" bIns="0" anchor="t">
            <a:spAutoFit/>
          </a:bodyPr>
          <a:lstStyle/>
          <a:p>
            <a:pPr algn="l"/>
            <a:r>
              <a:rPr sz="1500" b="0">
                <a:solidFill>
                  <a:srgbClr val="444444"/>
                </a:solidFill>
                <a:latin typeface="Arial"/>
              </a:rPr>
              <a:t>Le modèle désigne les 10 % à aborder : 94 sur 100 sont vraiment mécontents.</a:t>
            </a:r>
          </a:p>
        </p:txBody>
      </p:sp>
      <p:sp>
        <p:nvSpPr>
          <p:cNvPr id="16" name="Rounded Rectangle 15"/>
          <p:cNvSpPr/>
          <p:nvPr/>
        </p:nvSpPr>
        <p:spPr>
          <a:xfrm>
            <a:off x="8171688" y="1828800"/>
            <a:ext cx="3511600" cy="4160520"/>
          </a:xfrm>
          <a:prstGeom prst="roundRect">
            <a:avLst>
              <a:gd name="adj" fmla="val 57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uclier.png"/>
          <p:cNvPicPr>
            <a:picLocks noChangeAspect="1"/>
          </p:cNvPicPr>
          <p:nvPr/>
        </p:nvPicPr>
        <p:blipFill>
          <a:blip r:embed="rId4"/>
          <a:stretch>
            <a:fillRect/>
          </a:stretch>
        </p:blipFill>
        <p:spPr>
          <a:xfrm>
            <a:off x="8537448" y="2194560"/>
            <a:ext cx="731520" cy="731520"/>
          </a:xfrm>
          <a:prstGeom prst="rect">
            <a:avLst/>
          </a:prstGeom>
        </p:spPr>
      </p:pic>
      <p:sp>
        <p:nvSpPr>
          <p:cNvPr id="18" name="TextBox 17"/>
          <p:cNvSpPr txBox="1"/>
          <p:nvPr/>
        </p:nvSpPr>
        <p:spPr>
          <a:xfrm>
            <a:off x="8537448" y="3108960"/>
            <a:ext cx="2780080" cy="914400"/>
          </a:xfrm>
          <a:prstGeom prst="rect">
            <a:avLst/>
          </a:prstGeom>
          <a:noFill/>
        </p:spPr>
        <p:txBody>
          <a:bodyPr wrap="square" lIns="0" rIns="0" tIns="0" bIns="0" anchor="t">
            <a:spAutoFit/>
          </a:bodyPr>
          <a:lstStyle/>
          <a:p>
            <a:pPr algn="l"/>
            <a:r>
              <a:rPr sz="5400" b="1">
                <a:solidFill>
                  <a:srgbClr val="000000"/>
                </a:solidFill>
                <a:latin typeface="Arial"/>
              </a:rPr>
              <a:t>0 enfant</a:t>
            </a:r>
          </a:p>
        </p:txBody>
      </p:sp>
      <p:sp>
        <p:nvSpPr>
          <p:cNvPr id="19" name="TextBox 18"/>
          <p:cNvSpPr txBox="1"/>
          <p:nvPr/>
        </p:nvSpPr>
        <p:spPr>
          <a:xfrm>
            <a:off x="8537448" y="4069080"/>
            <a:ext cx="2780080" cy="685800"/>
          </a:xfrm>
          <a:prstGeom prst="rect">
            <a:avLst/>
          </a:prstGeom>
          <a:noFill/>
        </p:spPr>
        <p:txBody>
          <a:bodyPr wrap="square" lIns="0" rIns="0" tIns="0" bIns="0" anchor="t">
            <a:spAutoFit/>
          </a:bodyPr>
          <a:lstStyle/>
          <a:p>
            <a:pPr algn="l"/>
            <a:r>
              <a:rPr sz="1800" b="1">
                <a:solidFill>
                  <a:srgbClr val="000000"/>
                </a:solidFill>
                <a:latin typeface="Arial"/>
              </a:rPr>
              <a:t>signalé aux équipes</a:t>
            </a:r>
          </a:p>
        </p:txBody>
      </p:sp>
      <p:sp>
        <p:nvSpPr>
          <p:cNvPr id="20" name="TextBox 19"/>
          <p:cNvSpPr txBox="1"/>
          <p:nvPr/>
        </p:nvSpPr>
        <p:spPr>
          <a:xfrm>
            <a:off x="8537448" y="4846320"/>
            <a:ext cx="2780080" cy="1005840"/>
          </a:xfrm>
          <a:prstGeom prst="rect">
            <a:avLst/>
          </a:prstGeom>
          <a:noFill/>
        </p:spPr>
        <p:txBody>
          <a:bodyPr wrap="square" lIns="0" rIns="0" tIns="0" bIns="0" anchor="t">
            <a:spAutoFit/>
          </a:bodyPr>
          <a:lstStyle/>
          <a:p>
            <a:pPr algn="l"/>
            <a:r>
              <a:rPr sz="1500" b="0">
                <a:solidFill>
                  <a:srgbClr val="444444"/>
                </a:solidFill>
                <a:latin typeface="Arial"/>
              </a:rPr>
              <a:t>Genre exclu ; ni score, ni âge, ni étiquette « mécontent » montrés aux agents.</a:t>
            </a:r>
          </a:p>
        </p:txBody>
      </p:sp>
      <p:sp>
        <p:nvSpPr>
          <p:cNvPr id="21" name="TextBox 2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Synthèse</a:t>
            </a:r>
          </a:p>
        </p:txBody>
      </p:sp>
      <p:sp>
        <p:nvSpPr>
          <p:cNvPr id="22" name="Oval 2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50984"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57102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2647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8192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3736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103 904 avis pour analyser, 25 976 pour le test final</a:t>
            </a:r>
          </a:p>
        </p:txBody>
      </p:sp>
      <p:sp>
        <p:nvSpPr>
          <p:cNvPr id="5" name="Rounded Rectangle 4"/>
          <p:cNvSpPr/>
          <p:nvPr/>
        </p:nvSpPr>
        <p:spPr>
          <a:xfrm>
            <a:off x="508406" y="1828800"/>
            <a:ext cx="4206240"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4166" y="2148840"/>
            <a:ext cx="3566160" cy="822960"/>
          </a:xfrm>
          <a:prstGeom prst="rect">
            <a:avLst/>
          </a:prstGeom>
          <a:noFill/>
        </p:spPr>
        <p:txBody>
          <a:bodyPr wrap="square" lIns="0" rIns="0" tIns="0" bIns="0" anchor="t">
            <a:spAutoFit/>
          </a:bodyPr>
          <a:lstStyle/>
          <a:p>
            <a:pPr algn="l"/>
            <a:r>
              <a:rPr sz="4800" b="1">
                <a:solidFill>
                  <a:srgbClr val="000000"/>
                </a:solidFill>
                <a:latin typeface="Arial"/>
              </a:rPr>
              <a:t>103 904</a:t>
            </a:r>
          </a:p>
        </p:txBody>
      </p:sp>
      <p:sp>
        <p:nvSpPr>
          <p:cNvPr id="7" name="TextBox 6"/>
          <p:cNvSpPr txBox="1"/>
          <p:nvPr/>
        </p:nvSpPr>
        <p:spPr>
          <a:xfrm>
            <a:off x="874166" y="2926080"/>
            <a:ext cx="3566160" cy="822960"/>
          </a:xfrm>
          <a:prstGeom prst="rect">
            <a:avLst/>
          </a:prstGeom>
          <a:noFill/>
        </p:spPr>
        <p:txBody>
          <a:bodyPr wrap="square" lIns="0" rIns="0" tIns="0" bIns="0" anchor="t">
            <a:spAutoFit/>
          </a:bodyPr>
          <a:lstStyle/>
          <a:p>
            <a:pPr algn="l"/>
            <a:r>
              <a:rPr sz="1500" b="0">
                <a:solidFill>
                  <a:srgbClr val="444444"/>
                </a:solidFill>
                <a:latin typeface="Arial"/>
              </a:rPr>
              <a:t>passagers ayant répondu (train) : exploration, facteurs, choix du modèle</a:t>
            </a:r>
          </a:p>
        </p:txBody>
      </p:sp>
      <p:sp>
        <p:nvSpPr>
          <p:cNvPr id="8" name="TextBox 7"/>
          <p:cNvSpPr txBox="1"/>
          <p:nvPr/>
        </p:nvSpPr>
        <p:spPr>
          <a:xfrm>
            <a:off x="874166" y="3931920"/>
            <a:ext cx="3566160" cy="822960"/>
          </a:xfrm>
          <a:prstGeom prst="rect">
            <a:avLst/>
          </a:prstGeom>
          <a:noFill/>
        </p:spPr>
        <p:txBody>
          <a:bodyPr wrap="square" lIns="0" rIns="0" tIns="0" bIns="0" anchor="t">
            <a:spAutoFit/>
          </a:bodyPr>
          <a:lstStyle/>
          <a:p>
            <a:pPr algn="l"/>
            <a:r>
              <a:rPr sz="4800" b="1">
                <a:solidFill>
                  <a:srgbClr val="0055FF"/>
                </a:solidFill>
                <a:latin typeface="Arial"/>
              </a:rPr>
              <a:t>25 976</a:t>
            </a:r>
          </a:p>
        </p:txBody>
      </p:sp>
      <p:sp>
        <p:nvSpPr>
          <p:cNvPr id="9" name="TextBox 8"/>
          <p:cNvSpPr txBox="1"/>
          <p:nvPr/>
        </p:nvSpPr>
        <p:spPr>
          <a:xfrm>
            <a:off x="874166" y="4709160"/>
            <a:ext cx="3566160" cy="822960"/>
          </a:xfrm>
          <a:prstGeom prst="rect">
            <a:avLst/>
          </a:prstGeom>
          <a:noFill/>
        </p:spPr>
        <p:txBody>
          <a:bodyPr wrap="square" lIns="0" rIns="0" tIns="0" bIns="0" anchor="t">
            <a:spAutoFit/>
          </a:bodyPr>
          <a:lstStyle/>
          <a:p>
            <a:pPr algn="l"/>
            <a:r>
              <a:rPr sz="1500" b="0">
                <a:solidFill>
                  <a:srgbClr val="444444"/>
                </a:solidFill>
                <a:latin typeface="Arial"/>
              </a:rPr>
              <a:t>passagers « du mois prochain » (test) : lus une seule fois, à la toute fin</a:t>
            </a:r>
          </a:p>
        </p:txBody>
      </p:sp>
      <p:sp>
        <p:nvSpPr>
          <p:cNvPr id="10" name="Rounded Rectangle 9"/>
          <p:cNvSpPr/>
          <p:nvPr/>
        </p:nvSpPr>
        <p:spPr>
          <a:xfrm>
            <a:off x="5034686" y="1828800"/>
            <a:ext cx="6648602"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alide.png"/>
          <p:cNvPicPr>
            <a:picLocks noChangeAspect="1"/>
          </p:cNvPicPr>
          <p:nvPr/>
        </p:nvPicPr>
        <p:blipFill>
          <a:blip r:embed="rId2"/>
          <a:stretch>
            <a:fillRect/>
          </a:stretch>
        </p:blipFill>
        <p:spPr>
          <a:xfrm>
            <a:off x="5400446" y="2103120"/>
            <a:ext cx="502920" cy="502920"/>
          </a:xfrm>
          <a:prstGeom prst="rect">
            <a:avLst/>
          </a:prstGeom>
        </p:spPr>
      </p:pic>
      <p:sp>
        <p:nvSpPr>
          <p:cNvPr id="12" name="TextBox 11"/>
          <p:cNvSpPr txBox="1"/>
          <p:nvPr/>
        </p:nvSpPr>
        <p:spPr>
          <a:xfrm>
            <a:off x="6131966" y="2084831"/>
            <a:ext cx="5277002" cy="594360"/>
          </a:xfrm>
          <a:prstGeom prst="rect">
            <a:avLst/>
          </a:prstGeom>
          <a:noFill/>
        </p:spPr>
        <p:txBody>
          <a:bodyPr wrap="square" lIns="0" rIns="0" tIns="0" bIns="0" anchor="ctr">
            <a:spAutoFit/>
          </a:bodyPr>
          <a:lstStyle/>
          <a:p>
            <a:pPr algn="l"/>
            <a:r>
              <a:rPr sz="1700" b="1">
                <a:solidFill>
                  <a:srgbClr val="000000"/>
                </a:solidFill>
                <a:latin typeface="Arial"/>
              </a:rPr>
              <a:t>Une note de 0 = pas de réponse</a:t>
            </a:r>
          </a:p>
          <a:p>
            <a:pPr algn="l"/>
            <a:r>
              <a:rPr sz="1300" b="0">
                <a:solidFill>
                  <a:srgbClr val="444444"/>
                </a:solidFill>
                <a:latin typeface="Arial"/>
              </a:rPr>
              <a:t>et non une mauvaise note, comme le précise le sujet</a:t>
            </a:r>
          </a:p>
        </p:txBody>
      </p:sp>
      <p:pic>
        <p:nvPicPr>
          <p:cNvPr id="13" name="Picture 12" descr="horloge.png"/>
          <p:cNvPicPr>
            <a:picLocks noChangeAspect="1"/>
          </p:cNvPicPr>
          <p:nvPr/>
        </p:nvPicPr>
        <p:blipFill>
          <a:blip r:embed="rId3"/>
          <a:stretch>
            <a:fillRect/>
          </a:stretch>
        </p:blipFill>
        <p:spPr>
          <a:xfrm>
            <a:off x="5400446" y="2862072"/>
            <a:ext cx="502920" cy="502920"/>
          </a:xfrm>
          <a:prstGeom prst="rect">
            <a:avLst/>
          </a:prstGeom>
        </p:spPr>
      </p:pic>
      <p:sp>
        <p:nvSpPr>
          <p:cNvPr id="14" name="TextBox 13"/>
          <p:cNvSpPr txBox="1"/>
          <p:nvPr/>
        </p:nvSpPr>
        <p:spPr>
          <a:xfrm>
            <a:off x="6131966" y="2843784"/>
            <a:ext cx="5277002" cy="594360"/>
          </a:xfrm>
          <a:prstGeom prst="rect">
            <a:avLst/>
          </a:prstGeom>
          <a:noFill/>
        </p:spPr>
        <p:txBody>
          <a:bodyPr wrap="square" lIns="0" rIns="0" tIns="0" bIns="0" anchor="ctr">
            <a:spAutoFit/>
          </a:bodyPr>
          <a:lstStyle/>
          <a:p>
            <a:pPr algn="l"/>
            <a:r>
              <a:rPr sz="1700" b="1">
                <a:solidFill>
                  <a:srgbClr val="000000"/>
                </a:solidFill>
                <a:latin typeface="Arial"/>
              </a:rPr>
              <a:t>310 retards d'arrivée manquants</a:t>
            </a:r>
          </a:p>
          <a:p>
            <a:pPr algn="l"/>
            <a:r>
              <a:rPr sz="1300" b="0">
                <a:solidFill>
                  <a:srgbClr val="444444"/>
                </a:solidFill>
                <a:latin typeface="Arial"/>
              </a:rPr>
              <a:t>remplacés par le retard au départ (corrélation 0,965)</a:t>
            </a:r>
          </a:p>
        </p:txBody>
      </p:sp>
      <p:pic>
        <p:nvPicPr>
          <p:cNvPr id="15" name="Picture 14" descr="exclu.png"/>
          <p:cNvPicPr>
            <a:picLocks noChangeAspect="1"/>
          </p:cNvPicPr>
          <p:nvPr/>
        </p:nvPicPr>
        <p:blipFill>
          <a:blip r:embed="rId4"/>
          <a:stretch>
            <a:fillRect/>
          </a:stretch>
        </p:blipFill>
        <p:spPr>
          <a:xfrm>
            <a:off x="5400446" y="3621024"/>
            <a:ext cx="502920" cy="502920"/>
          </a:xfrm>
          <a:prstGeom prst="rect">
            <a:avLst/>
          </a:prstGeom>
        </p:spPr>
      </p:pic>
      <p:sp>
        <p:nvSpPr>
          <p:cNvPr id="16" name="TextBox 15"/>
          <p:cNvSpPr txBox="1"/>
          <p:nvPr/>
        </p:nvSpPr>
        <p:spPr>
          <a:xfrm>
            <a:off x="6131966" y="3602736"/>
            <a:ext cx="5277002" cy="594360"/>
          </a:xfrm>
          <a:prstGeom prst="rect">
            <a:avLst/>
          </a:prstGeom>
          <a:noFill/>
        </p:spPr>
        <p:txBody>
          <a:bodyPr wrap="square" lIns="0" rIns="0" tIns="0" bIns="0" anchor="ctr">
            <a:spAutoFit/>
          </a:bodyPr>
          <a:lstStyle/>
          <a:p>
            <a:pPr algn="l"/>
            <a:r>
              <a:rPr sz="1700" b="1">
                <a:solidFill>
                  <a:srgbClr val="000000"/>
                </a:solidFill>
                <a:latin typeface="Arial"/>
              </a:rPr>
              <a:t>Identifiant retiré, aucun doublon</a:t>
            </a:r>
          </a:p>
          <a:p>
            <a:pPr algn="l"/>
            <a:r>
              <a:rPr sz="1300" b="0">
                <a:solidFill>
                  <a:srgbClr val="444444"/>
                </a:solidFill>
                <a:latin typeface="Arial"/>
              </a:rPr>
              <a:t>il ne dit rien du passager</a:t>
            </a:r>
          </a:p>
        </p:txBody>
      </p:sp>
      <p:pic>
        <p:nvPicPr>
          <p:cNvPr id="17" name="Picture 16" descr="cible.png"/>
          <p:cNvPicPr>
            <a:picLocks noChangeAspect="1"/>
          </p:cNvPicPr>
          <p:nvPr/>
        </p:nvPicPr>
        <p:blipFill>
          <a:blip r:embed="rId5"/>
          <a:stretch>
            <a:fillRect/>
          </a:stretch>
        </p:blipFill>
        <p:spPr>
          <a:xfrm>
            <a:off x="5400446" y="4379975"/>
            <a:ext cx="502920" cy="502920"/>
          </a:xfrm>
          <a:prstGeom prst="rect">
            <a:avLst/>
          </a:prstGeom>
        </p:spPr>
      </p:pic>
      <p:sp>
        <p:nvSpPr>
          <p:cNvPr id="18" name="TextBox 17"/>
          <p:cNvSpPr txBox="1"/>
          <p:nvPr/>
        </p:nvSpPr>
        <p:spPr>
          <a:xfrm>
            <a:off x="6131966" y="4361688"/>
            <a:ext cx="5277002" cy="594360"/>
          </a:xfrm>
          <a:prstGeom prst="rect">
            <a:avLst/>
          </a:prstGeom>
          <a:noFill/>
        </p:spPr>
        <p:txBody>
          <a:bodyPr wrap="square" lIns="0" rIns="0" tIns="0" bIns="0" anchor="ctr">
            <a:spAutoFit/>
          </a:bodyPr>
          <a:lstStyle/>
          <a:p>
            <a:pPr algn="l"/>
            <a:r>
              <a:rPr sz="1700" b="1">
                <a:solidFill>
                  <a:srgbClr val="000000"/>
                </a:solidFill>
                <a:latin typeface="Arial"/>
              </a:rPr>
              <a:t>Modèles comparés en validation croisée</a:t>
            </a:r>
          </a:p>
          <a:p>
            <a:pPr algn="l"/>
            <a:r>
              <a:rPr sz="1300" b="0">
                <a:solidFill>
                  <a:srgbClr val="444444"/>
                </a:solidFill>
                <a:latin typeface="Arial"/>
              </a:rPr>
              <a:t>sur train uniquement, en 5 parts</a:t>
            </a:r>
          </a:p>
        </p:txBody>
      </p:sp>
      <p:pic>
        <p:nvPicPr>
          <p:cNvPr id="19" name="Picture 18" descr="graphique.png"/>
          <p:cNvPicPr>
            <a:picLocks noChangeAspect="1"/>
          </p:cNvPicPr>
          <p:nvPr/>
        </p:nvPicPr>
        <p:blipFill>
          <a:blip r:embed="rId6"/>
          <a:stretch>
            <a:fillRect/>
          </a:stretch>
        </p:blipFill>
        <p:spPr>
          <a:xfrm>
            <a:off x="5400446" y="5138927"/>
            <a:ext cx="502920" cy="502920"/>
          </a:xfrm>
          <a:prstGeom prst="rect">
            <a:avLst/>
          </a:prstGeom>
        </p:spPr>
      </p:pic>
      <p:sp>
        <p:nvSpPr>
          <p:cNvPr id="20" name="TextBox 19"/>
          <p:cNvSpPr txBox="1"/>
          <p:nvPr/>
        </p:nvSpPr>
        <p:spPr>
          <a:xfrm>
            <a:off x="6131966" y="5120640"/>
            <a:ext cx="5277002" cy="594360"/>
          </a:xfrm>
          <a:prstGeom prst="rect">
            <a:avLst/>
          </a:prstGeom>
          <a:noFill/>
        </p:spPr>
        <p:txBody>
          <a:bodyPr wrap="square" lIns="0" rIns="0" tIns="0" bIns="0" anchor="ctr">
            <a:spAutoFit/>
          </a:bodyPr>
          <a:lstStyle/>
          <a:p>
            <a:pPr algn="l"/>
            <a:r>
              <a:rPr sz="1700" b="1">
                <a:solidFill>
                  <a:srgbClr val="000000"/>
                </a:solidFill>
                <a:latin typeface="Arial"/>
              </a:rPr>
              <a:t>Résultats reproductibles</a:t>
            </a:r>
          </a:p>
          <a:p>
            <a:pPr algn="l"/>
            <a:r>
              <a:rPr sz="1300" b="0">
                <a:solidFill>
                  <a:srgbClr val="444444"/>
                </a:solidFill>
                <a:latin typeface="Arial"/>
              </a:rPr>
              <a:t>graines fixées : mêmes chiffres à chaque exécution</a:t>
            </a:r>
          </a:p>
        </p:txBody>
      </p:sp>
      <p:sp>
        <p:nvSpPr>
          <p:cNvPr id="21" name="TextBox 2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Données et méthode — Léa</a:t>
            </a:r>
          </a:p>
        </p:txBody>
      </p:sp>
      <p:sp>
        <p:nvSpPr>
          <p:cNvPr id="22" name="Oval 2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06432"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2647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8192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3736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La satisfaction dépend surtout du motif et de la classe</a:t>
            </a:r>
          </a:p>
        </p:txBody>
      </p:sp>
      <p:sp>
        <p:nvSpPr>
          <p:cNvPr id="5" name="Rounded Rectangle 4"/>
          <p:cNvSpPr/>
          <p:nvPr/>
        </p:nvSpPr>
        <p:spPr>
          <a:xfrm>
            <a:off x="508406" y="1828800"/>
            <a:ext cx="7589520"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782726" y="2011680"/>
          <a:ext cx="7040880" cy="3794760"/>
        </p:xfrm>
        <a:graphic>
          <a:graphicData uri="http://schemas.openxmlformats.org/drawingml/2006/chart">
            <c:chart xmlns:c="http://schemas.openxmlformats.org/drawingml/2006/chart" r:id="rId2"/>
          </a:graphicData>
        </a:graphic>
      </p:graphicFrame>
      <p:sp>
        <p:nvSpPr>
          <p:cNvPr id="7" name="Rounded Rectangle 6"/>
          <p:cNvSpPr/>
          <p:nvPr/>
        </p:nvSpPr>
        <p:spPr>
          <a:xfrm>
            <a:off x="8417966" y="1828800"/>
            <a:ext cx="3265322" cy="4160520"/>
          </a:xfrm>
          <a:prstGeom prst="roundRect">
            <a:avLst>
              <a:gd name="adj" fmla="val 6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8006" y="2148840"/>
            <a:ext cx="2743200" cy="731520"/>
          </a:xfrm>
          <a:prstGeom prst="rect">
            <a:avLst/>
          </a:prstGeom>
          <a:noFill/>
        </p:spPr>
        <p:txBody>
          <a:bodyPr wrap="square" lIns="0" rIns="0" tIns="0" bIns="0" anchor="t">
            <a:spAutoFit/>
          </a:bodyPr>
          <a:lstStyle/>
          <a:p>
            <a:pPr algn="l"/>
            <a:r>
              <a:rPr sz="4400" b="1">
                <a:solidFill>
                  <a:srgbClr val="000000"/>
                </a:solidFill>
                <a:latin typeface="Arial"/>
              </a:rPr>
              <a:t>43,3 %</a:t>
            </a:r>
          </a:p>
        </p:txBody>
      </p:sp>
      <p:sp>
        <p:nvSpPr>
          <p:cNvPr id="9" name="TextBox 8"/>
          <p:cNvSpPr txBox="1"/>
          <p:nvPr/>
        </p:nvSpPr>
        <p:spPr>
          <a:xfrm>
            <a:off x="8738006" y="2880360"/>
            <a:ext cx="2743200" cy="457200"/>
          </a:xfrm>
          <a:prstGeom prst="rect">
            <a:avLst/>
          </a:prstGeom>
          <a:noFill/>
        </p:spPr>
        <p:txBody>
          <a:bodyPr wrap="square" lIns="0" rIns="0" tIns="0" bIns="0" anchor="t">
            <a:spAutoFit/>
          </a:bodyPr>
          <a:lstStyle/>
          <a:p>
            <a:pPr algn="l"/>
            <a:r>
              <a:rPr sz="1500" b="0">
                <a:solidFill>
                  <a:srgbClr val="444444"/>
                </a:solidFill>
                <a:latin typeface="Arial"/>
              </a:rPr>
              <a:t>de satisfaits en moyenne</a:t>
            </a:r>
          </a:p>
        </p:txBody>
      </p:sp>
      <p:sp>
        <p:nvSpPr>
          <p:cNvPr id="10" name="TextBox 9"/>
          <p:cNvSpPr txBox="1"/>
          <p:nvPr/>
        </p:nvSpPr>
        <p:spPr>
          <a:xfrm>
            <a:off x="8738006" y="3520440"/>
            <a:ext cx="2926080" cy="365760"/>
          </a:xfrm>
          <a:prstGeom prst="rect">
            <a:avLst/>
          </a:prstGeom>
          <a:noFill/>
        </p:spPr>
        <p:txBody>
          <a:bodyPr wrap="square" lIns="0" rIns="0" tIns="0" bIns="0" anchor="t">
            <a:spAutoFit/>
          </a:bodyPr>
          <a:lstStyle/>
          <a:p>
            <a:pPr algn="l"/>
            <a:r>
              <a:rPr sz="1500" b="1">
                <a:solidFill>
                  <a:srgbClr val="000000"/>
                </a:solidFill>
                <a:latin typeface="Arial"/>
              </a:rPr>
              <a:t>Force du lien (V de Cramér)</a:t>
            </a:r>
          </a:p>
        </p:txBody>
      </p:sp>
      <p:sp>
        <p:nvSpPr>
          <p:cNvPr id="11" name="TextBox 10"/>
          <p:cNvSpPr txBox="1"/>
          <p:nvPr/>
        </p:nvSpPr>
        <p:spPr>
          <a:xfrm>
            <a:off x="8738006" y="3977639"/>
            <a:ext cx="1737360" cy="274320"/>
          </a:xfrm>
          <a:prstGeom prst="rect">
            <a:avLst/>
          </a:prstGeom>
          <a:noFill/>
        </p:spPr>
        <p:txBody>
          <a:bodyPr wrap="square" lIns="0" rIns="0" tIns="0" bIns="0" anchor="t">
            <a:spAutoFit/>
          </a:bodyPr>
          <a:lstStyle/>
          <a:p>
            <a:pPr algn="l"/>
            <a:r>
              <a:rPr sz="1300" b="0">
                <a:solidFill>
                  <a:srgbClr val="000000"/>
                </a:solidFill>
                <a:latin typeface="Arial"/>
              </a:rPr>
              <a:t>Classe</a:t>
            </a:r>
          </a:p>
        </p:txBody>
      </p:sp>
      <p:sp>
        <p:nvSpPr>
          <p:cNvPr id="12" name="TextBox 11"/>
          <p:cNvSpPr txBox="1"/>
          <p:nvPr/>
        </p:nvSpPr>
        <p:spPr>
          <a:xfrm>
            <a:off x="10841126" y="3977639"/>
            <a:ext cx="731520" cy="274320"/>
          </a:xfrm>
          <a:prstGeom prst="rect">
            <a:avLst/>
          </a:prstGeom>
          <a:noFill/>
        </p:spPr>
        <p:txBody>
          <a:bodyPr wrap="square" lIns="0" rIns="0" tIns="0" bIns="0" anchor="t">
            <a:spAutoFit/>
          </a:bodyPr>
          <a:lstStyle/>
          <a:p>
            <a:pPr algn="r"/>
            <a:r>
              <a:rPr sz="1300" b="1">
                <a:solidFill>
                  <a:srgbClr val="000000"/>
                </a:solidFill>
                <a:latin typeface="Arial"/>
              </a:rPr>
              <a:t>0,51</a:t>
            </a:r>
          </a:p>
        </p:txBody>
      </p:sp>
      <p:sp>
        <p:nvSpPr>
          <p:cNvPr id="13" name="Rounded Rectangle 12"/>
          <p:cNvSpPr/>
          <p:nvPr/>
        </p:nvSpPr>
        <p:spPr>
          <a:xfrm>
            <a:off x="8738006" y="4251959"/>
            <a:ext cx="2834640" cy="9144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38006" y="4251959"/>
            <a:ext cx="2602714" cy="91440"/>
          </a:xfrm>
          <a:prstGeom prst="roundRect">
            <a:avLst>
              <a:gd name="adj" fmla="val 50000"/>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8006" y="4453127"/>
            <a:ext cx="1737360" cy="274320"/>
          </a:xfrm>
          <a:prstGeom prst="rect">
            <a:avLst/>
          </a:prstGeom>
          <a:noFill/>
        </p:spPr>
        <p:txBody>
          <a:bodyPr wrap="square" lIns="0" rIns="0" tIns="0" bIns="0" anchor="t">
            <a:spAutoFit/>
          </a:bodyPr>
          <a:lstStyle/>
          <a:p>
            <a:pPr algn="l"/>
            <a:r>
              <a:rPr sz="1300" b="0">
                <a:solidFill>
                  <a:srgbClr val="000000"/>
                </a:solidFill>
                <a:latin typeface="Arial"/>
              </a:rPr>
              <a:t>Motif du voyage</a:t>
            </a:r>
          </a:p>
        </p:txBody>
      </p:sp>
      <p:sp>
        <p:nvSpPr>
          <p:cNvPr id="16" name="TextBox 15"/>
          <p:cNvSpPr txBox="1"/>
          <p:nvPr/>
        </p:nvSpPr>
        <p:spPr>
          <a:xfrm>
            <a:off x="10841126" y="4453127"/>
            <a:ext cx="731520" cy="274320"/>
          </a:xfrm>
          <a:prstGeom prst="rect">
            <a:avLst/>
          </a:prstGeom>
          <a:noFill/>
        </p:spPr>
        <p:txBody>
          <a:bodyPr wrap="square" lIns="0" rIns="0" tIns="0" bIns="0" anchor="t">
            <a:spAutoFit/>
          </a:bodyPr>
          <a:lstStyle/>
          <a:p>
            <a:pPr algn="r"/>
            <a:r>
              <a:rPr sz="1300" b="1">
                <a:solidFill>
                  <a:srgbClr val="000000"/>
                </a:solidFill>
                <a:latin typeface="Arial"/>
              </a:rPr>
              <a:t>0,45</a:t>
            </a:r>
          </a:p>
        </p:txBody>
      </p:sp>
      <p:sp>
        <p:nvSpPr>
          <p:cNvPr id="17" name="Rounded Rectangle 16"/>
          <p:cNvSpPr/>
          <p:nvPr/>
        </p:nvSpPr>
        <p:spPr>
          <a:xfrm>
            <a:off x="8738006" y="4727447"/>
            <a:ext cx="2834640" cy="9144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38006" y="4727447"/>
            <a:ext cx="2314097" cy="91440"/>
          </a:xfrm>
          <a:prstGeom prst="roundRect">
            <a:avLst>
              <a:gd name="adj" fmla="val 50000"/>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8006" y="4928616"/>
            <a:ext cx="1737360" cy="274320"/>
          </a:xfrm>
          <a:prstGeom prst="rect">
            <a:avLst/>
          </a:prstGeom>
          <a:noFill/>
        </p:spPr>
        <p:txBody>
          <a:bodyPr wrap="square" lIns="0" rIns="0" tIns="0" bIns="0" anchor="t">
            <a:spAutoFit/>
          </a:bodyPr>
          <a:lstStyle/>
          <a:p>
            <a:pPr algn="l"/>
            <a:r>
              <a:rPr sz="1300" b="0">
                <a:solidFill>
                  <a:srgbClr val="000000"/>
                </a:solidFill>
                <a:latin typeface="Arial"/>
              </a:rPr>
              <a:t>Âge</a:t>
            </a:r>
          </a:p>
        </p:txBody>
      </p:sp>
      <p:sp>
        <p:nvSpPr>
          <p:cNvPr id="20" name="TextBox 19"/>
          <p:cNvSpPr txBox="1"/>
          <p:nvPr/>
        </p:nvSpPr>
        <p:spPr>
          <a:xfrm>
            <a:off x="10841126" y="4928616"/>
            <a:ext cx="731520" cy="274320"/>
          </a:xfrm>
          <a:prstGeom prst="rect">
            <a:avLst/>
          </a:prstGeom>
          <a:noFill/>
        </p:spPr>
        <p:txBody>
          <a:bodyPr wrap="square" lIns="0" rIns="0" tIns="0" bIns="0" anchor="t">
            <a:spAutoFit/>
          </a:bodyPr>
          <a:lstStyle/>
          <a:p>
            <a:pPr algn="r"/>
            <a:r>
              <a:rPr sz="1300" b="1">
                <a:solidFill>
                  <a:srgbClr val="000000"/>
                </a:solidFill>
                <a:latin typeface="Arial"/>
              </a:rPr>
              <a:t>0,27</a:t>
            </a:r>
          </a:p>
        </p:txBody>
      </p:sp>
      <p:sp>
        <p:nvSpPr>
          <p:cNvPr id="21" name="Rounded Rectangle 20"/>
          <p:cNvSpPr/>
          <p:nvPr/>
        </p:nvSpPr>
        <p:spPr>
          <a:xfrm>
            <a:off x="8738006" y="5202936"/>
            <a:ext cx="2834640" cy="9144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38006" y="5202936"/>
            <a:ext cx="1386396" cy="91440"/>
          </a:xfrm>
          <a:prstGeom prst="roundRect">
            <a:avLst>
              <a:gd name="adj" fmla="val 50000"/>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8006" y="5404104"/>
            <a:ext cx="1737360" cy="274320"/>
          </a:xfrm>
          <a:prstGeom prst="rect">
            <a:avLst/>
          </a:prstGeom>
          <a:noFill/>
        </p:spPr>
        <p:txBody>
          <a:bodyPr wrap="square" lIns="0" rIns="0" tIns="0" bIns="0" anchor="t">
            <a:spAutoFit/>
          </a:bodyPr>
          <a:lstStyle/>
          <a:p>
            <a:pPr algn="l"/>
            <a:r>
              <a:rPr sz="1300" b="0">
                <a:solidFill>
                  <a:srgbClr val="000000"/>
                </a:solidFill>
                <a:latin typeface="Arial"/>
              </a:rPr>
              <a:t>Genre</a:t>
            </a:r>
          </a:p>
        </p:txBody>
      </p:sp>
      <p:sp>
        <p:nvSpPr>
          <p:cNvPr id="24" name="TextBox 23"/>
          <p:cNvSpPr txBox="1"/>
          <p:nvPr/>
        </p:nvSpPr>
        <p:spPr>
          <a:xfrm>
            <a:off x="10841126" y="5404104"/>
            <a:ext cx="731520" cy="274320"/>
          </a:xfrm>
          <a:prstGeom prst="rect">
            <a:avLst/>
          </a:prstGeom>
          <a:noFill/>
        </p:spPr>
        <p:txBody>
          <a:bodyPr wrap="square" lIns="0" rIns="0" tIns="0" bIns="0" anchor="t">
            <a:spAutoFit/>
          </a:bodyPr>
          <a:lstStyle/>
          <a:p>
            <a:pPr algn="r"/>
            <a:r>
              <a:rPr sz="1300" b="1">
                <a:solidFill>
                  <a:srgbClr val="000000"/>
                </a:solidFill>
                <a:latin typeface="Arial"/>
              </a:rPr>
              <a:t>0,01</a:t>
            </a:r>
          </a:p>
        </p:txBody>
      </p:sp>
      <p:sp>
        <p:nvSpPr>
          <p:cNvPr id="25" name="Rounded Rectangle 24"/>
          <p:cNvSpPr/>
          <p:nvPr/>
        </p:nvSpPr>
        <p:spPr>
          <a:xfrm>
            <a:off x="8738006" y="5678424"/>
            <a:ext cx="2834640" cy="9144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738006" y="5678424"/>
            <a:ext cx="91440" cy="9144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1 — Expliquer · Léa · taux de satisfaits par groupe, fichier d'entraînement</a:t>
            </a:r>
          </a:p>
        </p:txBody>
      </p:sp>
      <p:sp>
        <p:nvSpPr>
          <p:cNvPr id="28" name="Oval 27"/>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61880"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8192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3736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L'embarquement en ligne fait la plus grande différence</a:t>
            </a:r>
          </a:p>
        </p:txBody>
      </p:sp>
      <p:sp>
        <p:nvSpPr>
          <p:cNvPr id="5" name="Rounded Rectangle 4"/>
          <p:cNvSpPr/>
          <p:nvPr/>
        </p:nvSpPr>
        <p:spPr>
          <a:xfrm>
            <a:off x="508406" y="1828800"/>
            <a:ext cx="7589520"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782726" y="1920240"/>
          <a:ext cx="7040880" cy="3977639"/>
        </p:xfrm>
        <a:graphic>
          <a:graphicData uri="http://schemas.openxmlformats.org/drawingml/2006/chart">
            <c:chart xmlns:c="http://schemas.openxmlformats.org/drawingml/2006/chart" r:id="rId2"/>
          </a:graphicData>
        </a:graphic>
      </p:graphicFrame>
      <p:sp>
        <p:nvSpPr>
          <p:cNvPr id="7" name="Rounded Rectangle 6"/>
          <p:cNvSpPr/>
          <p:nvPr/>
        </p:nvSpPr>
        <p:spPr>
          <a:xfrm>
            <a:off x="8417966" y="1828800"/>
            <a:ext cx="3265322" cy="4160520"/>
          </a:xfrm>
          <a:prstGeom prst="roundRect">
            <a:avLst>
              <a:gd name="adj" fmla="val 6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ifi.png"/>
          <p:cNvPicPr>
            <a:picLocks noChangeAspect="1"/>
          </p:cNvPicPr>
          <p:nvPr/>
        </p:nvPicPr>
        <p:blipFill>
          <a:blip r:embed="rId3"/>
          <a:stretch>
            <a:fillRect/>
          </a:stretch>
        </p:blipFill>
        <p:spPr>
          <a:xfrm>
            <a:off x="8738006" y="2148840"/>
            <a:ext cx="640080" cy="640080"/>
          </a:xfrm>
          <a:prstGeom prst="rect">
            <a:avLst/>
          </a:prstGeom>
        </p:spPr>
      </p:pic>
      <p:sp>
        <p:nvSpPr>
          <p:cNvPr id="9" name="TextBox 8"/>
          <p:cNvSpPr txBox="1"/>
          <p:nvPr/>
        </p:nvSpPr>
        <p:spPr>
          <a:xfrm>
            <a:off x="8738006" y="2971800"/>
            <a:ext cx="2926080" cy="1463040"/>
          </a:xfrm>
          <a:prstGeom prst="rect">
            <a:avLst/>
          </a:prstGeom>
          <a:noFill/>
        </p:spPr>
        <p:txBody>
          <a:bodyPr wrap="square" lIns="0" rIns="0" tIns="0" bIns="0" anchor="t">
            <a:spAutoFit/>
          </a:bodyPr>
          <a:lstStyle/>
          <a:p>
            <a:pPr algn="l"/>
            <a:r>
              <a:rPr sz="1500" b="1">
                <a:solidFill>
                  <a:srgbClr val="444444"/>
                </a:solidFill>
                <a:latin typeface="Arial"/>
              </a:rPr>
              <a:t>Comment lire : </a:t>
            </a:r>
            <a:r>
              <a:rPr sz="1500" b="0">
                <a:solidFill>
                  <a:srgbClr val="444444"/>
                </a:solidFill>
                <a:latin typeface="Arial"/>
              </a:rPr>
              <a:t>écart de note moyenne (sur 5) entre passagers satisfaits et mécontents.</a:t>
            </a:r>
          </a:p>
        </p:txBody>
      </p:sp>
      <p:sp>
        <p:nvSpPr>
          <p:cNvPr id="10" name="TextBox 9"/>
          <p:cNvSpPr txBox="1"/>
          <p:nvPr/>
        </p:nvSpPr>
        <p:spPr>
          <a:xfrm>
            <a:off x="8738006" y="4206240"/>
            <a:ext cx="2926080" cy="1554480"/>
          </a:xfrm>
          <a:prstGeom prst="rect">
            <a:avLst/>
          </a:prstGeom>
          <a:noFill/>
        </p:spPr>
        <p:txBody>
          <a:bodyPr wrap="square" lIns="0" rIns="0" tIns="0" bIns="0" anchor="t">
            <a:spAutoFit/>
          </a:bodyPr>
          <a:lstStyle/>
          <a:p>
            <a:pPr algn="l"/>
            <a:r>
              <a:rPr sz="1500" b="1">
                <a:solidFill>
                  <a:srgbClr val="444444"/>
                </a:solidFill>
                <a:latin typeface="Arial"/>
              </a:rPr>
              <a:t>Porte d'embarquement et horaires : </a:t>
            </a:r>
            <a:r>
              <a:rPr sz="1500" b="0">
                <a:solidFill>
                  <a:srgbClr val="444444"/>
                </a:solidFill>
                <a:latin typeface="Arial"/>
              </a:rPr>
              <a:t>aucun lien avec la satisfaction.</a:t>
            </a:r>
          </a:p>
        </p:txBody>
      </p:sp>
      <p:sp>
        <p:nvSpPr>
          <p:cNvPr id="11" name="TextBox 1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1 — Expliquer · Léa · notes de 0 exclues (non-réponses)</a:t>
            </a:r>
          </a:p>
        </p:txBody>
      </p:sp>
      <p:sp>
        <p:nvSpPr>
          <p:cNvPr id="12" name="Oval 1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17328"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3736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A885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Les leviers changent selon le motif du voyage</a:t>
            </a:r>
          </a:p>
        </p:txBody>
      </p:sp>
      <p:sp>
        <p:nvSpPr>
          <p:cNvPr id="5" name="Rounded Rectangle 4"/>
          <p:cNvSpPr/>
          <p:nvPr/>
        </p:nvSpPr>
        <p:spPr>
          <a:xfrm>
            <a:off x="508406"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ise.png"/>
          <p:cNvPicPr>
            <a:picLocks noChangeAspect="1"/>
          </p:cNvPicPr>
          <p:nvPr/>
        </p:nvPicPr>
        <p:blipFill>
          <a:blip r:embed="rId2"/>
          <a:stretch>
            <a:fillRect/>
          </a:stretch>
        </p:blipFill>
        <p:spPr>
          <a:xfrm>
            <a:off x="874166" y="2148840"/>
            <a:ext cx="685800" cy="685800"/>
          </a:xfrm>
          <a:prstGeom prst="rect">
            <a:avLst/>
          </a:prstGeom>
        </p:spPr>
      </p:pic>
      <p:sp>
        <p:nvSpPr>
          <p:cNvPr id="7" name="TextBox 6"/>
          <p:cNvSpPr txBox="1"/>
          <p:nvPr/>
        </p:nvSpPr>
        <p:spPr>
          <a:xfrm>
            <a:off x="1788566" y="2148840"/>
            <a:ext cx="3781501" cy="411480"/>
          </a:xfrm>
          <a:prstGeom prst="rect">
            <a:avLst/>
          </a:prstGeom>
          <a:noFill/>
        </p:spPr>
        <p:txBody>
          <a:bodyPr wrap="square" lIns="0" rIns="0" tIns="0" bIns="0" anchor="t">
            <a:spAutoFit/>
          </a:bodyPr>
          <a:lstStyle/>
          <a:p>
            <a:pPr algn="l"/>
            <a:r>
              <a:rPr sz="2400" b="1">
                <a:solidFill>
                  <a:srgbClr val="000000"/>
                </a:solidFill>
                <a:latin typeface="Arial"/>
              </a:rPr>
              <a:t>Voyage pro</a:t>
            </a:r>
          </a:p>
        </p:txBody>
      </p:sp>
      <p:sp>
        <p:nvSpPr>
          <p:cNvPr id="8" name="TextBox 7"/>
          <p:cNvSpPr txBox="1"/>
          <p:nvPr/>
        </p:nvSpPr>
        <p:spPr>
          <a:xfrm>
            <a:off x="1788566" y="2560320"/>
            <a:ext cx="3781501" cy="320040"/>
          </a:xfrm>
          <a:prstGeom prst="rect">
            <a:avLst/>
          </a:prstGeom>
          <a:noFill/>
        </p:spPr>
        <p:txBody>
          <a:bodyPr wrap="square" lIns="0" rIns="0" tIns="0" bIns="0" anchor="t">
            <a:spAutoFit/>
          </a:bodyPr>
          <a:lstStyle/>
          <a:p>
            <a:pPr algn="l"/>
            <a:r>
              <a:rPr sz="1400" b="0">
                <a:solidFill>
                  <a:srgbClr val="444444"/>
                </a:solidFill>
                <a:latin typeface="Arial"/>
              </a:rPr>
              <a:t>71 655 passagers · 58 % satisfaits</a:t>
            </a:r>
          </a:p>
        </p:txBody>
      </p:sp>
      <p:sp>
        <p:nvSpPr>
          <p:cNvPr id="9" name="TextBox 8"/>
          <p:cNvSpPr txBox="1"/>
          <p:nvPr/>
        </p:nvSpPr>
        <p:spPr>
          <a:xfrm>
            <a:off x="874166" y="3246120"/>
            <a:ext cx="3598621" cy="320040"/>
          </a:xfrm>
          <a:prstGeom prst="rect">
            <a:avLst/>
          </a:prstGeom>
          <a:noFill/>
        </p:spPr>
        <p:txBody>
          <a:bodyPr wrap="square" lIns="0" rIns="0" tIns="0" bIns="0" anchor="t">
            <a:spAutoFit/>
          </a:bodyPr>
          <a:lstStyle/>
          <a:p>
            <a:pPr algn="l"/>
            <a:r>
              <a:rPr sz="1700" b="1">
                <a:solidFill>
                  <a:srgbClr val="000000"/>
                </a:solidFill>
                <a:latin typeface="Arial"/>
              </a:rPr>
              <a:t>Embarquement en ligne</a:t>
            </a:r>
          </a:p>
        </p:txBody>
      </p:sp>
      <p:sp>
        <p:nvSpPr>
          <p:cNvPr id="10" name="TextBox 9"/>
          <p:cNvSpPr txBox="1"/>
          <p:nvPr/>
        </p:nvSpPr>
        <p:spPr>
          <a:xfrm>
            <a:off x="4655667" y="3246120"/>
            <a:ext cx="914400" cy="320040"/>
          </a:xfrm>
          <a:prstGeom prst="rect">
            <a:avLst/>
          </a:prstGeom>
          <a:noFill/>
        </p:spPr>
        <p:txBody>
          <a:bodyPr wrap="square" lIns="0" rIns="0" tIns="0" bIns="0" anchor="t">
            <a:spAutoFit/>
          </a:bodyPr>
          <a:lstStyle/>
          <a:p>
            <a:pPr algn="r"/>
            <a:r>
              <a:rPr sz="1700" b="1">
                <a:solidFill>
                  <a:srgbClr val="0055FF"/>
                </a:solidFill>
                <a:latin typeface="Arial"/>
              </a:rPr>
              <a:t>1,54</a:t>
            </a:r>
          </a:p>
        </p:txBody>
      </p:sp>
      <p:sp>
        <p:nvSpPr>
          <p:cNvPr id="11" name="Rounded Rectangle 10"/>
          <p:cNvSpPr/>
          <p:nvPr/>
        </p:nvSpPr>
        <p:spPr>
          <a:xfrm>
            <a:off x="874166" y="3630168"/>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4166" y="3630168"/>
            <a:ext cx="3287130"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4166" y="3959352"/>
            <a:ext cx="3598621" cy="320040"/>
          </a:xfrm>
          <a:prstGeom prst="rect">
            <a:avLst/>
          </a:prstGeom>
          <a:noFill/>
        </p:spPr>
        <p:txBody>
          <a:bodyPr wrap="square" lIns="0" rIns="0" tIns="0" bIns="0" anchor="t">
            <a:spAutoFit/>
          </a:bodyPr>
          <a:lstStyle/>
          <a:p>
            <a:pPr algn="l"/>
            <a:r>
              <a:rPr sz="1700" b="1">
                <a:solidFill>
                  <a:srgbClr val="000000"/>
                </a:solidFill>
                <a:latin typeface="Arial"/>
              </a:rPr>
              <a:t>Divertissement à bord</a:t>
            </a:r>
          </a:p>
        </p:txBody>
      </p:sp>
      <p:sp>
        <p:nvSpPr>
          <p:cNvPr id="14" name="TextBox 13"/>
          <p:cNvSpPr txBox="1"/>
          <p:nvPr/>
        </p:nvSpPr>
        <p:spPr>
          <a:xfrm>
            <a:off x="4655667" y="3959352"/>
            <a:ext cx="914400" cy="320040"/>
          </a:xfrm>
          <a:prstGeom prst="rect">
            <a:avLst/>
          </a:prstGeom>
          <a:noFill/>
        </p:spPr>
        <p:txBody>
          <a:bodyPr wrap="square" lIns="0" rIns="0" tIns="0" bIns="0" anchor="t">
            <a:spAutoFit/>
          </a:bodyPr>
          <a:lstStyle/>
          <a:p>
            <a:pPr algn="r"/>
            <a:r>
              <a:rPr sz="1700" b="1">
                <a:solidFill>
                  <a:srgbClr val="0055FF"/>
                </a:solidFill>
                <a:latin typeface="Arial"/>
              </a:rPr>
              <a:t>1,31</a:t>
            </a:r>
          </a:p>
        </p:txBody>
      </p:sp>
      <p:sp>
        <p:nvSpPr>
          <p:cNvPr id="15" name="Rounded Rectangle 14"/>
          <p:cNvSpPr/>
          <p:nvPr/>
        </p:nvSpPr>
        <p:spPr>
          <a:xfrm>
            <a:off x="874166" y="4343400"/>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4166" y="4343400"/>
            <a:ext cx="2796195"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4166" y="4672583"/>
            <a:ext cx="3598621" cy="320040"/>
          </a:xfrm>
          <a:prstGeom prst="rect">
            <a:avLst/>
          </a:prstGeom>
          <a:noFill/>
        </p:spPr>
        <p:txBody>
          <a:bodyPr wrap="square" lIns="0" rIns="0" tIns="0" bIns="0" anchor="t">
            <a:spAutoFit/>
          </a:bodyPr>
          <a:lstStyle/>
          <a:p>
            <a:pPr algn="l"/>
            <a:r>
              <a:rPr sz="1700" b="1">
                <a:solidFill>
                  <a:srgbClr val="000000"/>
                </a:solidFill>
                <a:latin typeface="Arial"/>
              </a:rPr>
              <a:t>Confort du siège</a:t>
            </a:r>
          </a:p>
        </p:txBody>
      </p:sp>
      <p:sp>
        <p:nvSpPr>
          <p:cNvPr id="18" name="TextBox 17"/>
          <p:cNvSpPr txBox="1"/>
          <p:nvPr/>
        </p:nvSpPr>
        <p:spPr>
          <a:xfrm>
            <a:off x="4655667" y="4672583"/>
            <a:ext cx="914400" cy="320040"/>
          </a:xfrm>
          <a:prstGeom prst="rect">
            <a:avLst/>
          </a:prstGeom>
          <a:noFill/>
        </p:spPr>
        <p:txBody>
          <a:bodyPr wrap="square" lIns="0" rIns="0" tIns="0" bIns="0" anchor="t">
            <a:spAutoFit/>
          </a:bodyPr>
          <a:lstStyle/>
          <a:p>
            <a:pPr algn="r"/>
            <a:r>
              <a:rPr sz="1700" b="1">
                <a:solidFill>
                  <a:srgbClr val="0055FF"/>
                </a:solidFill>
                <a:latin typeface="Arial"/>
              </a:rPr>
              <a:t>1,14</a:t>
            </a:r>
          </a:p>
        </p:txBody>
      </p:sp>
      <p:sp>
        <p:nvSpPr>
          <p:cNvPr id="19" name="Rounded Rectangle 18"/>
          <p:cNvSpPr/>
          <p:nvPr/>
        </p:nvSpPr>
        <p:spPr>
          <a:xfrm>
            <a:off x="874166" y="5056631"/>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4166" y="5056631"/>
            <a:ext cx="2433330"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4166" y="5440680"/>
            <a:ext cx="4695901" cy="365760"/>
          </a:xfrm>
          <a:prstGeom prst="rect">
            <a:avLst/>
          </a:prstGeom>
          <a:noFill/>
        </p:spPr>
        <p:txBody>
          <a:bodyPr wrap="square" lIns="0" rIns="0" tIns="0" bIns="0" anchor="t">
            <a:spAutoFit/>
          </a:bodyPr>
          <a:lstStyle/>
          <a:p>
            <a:pPr algn="l"/>
            <a:r>
              <a:rPr sz="1500" b="1">
                <a:solidFill>
                  <a:srgbClr val="444444"/>
                </a:solidFill>
                <a:latin typeface="Arial"/>
              </a:rPr>
              <a:t>Priorité : gain de temps et confort</a:t>
            </a:r>
          </a:p>
        </p:txBody>
      </p:sp>
      <p:sp>
        <p:nvSpPr>
          <p:cNvPr id="22" name="Rounded Rectangle 21"/>
          <p:cNvSpPr/>
          <p:nvPr/>
        </p:nvSpPr>
        <p:spPr>
          <a:xfrm>
            <a:off x="6255867"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mille.png"/>
          <p:cNvPicPr>
            <a:picLocks noChangeAspect="1"/>
          </p:cNvPicPr>
          <p:nvPr/>
        </p:nvPicPr>
        <p:blipFill>
          <a:blip r:embed="rId3"/>
          <a:stretch>
            <a:fillRect/>
          </a:stretch>
        </p:blipFill>
        <p:spPr>
          <a:xfrm>
            <a:off x="6621627" y="2148840"/>
            <a:ext cx="685800" cy="685800"/>
          </a:xfrm>
          <a:prstGeom prst="rect">
            <a:avLst/>
          </a:prstGeom>
        </p:spPr>
      </p:pic>
      <p:sp>
        <p:nvSpPr>
          <p:cNvPr id="24" name="TextBox 23"/>
          <p:cNvSpPr txBox="1"/>
          <p:nvPr/>
        </p:nvSpPr>
        <p:spPr>
          <a:xfrm>
            <a:off x="7536027" y="2148840"/>
            <a:ext cx="3781501" cy="411480"/>
          </a:xfrm>
          <a:prstGeom prst="rect">
            <a:avLst/>
          </a:prstGeom>
          <a:noFill/>
        </p:spPr>
        <p:txBody>
          <a:bodyPr wrap="square" lIns="0" rIns="0" tIns="0" bIns="0" anchor="t">
            <a:spAutoFit/>
          </a:bodyPr>
          <a:lstStyle/>
          <a:p>
            <a:pPr algn="l"/>
            <a:r>
              <a:rPr sz="2400" b="1">
                <a:solidFill>
                  <a:srgbClr val="000000"/>
                </a:solidFill>
                <a:latin typeface="Arial"/>
              </a:rPr>
              <a:t>Voyage perso</a:t>
            </a:r>
          </a:p>
        </p:txBody>
      </p:sp>
      <p:sp>
        <p:nvSpPr>
          <p:cNvPr id="25" name="TextBox 24"/>
          <p:cNvSpPr txBox="1"/>
          <p:nvPr/>
        </p:nvSpPr>
        <p:spPr>
          <a:xfrm>
            <a:off x="7536027" y="2560320"/>
            <a:ext cx="3781501" cy="320040"/>
          </a:xfrm>
          <a:prstGeom prst="rect">
            <a:avLst/>
          </a:prstGeom>
          <a:noFill/>
        </p:spPr>
        <p:txBody>
          <a:bodyPr wrap="square" lIns="0" rIns="0" tIns="0" bIns="0" anchor="t">
            <a:spAutoFit/>
          </a:bodyPr>
          <a:lstStyle/>
          <a:p>
            <a:pPr algn="l"/>
            <a:r>
              <a:rPr sz="1400" b="0">
                <a:solidFill>
                  <a:srgbClr val="444444"/>
                </a:solidFill>
                <a:latin typeface="Arial"/>
              </a:rPr>
              <a:t>32 249 passagers · 10 % satisfaits</a:t>
            </a:r>
          </a:p>
        </p:txBody>
      </p:sp>
      <p:sp>
        <p:nvSpPr>
          <p:cNvPr id="26" name="TextBox 25"/>
          <p:cNvSpPr txBox="1"/>
          <p:nvPr/>
        </p:nvSpPr>
        <p:spPr>
          <a:xfrm>
            <a:off x="6621627" y="3246120"/>
            <a:ext cx="3598621" cy="320040"/>
          </a:xfrm>
          <a:prstGeom prst="rect">
            <a:avLst/>
          </a:prstGeom>
          <a:noFill/>
        </p:spPr>
        <p:txBody>
          <a:bodyPr wrap="square" lIns="0" rIns="0" tIns="0" bIns="0" anchor="t">
            <a:spAutoFit/>
          </a:bodyPr>
          <a:lstStyle/>
          <a:p>
            <a:pPr algn="l"/>
            <a:r>
              <a:rPr sz="1700" b="1">
                <a:solidFill>
                  <a:srgbClr val="000000"/>
                </a:solidFill>
                <a:latin typeface="Arial"/>
              </a:rPr>
              <a:t>Wi-Fi en vol</a:t>
            </a:r>
          </a:p>
        </p:txBody>
      </p:sp>
      <p:sp>
        <p:nvSpPr>
          <p:cNvPr id="27" name="TextBox 26"/>
          <p:cNvSpPr txBox="1"/>
          <p:nvPr/>
        </p:nvSpPr>
        <p:spPr>
          <a:xfrm>
            <a:off x="10403128" y="3246120"/>
            <a:ext cx="914400" cy="320040"/>
          </a:xfrm>
          <a:prstGeom prst="rect">
            <a:avLst/>
          </a:prstGeom>
          <a:noFill/>
        </p:spPr>
        <p:txBody>
          <a:bodyPr wrap="square" lIns="0" rIns="0" tIns="0" bIns="0" anchor="t">
            <a:spAutoFit/>
          </a:bodyPr>
          <a:lstStyle/>
          <a:p>
            <a:pPr algn="r"/>
            <a:r>
              <a:rPr sz="1700" b="1">
                <a:solidFill>
                  <a:srgbClr val="0055FF"/>
                </a:solidFill>
                <a:latin typeface="Arial"/>
              </a:rPr>
              <a:t>2,10</a:t>
            </a:r>
          </a:p>
        </p:txBody>
      </p:sp>
      <p:sp>
        <p:nvSpPr>
          <p:cNvPr id="28" name="Rounded Rectangle 27"/>
          <p:cNvSpPr/>
          <p:nvPr/>
        </p:nvSpPr>
        <p:spPr>
          <a:xfrm>
            <a:off x="6621627" y="3630168"/>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21627" y="3630168"/>
            <a:ext cx="4482451"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1627" y="3959352"/>
            <a:ext cx="3598621" cy="320040"/>
          </a:xfrm>
          <a:prstGeom prst="rect">
            <a:avLst/>
          </a:prstGeom>
          <a:noFill/>
        </p:spPr>
        <p:txBody>
          <a:bodyPr wrap="square" lIns="0" rIns="0" tIns="0" bIns="0" anchor="t">
            <a:spAutoFit/>
          </a:bodyPr>
          <a:lstStyle/>
          <a:p>
            <a:pPr algn="l"/>
            <a:r>
              <a:rPr sz="1700" b="1">
                <a:solidFill>
                  <a:srgbClr val="000000"/>
                </a:solidFill>
                <a:latin typeface="Arial"/>
              </a:rPr>
              <a:t>Réservation en ligne</a:t>
            </a:r>
          </a:p>
        </p:txBody>
      </p:sp>
      <p:sp>
        <p:nvSpPr>
          <p:cNvPr id="31" name="TextBox 30"/>
          <p:cNvSpPr txBox="1"/>
          <p:nvPr/>
        </p:nvSpPr>
        <p:spPr>
          <a:xfrm>
            <a:off x="10403128" y="3959352"/>
            <a:ext cx="914400" cy="320040"/>
          </a:xfrm>
          <a:prstGeom prst="rect">
            <a:avLst/>
          </a:prstGeom>
          <a:noFill/>
        </p:spPr>
        <p:txBody>
          <a:bodyPr wrap="square" lIns="0" rIns="0" tIns="0" bIns="0" anchor="t">
            <a:spAutoFit/>
          </a:bodyPr>
          <a:lstStyle/>
          <a:p>
            <a:pPr algn="r"/>
            <a:r>
              <a:rPr sz="1700" b="1">
                <a:solidFill>
                  <a:srgbClr val="0055FF"/>
                </a:solidFill>
                <a:latin typeface="Arial"/>
              </a:rPr>
              <a:t>1,88</a:t>
            </a:r>
          </a:p>
        </p:txBody>
      </p:sp>
      <p:sp>
        <p:nvSpPr>
          <p:cNvPr id="32" name="Rounded Rectangle 31"/>
          <p:cNvSpPr/>
          <p:nvPr/>
        </p:nvSpPr>
        <p:spPr>
          <a:xfrm>
            <a:off x="6621627" y="4343400"/>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21627" y="4343400"/>
            <a:ext cx="4012861"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1627" y="4672583"/>
            <a:ext cx="3598621" cy="320040"/>
          </a:xfrm>
          <a:prstGeom prst="rect">
            <a:avLst/>
          </a:prstGeom>
          <a:noFill/>
        </p:spPr>
        <p:txBody>
          <a:bodyPr wrap="square" lIns="0" rIns="0" tIns="0" bIns="0" anchor="t">
            <a:spAutoFit/>
          </a:bodyPr>
          <a:lstStyle/>
          <a:p>
            <a:pPr algn="l"/>
            <a:r>
              <a:rPr sz="1700" b="1">
                <a:solidFill>
                  <a:srgbClr val="000000"/>
                </a:solidFill>
                <a:latin typeface="Arial"/>
              </a:rPr>
              <a:t>Embarquement en ligne</a:t>
            </a:r>
          </a:p>
        </p:txBody>
      </p:sp>
      <p:sp>
        <p:nvSpPr>
          <p:cNvPr id="35" name="TextBox 34"/>
          <p:cNvSpPr txBox="1"/>
          <p:nvPr/>
        </p:nvSpPr>
        <p:spPr>
          <a:xfrm>
            <a:off x="10403128" y="4672583"/>
            <a:ext cx="914400" cy="320040"/>
          </a:xfrm>
          <a:prstGeom prst="rect">
            <a:avLst/>
          </a:prstGeom>
          <a:noFill/>
        </p:spPr>
        <p:txBody>
          <a:bodyPr wrap="square" lIns="0" rIns="0" tIns="0" bIns="0" anchor="t">
            <a:spAutoFit/>
          </a:bodyPr>
          <a:lstStyle/>
          <a:p>
            <a:pPr algn="r"/>
            <a:r>
              <a:rPr sz="1700" b="1">
                <a:solidFill>
                  <a:srgbClr val="0055FF"/>
                </a:solidFill>
                <a:latin typeface="Arial"/>
              </a:rPr>
              <a:t>1,33</a:t>
            </a:r>
          </a:p>
        </p:txBody>
      </p:sp>
      <p:sp>
        <p:nvSpPr>
          <p:cNvPr id="36" name="Rounded Rectangle 35"/>
          <p:cNvSpPr/>
          <p:nvPr/>
        </p:nvSpPr>
        <p:spPr>
          <a:xfrm>
            <a:off x="6621627" y="5056631"/>
            <a:ext cx="4695901" cy="14630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21627" y="5056631"/>
            <a:ext cx="2838885" cy="14630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1627" y="5440680"/>
            <a:ext cx="4695901" cy="365760"/>
          </a:xfrm>
          <a:prstGeom prst="rect">
            <a:avLst/>
          </a:prstGeom>
          <a:noFill/>
        </p:spPr>
        <p:txBody>
          <a:bodyPr wrap="square" lIns="0" rIns="0" tIns="0" bIns="0" anchor="t">
            <a:spAutoFit/>
          </a:bodyPr>
          <a:lstStyle/>
          <a:p>
            <a:pPr algn="l"/>
            <a:r>
              <a:rPr sz="1500" b="1">
                <a:solidFill>
                  <a:srgbClr val="444444"/>
                </a:solidFill>
                <a:latin typeface="Arial"/>
              </a:rPr>
              <a:t>Priorité : le numérique</a:t>
            </a:r>
          </a:p>
        </p:txBody>
      </p:sp>
      <p:sp>
        <p:nvSpPr>
          <p:cNvPr id="39" name="TextBox 38"/>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1 — Expliquer · Léa · écart de note moyenne entre satisfaits et mécontents, par segment</a:t>
            </a:r>
          </a:p>
        </p:txBody>
      </p:sp>
      <p:sp>
        <p:nvSpPr>
          <p:cNvPr id="40" name="Oval 39"/>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872776"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19281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56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Lié à la satisfaction ne veut pas dire « cause »</a:t>
            </a:r>
          </a:p>
        </p:txBody>
      </p:sp>
      <p:sp>
        <p:nvSpPr>
          <p:cNvPr id="6" name="Rounded Rectangle 5"/>
          <p:cNvSpPr/>
          <p:nvPr/>
        </p:nvSpPr>
        <p:spPr>
          <a:xfrm>
            <a:off x="508406" y="1828800"/>
            <a:ext cx="11174882"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8446" y="2057400"/>
          <a:ext cx="10533888" cy="3017520"/>
        </p:xfrm>
        <a:graphic>
          <a:graphicData uri="http://schemas.openxmlformats.org/drawingml/2006/table">
            <a:tbl>
              <a:tblPr firstRow="0" bandRow="0">
                <a:tableStyleId>{5C22544A-7EE6-4342-B048-85BDC9FD1C3A}</a:tableStyleId>
              </a:tblPr>
              <a:tblGrid>
                <a:gridCol w="2148840"/>
                <a:gridCol w="2240280"/>
                <a:gridCol w="2011680"/>
                <a:gridCol w="1783080"/>
                <a:gridCol w="2350008"/>
              </a:tblGrid>
              <a:tr h="502920">
                <a:tc>
                  <a:txBody>
                    <a:bodyPr wrap="square"/>
                    <a:lstStyle/>
                    <a:p>
                      <a:r>
                        <a:rPr sz="1400" b="1">
                          <a:solidFill>
                            <a:srgbClr val="000000"/>
                          </a:solidFill>
                          <a:latin typeface="Arial"/>
                        </a:rPr>
                        <a:t>Facteur</a:t>
                      </a:r>
                    </a:p>
                  </a:txBody>
                  <a:tcPr marL="109728" marR="109728" anchor="ctr">
                    <a:solidFill>
                      <a:srgbClr val="F4F4F4"/>
                    </a:solidFill>
                  </a:tcPr>
                </a:tc>
                <a:tc>
                  <a:txBody>
                    <a:bodyPr wrap="square"/>
                    <a:lstStyle/>
                    <a:p>
                      <a:r>
                        <a:rPr sz="1400" b="1">
                          <a:solidFill>
                            <a:srgbClr val="000000"/>
                          </a:solidFill>
                          <a:latin typeface="Arial"/>
                        </a:rPr>
                        <a:t>Lien avec la satisfaction</a:t>
                      </a:r>
                    </a:p>
                  </a:txBody>
                  <a:tcPr marL="109728" marR="109728" anchor="ctr">
                    <a:solidFill>
                      <a:srgbClr val="F4F4F4"/>
                    </a:solidFill>
                  </a:tcPr>
                </a:tc>
                <a:tc>
                  <a:txBody>
                    <a:bodyPr wrap="square"/>
                    <a:lstStyle/>
                    <a:p>
                      <a:r>
                        <a:rPr sz="1400" b="1">
                          <a:solidFill>
                            <a:srgbClr val="000000"/>
                          </a:solidFill>
                          <a:latin typeface="Arial"/>
                        </a:rPr>
                        <a:t>La compagnie peut agir ?</a:t>
                      </a:r>
                    </a:p>
                  </a:txBody>
                  <a:tcPr marL="109728" marR="109728" anchor="ctr">
                    <a:solidFill>
                      <a:srgbClr val="F4F4F4"/>
                    </a:solidFill>
                  </a:tcPr>
                </a:tc>
                <a:tc>
                  <a:txBody>
                    <a:bodyPr wrap="square"/>
                    <a:lstStyle/>
                    <a:p>
                      <a:r>
                        <a:rPr sz="1400" b="1">
                          <a:solidFill>
                            <a:srgbClr val="000000"/>
                          </a:solidFill>
                          <a:latin typeface="Arial"/>
                        </a:rPr>
                        <a:t>Cause prouvée ?</a:t>
                      </a:r>
                    </a:p>
                  </a:txBody>
                  <a:tcPr marL="109728" marR="109728" anchor="ctr">
                    <a:solidFill>
                      <a:srgbClr val="F4F4F4"/>
                    </a:solidFill>
                  </a:tcPr>
                </a:tc>
                <a:tc>
                  <a:txBody>
                    <a:bodyPr wrap="square"/>
                    <a:lstStyle/>
                    <a:p>
                      <a:r>
                        <a:rPr sz="1400" b="1">
                          <a:solidFill>
                            <a:srgbClr val="000000"/>
                          </a:solidFill>
                          <a:latin typeface="Arial"/>
                        </a:rPr>
                        <a:t>Action proposée</a:t>
                      </a:r>
                    </a:p>
                  </a:txBody>
                  <a:tcPr marL="109728" marR="109728" anchor="ctr">
                    <a:solidFill>
                      <a:srgbClr val="F4F4F4"/>
                    </a:solidFill>
                  </a:tcPr>
                </a:tc>
              </a:tr>
              <a:tr h="502920">
                <a:tc>
                  <a:txBody>
                    <a:bodyPr wrap="square"/>
                    <a:lstStyle/>
                    <a:p>
                      <a:r>
                        <a:rPr sz="1400" b="1">
                          <a:solidFill>
                            <a:srgbClr val="000000"/>
                          </a:solidFill>
                          <a:latin typeface="Arial"/>
                        </a:rPr>
                        <a:t>Wi-Fi en vol</a:t>
                      </a:r>
                    </a:p>
                  </a:txBody>
                  <a:tcPr marL="109728" marR="109728" anchor="ctr">
                    <a:solidFill>
                      <a:srgbClr val="FFFFFF"/>
                    </a:solidFill>
                  </a:tcPr>
                </a:tc>
                <a:tc>
                  <a:txBody>
                    <a:bodyPr wrap="square"/>
                    <a:lstStyle/>
                    <a:p>
                      <a:r>
                        <a:rPr sz="1400" b="0">
                          <a:solidFill>
                            <a:srgbClr val="444444"/>
                          </a:solidFill>
                          <a:latin typeface="Arial"/>
                        </a:rPr>
                        <a:t>Fort (2,10 en voyage perso)</a:t>
                      </a:r>
                    </a:p>
                  </a:txBody>
                  <a:tcPr marL="109728" marR="109728" anchor="ctr">
                    <a:solidFill>
                      <a:srgbClr val="FFFFFF"/>
                    </a:solidFill>
                  </a:tcPr>
                </a:tc>
                <a:tc>
                  <a:txBody>
                    <a:bodyPr wrap="square"/>
                    <a:lstStyle/>
                    <a:p>
                      <a:r>
                        <a:rPr sz="1400" b="0">
                          <a:solidFill>
                            <a:srgbClr val="444444"/>
                          </a:solidFill>
                          <a:latin typeface="Arial"/>
                        </a:rPr>
                        <a:t>Oui : réseau</a:t>
                      </a:r>
                    </a:p>
                  </a:txBody>
                  <a:tcPr marL="109728" marR="109728" anchor="ctr">
                    <a:solidFill>
                      <a:srgbClr val="FFFFFF"/>
                    </a:solidFill>
                  </a:tcPr>
                </a:tc>
                <a:tc>
                  <a:txBody>
                    <a:bodyPr wrap="square"/>
                    <a:lstStyle/>
                    <a:p>
                      <a:r>
                        <a:rPr sz="1400" b="0">
                          <a:solidFill>
                            <a:srgbClr val="444444"/>
                          </a:solidFill>
                          <a:latin typeface="Arial"/>
                        </a:rPr>
                        <a:t>Non démontré</a:t>
                      </a:r>
                    </a:p>
                  </a:txBody>
                  <a:tcPr marL="109728" marR="109728" anchor="ctr">
                    <a:solidFill>
                      <a:srgbClr val="FFFFFF"/>
                    </a:solidFill>
                  </a:tcPr>
                </a:tc>
                <a:tc>
                  <a:txBody>
                    <a:bodyPr wrap="square"/>
                    <a:lstStyle/>
                    <a:p>
                      <a:r>
                        <a:rPr sz="1400" b="0">
                          <a:solidFill>
                            <a:srgbClr val="000000"/>
                          </a:solidFill>
                          <a:latin typeface="Arial"/>
                        </a:rPr>
                        <a:t>Fiabiliser la connexion</a:t>
                      </a:r>
                    </a:p>
                  </a:txBody>
                  <a:tcPr marL="109728" marR="109728" anchor="ctr">
                    <a:solidFill>
                      <a:srgbClr val="FFFFFF"/>
                    </a:solidFill>
                  </a:tcPr>
                </a:tc>
              </a:tr>
              <a:tr h="502920">
                <a:tc>
                  <a:txBody>
                    <a:bodyPr wrap="square"/>
                    <a:lstStyle/>
                    <a:p>
                      <a:r>
                        <a:rPr sz="1400" b="1">
                          <a:solidFill>
                            <a:srgbClr val="000000"/>
                          </a:solidFill>
                          <a:latin typeface="Arial"/>
                        </a:rPr>
                        <a:t>Embarquement en ligne</a:t>
                      </a:r>
                    </a:p>
                  </a:txBody>
                  <a:tcPr marL="109728" marR="109728" anchor="ctr">
                    <a:solidFill>
                      <a:srgbClr val="FFFFFF"/>
                    </a:solidFill>
                  </a:tcPr>
                </a:tc>
                <a:tc>
                  <a:txBody>
                    <a:bodyPr wrap="square"/>
                    <a:lstStyle/>
                    <a:p>
                      <a:r>
                        <a:rPr sz="1400" b="0">
                          <a:solidFill>
                            <a:srgbClr val="444444"/>
                          </a:solidFill>
                          <a:latin typeface="Arial"/>
                        </a:rPr>
                        <a:t>Fort (1,45)</a:t>
                      </a:r>
                    </a:p>
                  </a:txBody>
                  <a:tcPr marL="109728" marR="109728" anchor="ctr">
                    <a:solidFill>
                      <a:srgbClr val="FFFFFF"/>
                    </a:solidFill>
                  </a:tcPr>
                </a:tc>
                <a:tc>
                  <a:txBody>
                    <a:bodyPr wrap="square"/>
                    <a:lstStyle/>
                    <a:p>
                      <a:r>
                        <a:rPr sz="1400" b="0">
                          <a:solidFill>
                            <a:srgbClr val="444444"/>
                          </a:solidFill>
                          <a:latin typeface="Arial"/>
                        </a:rPr>
                        <a:t>Oui : parcours numérique</a:t>
                      </a:r>
                    </a:p>
                  </a:txBody>
                  <a:tcPr marL="109728" marR="109728" anchor="ctr">
                    <a:solidFill>
                      <a:srgbClr val="FFFFFF"/>
                    </a:solidFill>
                  </a:tcPr>
                </a:tc>
                <a:tc>
                  <a:txBody>
                    <a:bodyPr wrap="square"/>
                    <a:lstStyle/>
                    <a:p>
                      <a:r>
                        <a:rPr sz="1400" b="0">
                          <a:solidFill>
                            <a:srgbClr val="444444"/>
                          </a:solidFill>
                          <a:latin typeface="Arial"/>
                        </a:rPr>
                        <a:t>Non démontré</a:t>
                      </a:r>
                    </a:p>
                  </a:txBody>
                  <a:tcPr marL="109728" marR="109728" anchor="ctr">
                    <a:solidFill>
                      <a:srgbClr val="FFFFFF"/>
                    </a:solidFill>
                  </a:tcPr>
                </a:tc>
                <a:tc>
                  <a:txBody>
                    <a:bodyPr wrap="square"/>
                    <a:lstStyle/>
                    <a:p>
                      <a:r>
                        <a:rPr sz="1400" b="0">
                          <a:solidFill>
                            <a:srgbClr val="000000"/>
                          </a:solidFill>
                          <a:latin typeface="Arial"/>
                        </a:rPr>
                        <a:t>Simplifier l'application</a:t>
                      </a:r>
                    </a:p>
                  </a:txBody>
                  <a:tcPr marL="109728" marR="109728" anchor="ctr">
                    <a:solidFill>
                      <a:srgbClr val="FFFFFF"/>
                    </a:solidFill>
                  </a:tcPr>
                </a:tc>
              </a:tr>
              <a:tr h="502920">
                <a:tc>
                  <a:txBody>
                    <a:bodyPr wrap="square"/>
                    <a:lstStyle/>
                    <a:p>
                      <a:r>
                        <a:rPr sz="1400" b="1">
                          <a:solidFill>
                            <a:srgbClr val="000000"/>
                          </a:solidFill>
                          <a:latin typeface="Arial"/>
                        </a:rPr>
                        <a:t>Siège et divertissement</a:t>
                      </a:r>
                    </a:p>
                  </a:txBody>
                  <a:tcPr marL="109728" marR="109728" anchor="ctr">
                    <a:solidFill>
                      <a:srgbClr val="FFFFFF"/>
                    </a:solidFill>
                  </a:tcPr>
                </a:tc>
                <a:tc>
                  <a:txBody>
                    <a:bodyPr wrap="square"/>
                    <a:lstStyle/>
                    <a:p>
                      <a:r>
                        <a:rPr sz="1400" b="0">
                          <a:solidFill>
                            <a:srgbClr val="444444"/>
                          </a:solidFill>
                          <a:latin typeface="Arial"/>
                        </a:rPr>
                        <a:t>Fort en voyage pro</a:t>
                      </a:r>
                    </a:p>
                  </a:txBody>
                  <a:tcPr marL="109728" marR="109728" anchor="ctr">
                    <a:solidFill>
                      <a:srgbClr val="FFFFFF"/>
                    </a:solidFill>
                  </a:tcPr>
                </a:tc>
                <a:tc>
                  <a:txBody>
                    <a:bodyPr wrap="square"/>
                    <a:lstStyle/>
                    <a:p>
                      <a:r>
                        <a:rPr sz="1400" b="0">
                          <a:solidFill>
                            <a:srgbClr val="444444"/>
                          </a:solidFill>
                          <a:latin typeface="Arial"/>
                        </a:rPr>
                        <a:t>Oui, mais coûteux</a:t>
                      </a:r>
                    </a:p>
                  </a:txBody>
                  <a:tcPr marL="109728" marR="109728" anchor="ctr">
                    <a:solidFill>
                      <a:srgbClr val="FFFFFF"/>
                    </a:solidFill>
                  </a:tcPr>
                </a:tc>
                <a:tc>
                  <a:txBody>
                    <a:bodyPr wrap="square"/>
                    <a:lstStyle/>
                    <a:p>
                      <a:r>
                        <a:rPr sz="1400" b="0">
                          <a:solidFill>
                            <a:srgbClr val="444444"/>
                          </a:solidFill>
                          <a:latin typeface="Arial"/>
                        </a:rPr>
                        <a:t>Non démontré</a:t>
                      </a:r>
                    </a:p>
                  </a:txBody>
                  <a:tcPr marL="109728" marR="109728" anchor="ctr">
                    <a:solidFill>
                      <a:srgbClr val="FFFFFF"/>
                    </a:solidFill>
                  </a:tcPr>
                </a:tc>
                <a:tc>
                  <a:txBody>
                    <a:bodyPr wrap="square"/>
                    <a:lstStyle/>
                    <a:p>
                      <a:r>
                        <a:rPr sz="1400" b="0">
                          <a:solidFill>
                            <a:srgbClr val="000000"/>
                          </a:solidFill>
                          <a:latin typeface="Arial"/>
                        </a:rPr>
                        <a:t>Cibler les lignes affaires</a:t>
                      </a:r>
                    </a:p>
                  </a:txBody>
                  <a:tcPr marL="109728" marR="109728" anchor="ctr">
                    <a:solidFill>
                      <a:srgbClr val="FFFFFF"/>
                    </a:solidFill>
                  </a:tcPr>
                </a:tc>
              </a:tr>
              <a:tr h="502920">
                <a:tc>
                  <a:txBody>
                    <a:bodyPr wrap="square"/>
                    <a:lstStyle/>
                    <a:p>
                      <a:r>
                        <a:rPr sz="1400" b="1">
                          <a:solidFill>
                            <a:srgbClr val="000000"/>
                          </a:solidFill>
                          <a:latin typeface="Arial"/>
                        </a:rPr>
                        <a:t>Classe et motif du voyage</a:t>
                      </a:r>
                    </a:p>
                  </a:txBody>
                  <a:tcPr marL="109728" marR="109728" anchor="ctr">
                    <a:solidFill>
                      <a:srgbClr val="FFFFFF"/>
                    </a:solidFill>
                  </a:tcPr>
                </a:tc>
                <a:tc>
                  <a:txBody>
                    <a:bodyPr wrap="square"/>
                    <a:lstStyle/>
                    <a:p>
                      <a:r>
                        <a:rPr sz="1400" b="0">
                          <a:solidFill>
                            <a:srgbClr val="444444"/>
                          </a:solidFill>
                          <a:latin typeface="Arial"/>
                        </a:rPr>
                        <a:t>Très fort (0,51 et 0,45)</a:t>
                      </a:r>
                    </a:p>
                  </a:txBody>
                  <a:tcPr marL="109728" marR="109728" anchor="ctr">
                    <a:solidFill>
                      <a:srgbClr val="FFFFFF"/>
                    </a:solidFill>
                  </a:tcPr>
                </a:tc>
                <a:tc>
                  <a:txBody>
                    <a:bodyPr wrap="square"/>
                    <a:lstStyle/>
                    <a:p>
                      <a:r>
                        <a:rPr sz="1400" b="0">
                          <a:solidFill>
                            <a:srgbClr val="444444"/>
                          </a:solidFill>
                          <a:latin typeface="Arial"/>
                        </a:rPr>
                        <a:t>Pas directement</a:t>
                      </a:r>
                    </a:p>
                  </a:txBody>
                  <a:tcPr marL="109728" marR="109728" anchor="ctr">
                    <a:solidFill>
                      <a:srgbClr val="FFFFFF"/>
                    </a:solidFill>
                  </a:tcPr>
                </a:tc>
                <a:tc>
                  <a:txBody>
                    <a:bodyPr wrap="square"/>
                    <a:lstStyle/>
                    <a:p>
                      <a:r>
                        <a:rPr sz="1400" b="0">
                          <a:solidFill>
                            <a:srgbClr val="444444"/>
                          </a:solidFill>
                          <a:latin typeface="Arial"/>
                        </a:rPr>
                        <a:t>Non : profil du client</a:t>
                      </a:r>
                    </a:p>
                  </a:txBody>
                  <a:tcPr marL="109728" marR="109728" anchor="ctr">
                    <a:solidFill>
                      <a:srgbClr val="FFFFFF"/>
                    </a:solidFill>
                  </a:tcPr>
                </a:tc>
                <a:tc>
                  <a:txBody>
                    <a:bodyPr wrap="square"/>
                    <a:lstStyle/>
                    <a:p>
                      <a:r>
                        <a:rPr sz="1400" b="0">
                          <a:solidFill>
                            <a:srgbClr val="000000"/>
                          </a:solidFill>
                          <a:latin typeface="Arial"/>
                        </a:rPr>
                        <a:t>Adapter l'offre par segment</a:t>
                      </a:r>
                    </a:p>
                  </a:txBody>
                  <a:tcPr marL="109728" marR="109728" anchor="ctr">
                    <a:solidFill>
                      <a:srgbClr val="FFFFFF"/>
                    </a:solidFill>
                  </a:tcPr>
                </a:tc>
              </a:tr>
              <a:tr h="502920">
                <a:tc>
                  <a:txBody>
                    <a:bodyPr wrap="square"/>
                    <a:lstStyle/>
                    <a:p>
                      <a:r>
                        <a:rPr sz="1400" b="1">
                          <a:solidFill>
                            <a:srgbClr val="000000"/>
                          </a:solidFill>
                          <a:latin typeface="Arial"/>
                        </a:rPr>
                        <a:t>Porte et horaires</a:t>
                      </a:r>
                    </a:p>
                  </a:txBody>
                  <a:tcPr marL="109728" marR="109728" anchor="ctr">
                    <a:solidFill>
                      <a:srgbClr val="FFFFFF"/>
                    </a:solidFill>
                  </a:tcPr>
                </a:tc>
                <a:tc>
                  <a:txBody>
                    <a:bodyPr wrap="square"/>
                    <a:lstStyle/>
                    <a:p>
                      <a:r>
                        <a:rPr sz="1400" b="0">
                          <a:solidFill>
                            <a:srgbClr val="444444"/>
                          </a:solidFill>
                          <a:latin typeface="Arial"/>
                        </a:rPr>
                        <a:t>Aucun</a:t>
                      </a:r>
                    </a:p>
                  </a:txBody>
                  <a:tcPr marL="109728" marR="109728" anchor="ctr">
                    <a:solidFill>
                      <a:srgbClr val="FFFFFF"/>
                    </a:solidFill>
                  </a:tcPr>
                </a:tc>
                <a:tc>
                  <a:txBody>
                    <a:bodyPr wrap="square"/>
                    <a:lstStyle/>
                    <a:p>
                      <a:r>
                        <a:rPr sz="1400" b="0">
                          <a:solidFill>
                            <a:srgbClr val="444444"/>
                          </a:solidFill>
                          <a:latin typeface="Arial"/>
                        </a:rPr>
                        <a:t>—</a:t>
                      </a:r>
                    </a:p>
                  </a:txBody>
                  <a:tcPr marL="109728" marR="109728" anchor="ctr">
                    <a:solidFill>
                      <a:srgbClr val="FFFFFF"/>
                    </a:solidFill>
                  </a:tcPr>
                </a:tc>
                <a:tc>
                  <a:txBody>
                    <a:bodyPr wrap="square"/>
                    <a:lstStyle/>
                    <a:p>
                      <a:r>
                        <a:rPr sz="1400" b="0">
                          <a:solidFill>
                            <a:srgbClr val="444444"/>
                          </a:solidFill>
                          <a:latin typeface="Arial"/>
                        </a:rPr>
                        <a:t>—</a:t>
                      </a:r>
                    </a:p>
                  </a:txBody>
                  <a:tcPr marL="109728" marR="109728" anchor="ctr">
                    <a:solidFill>
                      <a:srgbClr val="FFFFFF"/>
                    </a:solidFill>
                  </a:tcPr>
                </a:tc>
                <a:tc>
                  <a:txBody>
                    <a:bodyPr wrap="square"/>
                    <a:lstStyle/>
                    <a:p>
                      <a:r>
                        <a:rPr sz="1400" b="0">
                          <a:solidFill>
                            <a:srgbClr val="000000"/>
                          </a:solidFill>
                          <a:latin typeface="Arial"/>
                        </a:rPr>
                        <a:t>Pas de budget</a:t>
                      </a:r>
                    </a:p>
                  </a:txBody>
                  <a:tcPr marL="109728" marR="109728" anchor="ctr">
                    <a:solidFill>
                      <a:srgbClr val="FFFFFF"/>
                    </a:solidFill>
                  </a:tcPr>
                </a:tc>
              </a:tr>
            </a:tbl>
          </a:graphicData>
        </a:graphic>
      </p:graphicFrame>
      <p:pic>
        <p:nvPicPr>
          <p:cNvPr id="8" name="Picture 7" descr="alerte.png"/>
          <p:cNvPicPr>
            <a:picLocks noChangeAspect="1"/>
          </p:cNvPicPr>
          <p:nvPr/>
        </p:nvPicPr>
        <p:blipFill>
          <a:blip r:embed="rId2"/>
          <a:stretch>
            <a:fillRect/>
          </a:stretch>
        </p:blipFill>
        <p:spPr>
          <a:xfrm>
            <a:off x="828446" y="5303520"/>
            <a:ext cx="457200" cy="457200"/>
          </a:xfrm>
          <a:prstGeom prst="rect">
            <a:avLst/>
          </a:prstGeom>
        </p:spPr>
      </p:pic>
      <p:sp>
        <p:nvSpPr>
          <p:cNvPr id="9" name="TextBox 8"/>
          <p:cNvSpPr txBox="1"/>
          <p:nvPr/>
        </p:nvSpPr>
        <p:spPr>
          <a:xfrm>
            <a:off x="1468526" y="5285232"/>
            <a:ext cx="9894722" cy="502920"/>
          </a:xfrm>
          <a:prstGeom prst="rect">
            <a:avLst/>
          </a:prstGeom>
          <a:noFill/>
        </p:spPr>
        <p:txBody>
          <a:bodyPr wrap="square" lIns="0" rIns="0" tIns="0" bIns="0" anchor="ctr">
            <a:spAutoFit/>
          </a:bodyPr>
          <a:lstStyle/>
          <a:p>
            <a:pPr algn="l"/>
            <a:r>
              <a:rPr sz="1500" b="1">
                <a:solidFill>
                  <a:srgbClr val="000000"/>
                </a:solidFill>
                <a:latin typeface="Arial"/>
              </a:rPr>
              <a:t>Pour prouver un effet : améliorer un service sur une partie des vols seulement, et comparer la satisfaction.</a:t>
            </a:r>
          </a:p>
        </p:txBody>
      </p:sp>
      <p:sp>
        <p:nvSpPr>
          <p:cNvPr id="10" name="TextBox 9"/>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1 — Expliquer · Léa</a:t>
            </a:r>
          </a:p>
        </p:txBody>
      </p:sp>
      <p:sp>
        <p:nvSpPr>
          <p:cNvPr id="11" name="Oval 10"/>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28224"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4826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Le modèle n'utilise que ce qui est connu à l'atterrissage</a:t>
            </a:r>
          </a:p>
        </p:txBody>
      </p:sp>
      <p:sp>
        <p:nvSpPr>
          <p:cNvPr id="5" name="Rounded Rectangle 4"/>
          <p:cNvSpPr/>
          <p:nvPr/>
        </p:nvSpPr>
        <p:spPr>
          <a:xfrm>
            <a:off x="508406"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ide.png"/>
          <p:cNvPicPr>
            <a:picLocks noChangeAspect="1"/>
          </p:cNvPicPr>
          <p:nvPr/>
        </p:nvPicPr>
        <p:blipFill>
          <a:blip r:embed="rId2"/>
          <a:stretch>
            <a:fillRect/>
          </a:stretch>
        </p:blipFill>
        <p:spPr>
          <a:xfrm>
            <a:off x="874166" y="2103120"/>
            <a:ext cx="502920" cy="502920"/>
          </a:xfrm>
          <a:prstGeom prst="rect">
            <a:avLst/>
          </a:prstGeom>
        </p:spPr>
      </p:pic>
      <p:sp>
        <p:nvSpPr>
          <p:cNvPr id="7" name="TextBox 6"/>
          <p:cNvSpPr txBox="1"/>
          <p:nvPr/>
        </p:nvSpPr>
        <p:spPr>
          <a:xfrm>
            <a:off x="1605686" y="2103120"/>
            <a:ext cx="3964381" cy="502920"/>
          </a:xfrm>
          <a:prstGeom prst="rect">
            <a:avLst/>
          </a:prstGeom>
          <a:noFill/>
        </p:spPr>
        <p:txBody>
          <a:bodyPr wrap="square" lIns="0" rIns="0" tIns="0" bIns="0" anchor="ctr">
            <a:spAutoFit/>
          </a:bodyPr>
          <a:lstStyle/>
          <a:p>
            <a:pPr algn="l"/>
            <a:r>
              <a:rPr sz="2400" b="1">
                <a:solidFill>
                  <a:srgbClr val="000000"/>
                </a:solidFill>
                <a:latin typeface="Arial"/>
              </a:rPr>
              <a:t>Utilisé</a:t>
            </a:r>
          </a:p>
        </p:txBody>
      </p:sp>
      <p:sp>
        <p:nvSpPr>
          <p:cNvPr id="8" name="Rounded Rectangle 7"/>
          <p:cNvSpPr/>
          <p:nvPr/>
        </p:nvSpPr>
        <p:spPr>
          <a:xfrm>
            <a:off x="6255867"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clu.png"/>
          <p:cNvPicPr>
            <a:picLocks noChangeAspect="1"/>
          </p:cNvPicPr>
          <p:nvPr/>
        </p:nvPicPr>
        <p:blipFill>
          <a:blip r:embed="rId3"/>
          <a:stretch>
            <a:fillRect/>
          </a:stretch>
        </p:blipFill>
        <p:spPr>
          <a:xfrm>
            <a:off x="6621627" y="2103120"/>
            <a:ext cx="502920" cy="502920"/>
          </a:xfrm>
          <a:prstGeom prst="rect">
            <a:avLst/>
          </a:prstGeom>
        </p:spPr>
      </p:pic>
      <p:sp>
        <p:nvSpPr>
          <p:cNvPr id="10" name="TextBox 9"/>
          <p:cNvSpPr txBox="1"/>
          <p:nvPr/>
        </p:nvSpPr>
        <p:spPr>
          <a:xfrm>
            <a:off x="7353147" y="2103120"/>
            <a:ext cx="3964381" cy="502920"/>
          </a:xfrm>
          <a:prstGeom prst="rect">
            <a:avLst/>
          </a:prstGeom>
          <a:noFill/>
        </p:spPr>
        <p:txBody>
          <a:bodyPr wrap="square" lIns="0" rIns="0" tIns="0" bIns="0" anchor="ctr">
            <a:spAutoFit/>
          </a:bodyPr>
          <a:lstStyle/>
          <a:p>
            <a:pPr algn="l"/>
            <a:r>
              <a:rPr sz="2400" b="1">
                <a:solidFill>
                  <a:srgbClr val="000000"/>
                </a:solidFill>
                <a:latin typeface="Arial"/>
              </a:rPr>
              <a:t>Écarté</a:t>
            </a:r>
          </a:p>
        </p:txBody>
      </p:sp>
      <p:pic>
        <p:nvPicPr>
          <p:cNvPr id="11" name="Picture 10" descr="siege.png"/>
          <p:cNvPicPr>
            <a:picLocks noChangeAspect="1"/>
          </p:cNvPicPr>
          <p:nvPr/>
        </p:nvPicPr>
        <p:blipFill>
          <a:blip r:embed="rId4"/>
          <a:stretch>
            <a:fillRect/>
          </a:stretch>
        </p:blipFill>
        <p:spPr>
          <a:xfrm>
            <a:off x="874166" y="2880360"/>
            <a:ext cx="502920" cy="502920"/>
          </a:xfrm>
          <a:prstGeom prst="rect">
            <a:avLst/>
          </a:prstGeom>
        </p:spPr>
      </p:pic>
      <p:sp>
        <p:nvSpPr>
          <p:cNvPr id="12" name="TextBox 11"/>
          <p:cNvSpPr txBox="1"/>
          <p:nvPr/>
        </p:nvSpPr>
        <p:spPr>
          <a:xfrm>
            <a:off x="1605686" y="2862072"/>
            <a:ext cx="3964381" cy="594360"/>
          </a:xfrm>
          <a:prstGeom prst="rect">
            <a:avLst/>
          </a:prstGeom>
          <a:noFill/>
        </p:spPr>
        <p:txBody>
          <a:bodyPr wrap="square" lIns="0" rIns="0" tIns="0" bIns="0" anchor="ctr">
            <a:spAutoFit/>
          </a:bodyPr>
          <a:lstStyle/>
          <a:p>
            <a:pPr algn="l"/>
            <a:r>
              <a:rPr sz="1700" b="1">
                <a:solidFill>
                  <a:srgbClr val="000000"/>
                </a:solidFill>
                <a:latin typeface="Arial"/>
              </a:rPr>
              <a:t>Classe du billet</a:t>
            </a:r>
          </a:p>
          <a:p>
            <a:pPr algn="l"/>
            <a:r>
              <a:rPr sz="1300" b="0">
                <a:solidFill>
                  <a:srgbClr val="444444"/>
                </a:solidFill>
                <a:latin typeface="Arial"/>
              </a:rPr>
              <a:t>billet</a:t>
            </a:r>
          </a:p>
        </p:txBody>
      </p:sp>
      <p:pic>
        <p:nvPicPr>
          <p:cNvPr id="13" name="Picture 12" descr="passager.png"/>
          <p:cNvPicPr>
            <a:picLocks noChangeAspect="1"/>
          </p:cNvPicPr>
          <p:nvPr/>
        </p:nvPicPr>
        <p:blipFill>
          <a:blip r:embed="rId5"/>
          <a:stretch>
            <a:fillRect/>
          </a:stretch>
        </p:blipFill>
        <p:spPr>
          <a:xfrm>
            <a:off x="874166" y="3630168"/>
            <a:ext cx="502920" cy="502920"/>
          </a:xfrm>
          <a:prstGeom prst="rect">
            <a:avLst/>
          </a:prstGeom>
        </p:spPr>
      </p:pic>
      <p:sp>
        <p:nvSpPr>
          <p:cNvPr id="14" name="TextBox 13"/>
          <p:cNvSpPr txBox="1"/>
          <p:nvPr/>
        </p:nvSpPr>
        <p:spPr>
          <a:xfrm>
            <a:off x="1605686" y="3611879"/>
            <a:ext cx="3964381" cy="594360"/>
          </a:xfrm>
          <a:prstGeom prst="rect">
            <a:avLst/>
          </a:prstGeom>
          <a:noFill/>
        </p:spPr>
        <p:txBody>
          <a:bodyPr wrap="square" lIns="0" rIns="0" tIns="0" bIns="0" anchor="ctr">
            <a:spAutoFit/>
          </a:bodyPr>
          <a:lstStyle/>
          <a:p>
            <a:pPr algn="l"/>
            <a:r>
              <a:rPr sz="1700" b="1">
                <a:solidFill>
                  <a:srgbClr val="000000"/>
                </a:solidFill>
                <a:latin typeface="Arial"/>
              </a:rPr>
              <a:t>Âge et statut de fidélité</a:t>
            </a:r>
          </a:p>
          <a:p>
            <a:pPr algn="l"/>
            <a:r>
              <a:rPr sz="1300" b="0">
                <a:solidFill>
                  <a:srgbClr val="444444"/>
                </a:solidFill>
                <a:latin typeface="Arial"/>
              </a:rPr>
              <a:t>réservation ; l'âge n'est jamais montré aux agents</a:t>
            </a:r>
          </a:p>
        </p:txBody>
      </p:sp>
      <p:pic>
        <p:nvPicPr>
          <p:cNvPr id="15" name="Picture 14" descr="avion.png"/>
          <p:cNvPicPr>
            <a:picLocks noChangeAspect="1"/>
          </p:cNvPicPr>
          <p:nvPr/>
        </p:nvPicPr>
        <p:blipFill>
          <a:blip r:embed="rId6"/>
          <a:stretch>
            <a:fillRect/>
          </a:stretch>
        </p:blipFill>
        <p:spPr>
          <a:xfrm>
            <a:off x="874166" y="4379976"/>
            <a:ext cx="502920" cy="502920"/>
          </a:xfrm>
          <a:prstGeom prst="rect">
            <a:avLst/>
          </a:prstGeom>
        </p:spPr>
      </p:pic>
      <p:sp>
        <p:nvSpPr>
          <p:cNvPr id="16" name="TextBox 15"/>
          <p:cNvSpPr txBox="1"/>
          <p:nvPr/>
        </p:nvSpPr>
        <p:spPr>
          <a:xfrm>
            <a:off x="1605686" y="4361688"/>
            <a:ext cx="3964381" cy="594360"/>
          </a:xfrm>
          <a:prstGeom prst="rect">
            <a:avLst/>
          </a:prstGeom>
          <a:noFill/>
        </p:spPr>
        <p:txBody>
          <a:bodyPr wrap="square" lIns="0" rIns="0" tIns="0" bIns="0" anchor="ctr">
            <a:spAutoFit/>
          </a:bodyPr>
          <a:lstStyle/>
          <a:p>
            <a:pPr algn="l"/>
            <a:r>
              <a:rPr sz="1700" b="1">
                <a:solidFill>
                  <a:srgbClr val="000000"/>
                </a:solidFill>
                <a:latin typeface="Arial"/>
              </a:rPr>
              <a:t>Distance du vol</a:t>
            </a:r>
          </a:p>
          <a:p>
            <a:pPr algn="l"/>
            <a:r>
              <a:rPr sz="1300" b="0">
                <a:solidFill>
                  <a:srgbClr val="444444"/>
                </a:solidFill>
                <a:latin typeface="Arial"/>
              </a:rPr>
              <a:t>plan de vol</a:t>
            </a:r>
          </a:p>
        </p:txBody>
      </p:sp>
      <p:pic>
        <p:nvPicPr>
          <p:cNvPr id="17" name="Picture 16" descr="horloge.png"/>
          <p:cNvPicPr>
            <a:picLocks noChangeAspect="1"/>
          </p:cNvPicPr>
          <p:nvPr/>
        </p:nvPicPr>
        <p:blipFill>
          <a:blip r:embed="rId7"/>
          <a:stretch>
            <a:fillRect/>
          </a:stretch>
        </p:blipFill>
        <p:spPr>
          <a:xfrm>
            <a:off x="874166" y="5129783"/>
            <a:ext cx="502920" cy="502920"/>
          </a:xfrm>
          <a:prstGeom prst="rect">
            <a:avLst/>
          </a:prstGeom>
        </p:spPr>
      </p:pic>
      <p:sp>
        <p:nvSpPr>
          <p:cNvPr id="18" name="TextBox 17"/>
          <p:cNvSpPr txBox="1"/>
          <p:nvPr/>
        </p:nvSpPr>
        <p:spPr>
          <a:xfrm>
            <a:off x="1605686" y="5111496"/>
            <a:ext cx="3964381" cy="594360"/>
          </a:xfrm>
          <a:prstGeom prst="rect">
            <a:avLst/>
          </a:prstGeom>
          <a:noFill/>
        </p:spPr>
        <p:txBody>
          <a:bodyPr wrap="square" lIns="0" rIns="0" tIns="0" bIns="0" anchor="ctr">
            <a:spAutoFit/>
          </a:bodyPr>
          <a:lstStyle/>
          <a:p>
            <a:pPr algn="l"/>
            <a:r>
              <a:rPr sz="1700" b="1">
                <a:solidFill>
                  <a:srgbClr val="000000"/>
                </a:solidFill>
                <a:latin typeface="Arial"/>
              </a:rPr>
              <a:t>Retards au départ et à l'arrivée</a:t>
            </a:r>
          </a:p>
          <a:p>
            <a:pPr algn="l"/>
            <a:r>
              <a:rPr sz="1300" b="0">
                <a:solidFill>
                  <a:srgbClr val="444444"/>
                </a:solidFill>
                <a:latin typeface="Arial"/>
              </a:rPr>
              <a:t>opérations</a:t>
            </a:r>
          </a:p>
        </p:txBody>
      </p:sp>
      <p:pic>
        <p:nvPicPr>
          <p:cNvPr id="19" name="Picture 18" descr="wifi.png"/>
          <p:cNvPicPr>
            <a:picLocks noChangeAspect="1"/>
          </p:cNvPicPr>
          <p:nvPr/>
        </p:nvPicPr>
        <p:blipFill>
          <a:blip r:embed="rId8"/>
          <a:stretch>
            <a:fillRect/>
          </a:stretch>
        </p:blipFill>
        <p:spPr>
          <a:xfrm>
            <a:off x="6621627" y="2880360"/>
            <a:ext cx="502920" cy="502920"/>
          </a:xfrm>
          <a:prstGeom prst="rect">
            <a:avLst/>
          </a:prstGeom>
        </p:spPr>
      </p:pic>
      <p:sp>
        <p:nvSpPr>
          <p:cNvPr id="20" name="Rounded Rectangle 19"/>
          <p:cNvSpPr/>
          <p:nvPr/>
        </p:nvSpPr>
        <p:spPr>
          <a:xfrm>
            <a:off x="6621627" y="2880360"/>
            <a:ext cx="502920" cy="502920"/>
          </a:xfrm>
          <a:prstGeom prst="roundRect">
            <a:avLst>
              <a:gd name="adj" fmla="val 25000"/>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53147" y="2862072"/>
            <a:ext cx="3964381" cy="594360"/>
          </a:xfrm>
          <a:prstGeom prst="rect">
            <a:avLst/>
          </a:prstGeom>
          <a:noFill/>
        </p:spPr>
        <p:txBody>
          <a:bodyPr wrap="square" lIns="0" rIns="0" tIns="0" bIns="0" anchor="ctr">
            <a:spAutoFit/>
          </a:bodyPr>
          <a:lstStyle/>
          <a:p>
            <a:pPr algn="l"/>
            <a:r>
              <a:rPr sz="1700" b="1">
                <a:solidFill>
                  <a:srgbClr val="000000"/>
                </a:solidFill>
                <a:latin typeface="Arial"/>
              </a:rPr>
              <a:t>Notes de service</a:t>
            </a:r>
          </a:p>
          <a:p>
            <a:pPr algn="l"/>
            <a:r>
              <a:rPr sz="1300" b="0">
                <a:solidFill>
                  <a:srgbClr val="444444"/>
                </a:solidFill>
                <a:latin typeface="Arial"/>
              </a:rPr>
              <a:t>n'existent qu'après l'enquête</a:t>
            </a:r>
          </a:p>
        </p:txBody>
      </p:sp>
      <p:pic>
        <p:nvPicPr>
          <p:cNvPr id="22" name="Picture 21" descr="valise.png"/>
          <p:cNvPicPr>
            <a:picLocks noChangeAspect="1"/>
          </p:cNvPicPr>
          <p:nvPr/>
        </p:nvPicPr>
        <p:blipFill>
          <a:blip r:embed="rId9"/>
          <a:stretch>
            <a:fillRect/>
          </a:stretch>
        </p:blipFill>
        <p:spPr>
          <a:xfrm>
            <a:off x="6621627" y="3630168"/>
            <a:ext cx="502920" cy="502920"/>
          </a:xfrm>
          <a:prstGeom prst="rect">
            <a:avLst/>
          </a:prstGeom>
        </p:spPr>
      </p:pic>
      <p:sp>
        <p:nvSpPr>
          <p:cNvPr id="23" name="Rounded Rectangle 22"/>
          <p:cNvSpPr/>
          <p:nvPr/>
        </p:nvSpPr>
        <p:spPr>
          <a:xfrm>
            <a:off x="6621627" y="3630168"/>
            <a:ext cx="502920" cy="502920"/>
          </a:xfrm>
          <a:prstGeom prst="roundRect">
            <a:avLst>
              <a:gd name="adj" fmla="val 25000"/>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53147" y="3611879"/>
            <a:ext cx="3964381" cy="594360"/>
          </a:xfrm>
          <a:prstGeom prst="rect">
            <a:avLst/>
          </a:prstGeom>
          <a:noFill/>
        </p:spPr>
        <p:txBody>
          <a:bodyPr wrap="square" lIns="0" rIns="0" tIns="0" bIns="0" anchor="ctr">
            <a:spAutoFit/>
          </a:bodyPr>
          <a:lstStyle/>
          <a:p>
            <a:pPr algn="l"/>
            <a:r>
              <a:rPr sz="1700" b="1">
                <a:solidFill>
                  <a:srgbClr val="000000"/>
                </a:solidFill>
                <a:latin typeface="Arial"/>
              </a:rPr>
              <a:t>Motif du voyage</a:t>
            </a:r>
          </a:p>
          <a:p>
            <a:pPr algn="l"/>
            <a:r>
              <a:rPr sz="1300" b="0">
                <a:solidFill>
                  <a:srgbClr val="444444"/>
                </a:solidFill>
                <a:latin typeface="Arial"/>
              </a:rPr>
              <a:t>déclaré dans l'enquête, inconnu pour les autres</a:t>
            </a:r>
          </a:p>
        </p:txBody>
      </p:sp>
      <p:pic>
        <p:nvPicPr>
          <p:cNvPr id="25" name="Picture 24" descr="confidentiel.png"/>
          <p:cNvPicPr>
            <a:picLocks noChangeAspect="1"/>
          </p:cNvPicPr>
          <p:nvPr/>
        </p:nvPicPr>
        <p:blipFill>
          <a:blip r:embed="rId10"/>
          <a:stretch>
            <a:fillRect/>
          </a:stretch>
        </p:blipFill>
        <p:spPr>
          <a:xfrm>
            <a:off x="6621627" y="4379976"/>
            <a:ext cx="502920" cy="502920"/>
          </a:xfrm>
          <a:prstGeom prst="rect">
            <a:avLst/>
          </a:prstGeom>
        </p:spPr>
      </p:pic>
      <p:sp>
        <p:nvSpPr>
          <p:cNvPr id="26" name="TextBox 25"/>
          <p:cNvSpPr txBox="1"/>
          <p:nvPr/>
        </p:nvSpPr>
        <p:spPr>
          <a:xfrm>
            <a:off x="7353147" y="4361688"/>
            <a:ext cx="3964381" cy="594360"/>
          </a:xfrm>
          <a:prstGeom prst="rect">
            <a:avLst/>
          </a:prstGeom>
          <a:noFill/>
        </p:spPr>
        <p:txBody>
          <a:bodyPr wrap="square" lIns="0" rIns="0" tIns="0" bIns="0" anchor="ctr">
            <a:spAutoFit/>
          </a:bodyPr>
          <a:lstStyle/>
          <a:p>
            <a:pPr algn="l"/>
            <a:r>
              <a:rPr sz="1700" b="1">
                <a:solidFill>
                  <a:srgbClr val="000000"/>
                </a:solidFill>
                <a:latin typeface="Arial"/>
              </a:rPr>
              <a:t>Genre</a:t>
            </a:r>
          </a:p>
          <a:p>
            <a:pPr algn="l"/>
            <a:r>
              <a:rPr sz="1300" b="0">
                <a:solidFill>
                  <a:srgbClr val="444444"/>
                </a:solidFill>
                <a:latin typeface="Arial"/>
              </a:rPr>
              <a:t>aucun effet, risque de discrimination</a:t>
            </a:r>
          </a:p>
        </p:txBody>
      </p:sp>
      <p:sp>
        <p:nvSpPr>
          <p:cNvPr id="27" name="TextBox 26"/>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2 — Prédire · Jeanne</a:t>
            </a:r>
          </a:p>
        </p:txBody>
      </p:sp>
      <p:sp>
        <p:nvSpPr>
          <p:cNvPr id="28" name="Oval 27"/>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83672"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50371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Sans le motif du voyage, un modèle devient utile</a:t>
            </a:r>
          </a:p>
        </p:txBody>
      </p:sp>
      <p:sp>
        <p:nvSpPr>
          <p:cNvPr id="5" name="Rounded Rectangle 4"/>
          <p:cNvSpPr/>
          <p:nvPr/>
        </p:nvSpPr>
        <p:spPr>
          <a:xfrm>
            <a:off x="508406"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4166" y="2103120"/>
            <a:ext cx="4695901" cy="457200"/>
          </a:xfrm>
          <a:prstGeom prst="rect">
            <a:avLst/>
          </a:prstGeom>
          <a:noFill/>
        </p:spPr>
        <p:txBody>
          <a:bodyPr wrap="square" lIns="0" rIns="0" tIns="0" bIns="0" anchor="t">
            <a:spAutoFit/>
          </a:bodyPr>
          <a:lstStyle/>
          <a:p>
            <a:pPr algn="l"/>
            <a:r>
              <a:rPr sz="2000" b="1">
                <a:solidFill>
                  <a:srgbClr val="000000"/>
                </a:solidFill>
                <a:latin typeface="Arial"/>
              </a:rPr>
              <a:t>Si le motif du voyage était connu</a:t>
            </a:r>
          </a:p>
        </p:txBody>
      </p:sp>
      <p:sp>
        <p:nvSpPr>
          <p:cNvPr id="7" name="TextBox 6"/>
          <p:cNvSpPr txBox="1"/>
          <p:nvPr/>
        </p:nvSpPr>
        <p:spPr>
          <a:xfrm>
            <a:off x="874166" y="2834640"/>
            <a:ext cx="3598621" cy="320040"/>
          </a:xfrm>
          <a:prstGeom prst="rect">
            <a:avLst/>
          </a:prstGeom>
          <a:noFill/>
        </p:spPr>
        <p:txBody>
          <a:bodyPr wrap="square" lIns="0" rIns="0" tIns="0" bIns="0" anchor="t">
            <a:spAutoFit/>
          </a:bodyPr>
          <a:lstStyle/>
          <a:p>
            <a:pPr algn="l"/>
            <a:r>
              <a:rPr sz="1500" b="0">
                <a:solidFill>
                  <a:srgbClr val="444444"/>
                </a:solidFill>
                <a:latin typeface="Arial"/>
              </a:rPr>
              <a:t>Meilleure règle simple</a:t>
            </a:r>
          </a:p>
        </p:txBody>
      </p:sp>
      <p:sp>
        <p:nvSpPr>
          <p:cNvPr id="8" name="TextBox 7"/>
          <p:cNvSpPr txBox="1"/>
          <p:nvPr/>
        </p:nvSpPr>
        <p:spPr>
          <a:xfrm>
            <a:off x="4198467" y="2834640"/>
            <a:ext cx="1371600" cy="320040"/>
          </a:xfrm>
          <a:prstGeom prst="rect">
            <a:avLst/>
          </a:prstGeom>
          <a:noFill/>
        </p:spPr>
        <p:txBody>
          <a:bodyPr wrap="square" lIns="0" rIns="0" tIns="0" bIns="0" anchor="t">
            <a:spAutoFit/>
          </a:bodyPr>
          <a:lstStyle/>
          <a:p>
            <a:pPr algn="r"/>
            <a:r>
              <a:rPr sz="1700" b="1">
                <a:solidFill>
                  <a:srgbClr val="000000"/>
                </a:solidFill>
                <a:latin typeface="Arial"/>
              </a:rPr>
              <a:t>5 565 €</a:t>
            </a:r>
          </a:p>
        </p:txBody>
      </p:sp>
      <p:sp>
        <p:nvSpPr>
          <p:cNvPr id="9" name="Rounded Rectangle 8"/>
          <p:cNvSpPr/>
          <p:nvPr/>
        </p:nvSpPr>
        <p:spPr>
          <a:xfrm>
            <a:off x="874166" y="3218688"/>
            <a:ext cx="4695901" cy="23774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74166" y="3218688"/>
            <a:ext cx="4355448" cy="237744"/>
          </a:xfrm>
          <a:prstGeom prst="roundRect">
            <a:avLst>
              <a:gd name="adj" fmla="val 5000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166" y="3703320"/>
            <a:ext cx="3598621" cy="320040"/>
          </a:xfrm>
          <a:prstGeom prst="rect">
            <a:avLst/>
          </a:prstGeom>
          <a:noFill/>
        </p:spPr>
        <p:txBody>
          <a:bodyPr wrap="square" lIns="0" rIns="0" tIns="0" bIns="0" anchor="t">
            <a:spAutoFit/>
          </a:bodyPr>
          <a:lstStyle/>
          <a:p>
            <a:pPr algn="l"/>
            <a:r>
              <a:rPr sz="1500" b="0">
                <a:solidFill>
                  <a:srgbClr val="444444"/>
                </a:solidFill>
                <a:latin typeface="Arial"/>
              </a:rPr>
              <a:t>Modèle</a:t>
            </a:r>
          </a:p>
        </p:txBody>
      </p:sp>
      <p:sp>
        <p:nvSpPr>
          <p:cNvPr id="12" name="TextBox 11"/>
          <p:cNvSpPr txBox="1"/>
          <p:nvPr/>
        </p:nvSpPr>
        <p:spPr>
          <a:xfrm>
            <a:off x="4198467" y="3703320"/>
            <a:ext cx="1371600" cy="320040"/>
          </a:xfrm>
          <a:prstGeom prst="rect">
            <a:avLst/>
          </a:prstGeom>
          <a:noFill/>
        </p:spPr>
        <p:txBody>
          <a:bodyPr wrap="square" lIns="0" rIns="0" tIns="0" bIns="0" anchor="t">
            <a:spAutoFit/>
          </a:bodyPr>
          <a:lstStyle/>
          <a:p>
            <a:pPr algn="r"/>
            <a:r>
              <a:rPr sz="1700" b="1">
                <a:solidFill>
                  <a:srgbClr val="000000"/>
                </a:solidFill>
                <a:latin typeface="Arial"/>
              </a:rPr>
              <a:t>5 672 €</a:t>
            </a:r>
          </a:p>
        </p:txBody>
      </p:sp>
      <p:sp>
        <p:nvSpPr>
          <p:cNvPr id="13" name="Rounded Rectangle 12"/>
          <p:cNvSpPr/>
          <p:nvPr/>
        </p:nvSpPr>
        <p:spPr>
          <a:xfrm>
            <a:off x="874166" y="4087368"/>
            <a:ext cx="4695901" cy="23774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4166" y="4087368"/>
            <a:ext cx="4439191" cy="23774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4166" y="4709160"/>
            <a:ext cx="4695901" cy="731520"/>
          </a:xfrm>
          <a:prstGeom prst="rect">
            <a:avLst/>
          </a:prstGeom>
          <a:noFill/>
        </p:spPr>
        <p:txBody>
          <a:bodyPr wrap="square" lIns="0" rIns="0" tIns="0" bIns="0" anchor="t">
            <a:spAutoFit/>
          </a:bodyPr>
          <a:lstStyle/>
          <a:p>
            <a:pPr algn="l"/>
            <a:r>
              <a:rPr sz="4400" b="1">
                <a:solidFill>
                  <a:srgbClr val="000000"/>
                </a:solidFill>
                <a:latin typeface="Arial"/>
              </a:rPr>
              <a:t>+107 €</a:t>
            </a:r>
          </a:p>
        </p:txBody>
      </p:sp>
      <p:sp>
        <p:nvSpPr>
          <p:cNvPr id="16" name="TextBox 15"/>
          <p:cNvSpPr txBox="1"/>
          <p:nvPr/>
        </p:nvSpPr>
        <p:spPr>
          <a:xfrm>
            <a:off x="874166" y="5440680"/>
            <a:ext cx="4695901" cy="365760"/>
          </a:xfrm>
          <a:prstGeom prst="rect">
            <a:avLst/>
          </a:prstGeom>
          <a:noFill/>
        </p:spPr>
        <p:txBody>
          <a:bodyPr wrap="square" lIns="0" rIns="0" tIns="0" bIns="0" anchor="t">
            <a:spAutoFit/>
          </a:bodyPr>
          <a:lstStyle/>
          <a:p>
            <a:pPr algn="l"/>
            <a:r>
              <a:rPr sz="1500" b="1">
                <a:solidFill>
                  <a:srgbClr val="444444"/>
                </a:solidFill>
                <a:latin typeface="Arial"/>
              </a:rPr>
              <a:t>une règle simple suffirait</a:t>
            </a:r>
          </a:p>
        </p:txBody>
      </p:sp>
      <p:sp>
        <p:nvSpPr>
          <p:cNvPr id="17" name="Rounded Rectangle 16"/>
          <p:cNvSpPr/>
          <p:nvPr/>
        </p:nvSpPr>
        <p:spPr>
          <a:xfrm>
            <a:off x="6255867" y="1828800"/>
            <a:ext cx="5427421"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1627" y="2103120"/>
            <a:ext cx="4695901" cy="457200"/>
          </a:xfrm>
          <a:prstGeom prst="rect">
            <a:avLst/>
          </a:prstGeom>
          <a:noFill/>
        </p:spPr>
        <p:txBody>
          <a:bodyPr wrap="square" lIns="0" rIns="0" tIns="0" bIns="0" anchor="t">
            <a:spAutoFit/>
          </a:bodyPr>
          <a:lstStyle/>
          <a:p>
            <a:pPr algn="l"/>
            <a:r>
              <a:rPr sz="2000" b="1">
                <a:solidFill>
                  <a:srgbClr val="000000"/>
                </a:solidFill>
                <a:latin typeface="Arial"/>
              </a:rPr>
              <a:t>Sans le motif : notre cas</a:t>
            </a:r>
          </a:p>
        </p:txBody>
      </p:sp>
      <p:sp>
        <p:nvSpPr>
          <p:cNvPr id="19" name="Rounded Rectangle 18"/>
          <p:cNvSpPr/>
          <p:nvPr/>
        </p:nvSpPr>
        <p:spPr>
          <a:xfrm>
            <a:off x="9717328" y="2103120"/>
            <a:ext cx="1600200" cy="384048"/>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7328" y="2103120"/>
            <a:ext cx="1600200" cy="384048"/>
          </a:xfrm>
          <a:prstGeom prst="rect">
            <a:avLst/>
          </a:prstGeom>
          <a:noFill/>
        </p:spPr>
        <p:txBody>
          <a:bodyPr wrap="square" lIns="0" rIns="0" tIns="0" bIns="0" anchor="ctr">
            <a:spAutoFit/>
          </a:bodyPr>
          <a:lstStyle/>
          <a:p>
            <a:pPr algn="ctr"/>
            <a:r>
              <a:rPr sz="1400" b="1">
                <a:solidFill>
                  <a:srgbClr val="FFFFFF"/>
                </a:solidFill>
                <a:latin typeface="Arial"/>
              </a:rPr>
              <a:t>Notre choix</a:t>
            </a:r>
          </a:p>
        </p:txBody>
      </p:sp>
      <p:sp>
        <p:nvSpPr>
          <p:cNvPr id="21" name="TextBox 20"/>
          <p:cNvSpPr txBox="1"/>
          <p:nvPr/>
        </p:nvSpPr>
        <p:spPr>
          <a:xfrm>
            <a:off x="6621627" y="2834640"/>
            <a:ext cx="3598621" cy="320040"/>
          </a:xfrm>
          <a:prstGeom prst="rect">
            <a:avLst/>
          </a:prstGeom>
          <a:noFill/>
        </p:spPr>
        <p:txBody>
          <a:bodyPr wrap="square" lIns="0" rIns="0" tIns="0" bIns="0" anchor="t">
            <a:spAutoFit/>
          </a:bodyPr>
          <a:lstStyle/>
          <a:p>
            <a:pPr algn="l"/>
            <a:r>
              <a:rPr sz="1500" b="0">
                <a:solidFill>
                  <a:srgbClr val="444444"/>
                </a:solidFill>
                <a:latin typeface="Arial"/>
              </a:rPr>
              <a:t>Meilleure règle simple (Eco puis retard)</a:t>
            </a:r>
          </a:p>
        </p:txBody>
      </p:sp>
      <p:sp>
        <p:nvSpPr>
          <p:cNvPr id="22" name="TextBox 21"/>
          <p:cNvSpPr txBox="1"/>
          <p:nvPr/>
        </p:nvSpPr>
        <p:spPr>
          <a:xfrm>
            <a:off x="9945928" y="2834640"/>
            <a:ext cx="1371600" cy="320040"/>
          </a:xfrm>
          <a:prstGeom prst="rect">
            <a:avLst/>
          </a:prstGeom>
          <a:noFill/>
        </p:spPr>
        <p:txBody>
          <a:bodyPr wrap="square" lIns="0" rIns="0" tIns="0" bIns="0" anchor="t">
            <a:spAutoFit/>
          </a:bodyPr>
          <a:lstStyle/>
          <a:p>
            <a:pPr algn="r"/>
            <a:r>
              <a:rPr sz="1700" b="1">
                <a:solidFill>
                  <a:srgbClr val="000000"/>
                </a:solidFill>
                <a:latin typeface="Arial"/>
              </a:rPr>
              <a:t>4 744 €</a:t>
            </a:r>
          </a:p>
        </p:txBody>
      </p:sp>
      <p:sp>
        <p:nvSpPr>
          <p:cNvPr id="23" name="Rounded Rectangle 22"/>
          <p:cNvSpPr/>
          <p:nvPr/>
        </p:nvSpPr>
        <p:spPr>
          <a:xfrm>
            <a:off x="6621627" y="3218688"/>
            <a:ext cx="4695901" cy="23774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21627" y="3218688"/>
            <a:ext cx="3712892" cy="237744"/>
          </a:xfrm>
          <a:prstGeom prst="roundRect">
            <a:avLst>
              <a:gd name="adj" fmla="val 5000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1627" y="3703320"/>
            <a:ext cx="3598621" cy="320040"/>
          </a:xfrm>
          <a:prstGeom prst="rect">
            <a:avLst/>
          </a:prstGeom>
          <a:noFill/>
        </p:spPr>
        <p:txBody>
          <a:bodyPr wrap="square" lIns="0" rIns="0" tIns="0" bIns="0" anchor="t">
            <a:spAutoFit/>
          </a:bodyPr>
          <a:lstStyle/>
          <a:p>
            <a:pPr algn="l"/>
            <a:r>
              <a:rPr sz="1500" b="0">
                <a:solidFill>
                  <a:srgbClr val="444444"/>
                </a:solidFill>
                <a:latin typeface="Arial"/>
              </a:rPr>
              <a:t>Modèle retenu</a:t>
            </a:r>
          </a:p>
        </p:txBody>
      </p:sp>
      <p:sp>
        <p:nvSpPr>
          <p:cNvPr id="26" name="TextBox 25"/>
          <p:cNvSpPr txBox="1"/>
          <p:nvPr/>
        </p:nvSpPr>
        <p:spPr>
          <a:xfrm>
            <a:off x="9945928" y="3703320"/>
            <a:ext cx="1371600" cy="320040"/>
          </a:xfrm>
          <a:prstGeom prst="rect">
            <a:avLst/>
          </a:prstGeom>
          <a:noFill/>
        </p:spPr>
        <p:txBody>
          <a:bodyPr wrap="square" lIns="0" rIns="0" tIns="0" bIns="0" anchor="t">
            <a:spAutoFit/>
          </a:bodyPr>
          <a:lstStyle/>
          <a:p>
            <a:pPr algn="r"/>
            <a:r>
              <a:rPr sz="1700" b="1">
                <a:solidFill>
                  <a:srgbClr val="000000"/>
                </a:solidFill>
                <a:latin typeface="Arial"/>
              </a:rPr>
              <a:t>5 512 €</a:t>
            </a:r>
          </a:p>
        </p:txBody>
      </p:sp>
      <p:sp>
        <p:nvSpPr>
          <p:cNvPr id="27" name="Rounded Rectangle 26"/>
          <p:cNvSpPr/>
          <p:nvPr/>
        </p:nvSpPr>
        <p:spPr>
          <a:xfrm>
            <a:off x="6621627" y="4087368"/>
            <a:ext cx="4695901" cy="237744"/>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621627" y="4087368"/>
            <a:ext cx="4313967" cy="237744"/>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1627" y="4709160"/>
            <a:ext cx="4695901" cy="731520"/>
          </a:xfrm>
          <a:prstGeom prst="rect">
            <a:avLst/>
          </a:prstGeom>
          <a:noFill/>
        </p:spPr>
        <p:txBody>
          <a:bodyPr wrap="square" lIns="0" rIns="0" tIns="0" bIns="0" anchor="t">
            <a:spAutoFit/>
          </a:bodyPr>
          <a:lstStyle/>
          <a:p>
            <a:pPr algn="l"/>
            <a:r>
              <a:rPr sz="4400" b="1">
                <a:solidFill>
                  <a:srgbClr val="0055FF"/>
                </a:solidFill>
                <a:latin typeface="Arial"/>
              </a:rPr>
              <a:t>+768 €</a:t>
            </a:r>
          </a:p>
        </p:txBody>
      </p:sp>
      <p:sp>
        <p:nvSpPr>
          <p:cNvPr id="30" name="TextBox 29"/>
          <p:cNvSpPr txBox="1"/>
          <p:nvPr/>
        </p:nvSpPr>
        <p:spPr>
          <a:xfrm>
            <a:off x="6621627" y="5440680"/>
            <a:ext cx="4695901" cy="365760"/>
          </a:xfrm>
          <a:prstGeom prst="rect">
            <a:avLst/>
          </a:prstGeom>
          <a:noFill/>
        </p:spPr>
        <p:txBody>
          <a:bodyPr wrap="square" lIns="0" rIns="0" tIns="0" bIns="0" anchor="t">
            <a:spAutoFit/>
          </a:bodyPr>
          <a:lstStyle/>
          <a:p>
            <a:pPr algn="l"/>
            <a:r>
              <a:rPr sz="1500" b="1">
                <a:solidFill>
                  <a:srgbClr val="444444"/>
                </a:solidFill>
                <a:latin typeface="Arial"/>
              </a:rPr>
              <a:t>le modèle fait la différence</a:t>
            </a:r>
          </a:p>
        </p:txBody>
      </p:sp>
      <p:sp>
        <p:nvSpPr>
          <p:cNvPr id="31" name="TextBox 3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2 — Prédire · Jeanne · gain net pour 1 000 passagers, validation croisée sur train</a:t>
            </a:r>
          </a:p>
        </p:txBody>
      </p:sp>
      <p:sp>
        <p:nvSpPr>
          <p:cNvPr id="32" name="Oval 3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39120"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65916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FF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Sur 100 passagers abordés, 94 sont vraiment mécontents</a:t>
            </a:r>
          </a:p>
        </p:txBody>
      </p:sp>
      <p:sp>
        <p:nvSpPr>
          <p:cNvPr id="5" name="Rounded Rectangle 4"/>
          <p:cNvSpPr/>
          <p:nvPr/>
        </p:nvSpPr>
        <p:spPr>
          <a:xfrm>
            <a:off x="508406" y="1828800"/>
            <a:ext cx="6309360"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9886" y="2103120"/>
            <a:ext cx="3474720" cy="2194560"/>
          </a:xfrm>
          <a:prstGeom prst="rect">
            <a:avLst/>
          </a:prstGeom>
          <a:noFill/>
        </p:spPr>
        <p:txBody>
          <a:bodyPr wrap="square" lIns="0" rIns="0" tIns="0" bIns="0" anchor="ctr">
            <a:spAutoFit/>
          </a:bodyPr>
          <a:lstStyle/>
          <a:p>
            <a:pPr algn="l"/>
            <a:r>
              <a:rPr sz="18000" b="1">
                <a:solidFill>
                  <a:srgbClr val="0055FF"/>
                </a:solidFill>
                <a:latin typeface="Arial"/>
              </a:rPr>
              <a:t>94</a:t>
            </a:r>
          </a:p>
        </p:txBody>
      </p:sp>
      <p:pic>
        <p:nvPicPr>
          <p:cNvPr id="7" name="Picture 6" descr="mecontent.png"/>
          <p:cNvPicPr>
            <a:picLocks noChangeAspect="1"/>
          </p:cNvPicPr>
          <p:nvPr/>
        </p:nvPicPr>
        <p:blipFill>
          <a:blip r:embed="rId2"/>
          <a:stretch>
            <a:fillRect/>
          </a:stretch>
        </p:blipFill>
        <p:spPr>
          <a:xfrm>
            <a:off x="3754526" y="3429000"/>
            <a:ext cx="777240" cy="777240"/>
          </a:xfrm>
          <a:prstGeom prst="rect">
            <a:avLst/>
          </a:prstGeom>
        </p:spPr>
      </p:pic>
      <p:sp>
        <p:nvSpPr>
          <p:cNvPr id="8" name="TextBox 7"/>
          <p:cNvSpPr txBox="1"/>
          <p:nvPr/>
        </p:nvSpPr>
        <p:spPr>
          <a:xfrm>
            <a:off x="919886" y="4480560"/>
            <a:ext cx="5486400" cy="1188720"/>
          </a:xfrm>
          <a:prstGeom prst="rect">
            <a:avLst/>
          </a:prstGeom>
          <a:noFill/>
        </p:spPr>
        <p:txBody>
          <a:bodyPr wrap="square" lIns="0" rIns="0" tIns="0" bIns="0" anchor="t">
            <a:spAutoFit/>
          </a:bodyPr>
          <a:lstStyle/>
          <a:p>
            <a:pPr algn="l"/>
            <a:r>
              <a:rPr sz="2000" b="1">
                <a:solidFill>
                  <a:srgbClr val="000000"/>
                </a:solidFill>
                <a:latin typeface="Arial"/>
              </a:rPr>
              <a:t>Le modèle choisit les 10 % de passagers les plus à risque : ce sont presque toujours les bons.</a:t>
            </a:r>
          </a:p>
        </p:txBody>
      </p:sp>
      <p:sp>
        <p:nvSpPr>
          <p:cNvPr id="9" name="Rounded Rectangle 8"/>
          <p:cNvSpPr/>
          <p:nvPr/>
        </p:nvSpPr>
        <p:spPr>
          <a:xfrm>
            <a:off x="7137806" y="1828800"/>
            <a:ext cx="4545482"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uro.png"/>
          <p:cNvPicPr>
            <a:picLocks noChangeAspect="1"/>
          </p:cNvPicPr>
          <p:nvPr/>
        </p:nvPicPr>
        <p:blipFill>
          <a:blip r:embed="rId3"/>
          <a:stretch>
            <a:fillRect/>
          </a:stretch>
        </p:blipFill>
        <p:spPr>
          <a:xfrm>
            <a:off x="7457846" y="2148840"/>
            <a:ext cx="640080" cy="640080"/>
          </a:xfrm>
          <a:prstGeom prst="rect">
            <a:avLst/>
          </a:prstGeom>
        </p:spPr>
      </p:pic>
      <p:sp>
        <p:nvSpPr>
          <p:cNvPr id="11" name="TextBox 10"/>
          <p:cNvSpPr txBox="1"/>
          <p:nvPr/>
        </p:nvSpPr>
        <p:spPr>
          <a:xfrm>
            <a:off x="8372246" y="2011680"/>
            <a:ext cx="3082442" cy="548640"/>
          </a:xfrm>
          <a:prstGeom prst="rect">
            <a:avLst/>
          </a:prstGeom>
          <a:noFill/>
        </p:spPr>
        <p:txBody>
          <a:bodyPr wrap="square" lIns="0" rIns="0" tIns="0" bIns="0" anchor="t">
            <a:spAutoFit/>
          </a:bodyPr>
          <a:lstStyle/>
          <a:p>
            <a:pPr algn="l"/>
            <a:r>
              <a:rPr sz="3000" b="1">
                <a:solidFill>
                  <a:srgbClr val="000000"/>
                </a:solidFill>
                <a:latin typeface="Arial"/>
              </a:rPr>
              <a:t>5 375 €</a:t>
            </a:r>
          </a:p>
        </p:txBody>
      </p:sp>
      <p:sp>
        <p:nvSpPr>
          <p:cNvPr id="12" name="TextBox 11"/>
          <p:cNvSpPr txBox="1"/>
          <p:nvPr/>
        </p:nvSpPr>
        <p:spPr>
          <a:xfrm>
            <a:off x="8372246" y="2578608"/>
            <a:ext cx="3082442" cy="411480"/>
          </a:xfrm>
          <a:prstGeom prst="rect">
            <a:avLst/>
          </a:prstGeom>
          <a:noFill/>
        </p:spPr>
        <p:txBody>
          <a:bodyPr wrap="square" lIns="0" rIns="0" tIns="0" bIns="0" anchor="t">
            <a:spAutoFit/>
          </a:bodyPr>
          <a:lstStyle/>
          <a:p>
            <a:pPr algn="l"/>
            <a:r>
              <a:rPr sz="1300" b="0">
                <a:solidFill>
                  <a:srgbClr val="444444"/>
                </a:solidFill>
                <a:latin typeface="Arial"/>
              </a:rPr>
              <a:t>gagnés pour 1 000 passagers arrivants</a:t>
            </a:r>
          </a:p>
        </p:txBody>
      </p:sp>
      <p:sp>
        <p:nvSpPr>
          <p:cNvPr id="13" name="Rounded Rectangle 12"/>
          <p:cNvSpPr/>
          <p:nvPr/>
        </p:nvSpPr>
        <p:spPr>
          <a:xfrm>
            <a:off x="7137806" y="3273552"/>
            <a:ext cx="4545482"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raphique.png"/>
          <p:cNvPicPr>
            <a:picLocks noChangeAspect="1"/>
          </p:cNvPicPr>
          <p:nvPr/>
        </p:nvPicPr>
        <p:blipFill>
          <a:blip r:embed="rId4"/>
          <a:stretch>
            <a:fillRect/>
          </a:stretch>
        </p:blipFill>
        <p:spPr>
          <a:xfrm>
            <a:off x="7457846" y="3593592"/>
            <a:ext cx="640080" cy="640080"/>
          </a:xfrm>
          <a:prstGeom prst="rect">
            <a:avLst/>
          </a:prstGeom>
        </p:spPr>
      </p:pic>
      <p:sp>
        <p:nvSpPr>
          <p:cNvPr id="15" name="TextBox 14"/>
          <p:cNvSpPr txBox="1"/>
          <p:nvPr/>
        </p:nvSpPr>
        <p:spPr>
          <a:xfrm>
            <a:off x="8372246" y="3456432"/>
            <a:ext cx="3082442" cy="548640"/>
          </a:xfrm>
          <a:prstGeom prst="rect">
            <a:avLst/>
          </a:prstGeom>
          <a:noFill/>
        </p:spPr>
        <p:txBody>
          <a:bodyPr wrap="square" lIns="0" rIns="0" tIns="0" bIns="0" anchor="t">
            <a:spAutoFit/>
          </a:bodyPr>
          <a:lstStyle/>
          <a:p>
            <a:pPr algn="l"/>
            <a:r>
              <a:rPr sz="3000" b="1">
                <a:solidFill>
                  <a:srgbClr val="000000"/>
                </a:solidFill>
                <a:latin typeface="Arial"/>
              </a:rPr>
              <a:t>× 3,8</a:t>
            </a:r>
          </a:p>
        </p:txBody>
      </p:sp>
      <p:sp>
        <p:nvSpPr>
          <p:cNvPr id="16" name="TextBox 15"/>
          <p:cNvSpPr txBox="1"/>
          <p:nvPr/>
        </p:nvSpPr>
        <p:spPr>
          <a:xfrm>
            <a:off x="8372246" y="4023360"/>
            <a:ext cx="3082442" cy="411480"/>
          </a:xfrm>
          <a:prstGeom prst="rect">
            <a:avLst/>
          </a:prstGeom>
          <a:noFill/>
        </p:spPr>
        <p:txBody>
          <a:bodyPr wrap="square" lIns="0" rIns="0" tIns="0" bIns="0" anchor="t">
            <a:spAutoFit/>
          </a:bodyPr>
          <a:lstStyle/>
          <a:p>
            <a:pPr algn="l"/>
            <a:r>
              <a:rPr sz="1300" b="0">
                <a:solidFill>
                  <a:srgbClr val="444444"/>
                </a:solidFill>
                <a:latin typeface="Arial"/>
              </a:rPr>
              <a:t>par rapport à des passagers pris au hasard</a:t>
            </a:r>
          </a:p>
        </p:txBody>
      </p:sp>
      <p:sp>
        <p:nvSpPr>
          <p:cNvPr id="17" name="Rounded Rectangle 16"/>
          <p:cNvSpPr/>
          <p:nvPr/>
        </p:nvSpPr>
        <p:spPr>
          <a:xfrm>
            <a:off x="7137806" y="4718304"/>
            <a:ext cx="4545482"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alogue.png"/>
          <p:cNvPicPr>
            <a:picLocks noChangeAspect="1"/>
          </p:cNvPicPr>
          <p:nvPr/>
        </p:nvPicPr>
        <p:blipFill>
          <a:blip r:embed="rId5"/>
          <a:stretch>
            <a:fillRect/>
          </a:stretch>
        </p:blipFill>
        <p:spPr>
          <a:xfrm>
            <a:off x="7457846" y="5038344"/>
            <a:ext cx="640080" cy="640080"/>
          </a:xfrm>
          <a:prstGeom prst="rect">
            <a:avLst/>
          </a:prstGeom>
        </p:spPr>
      </p:pic>
      <p:sp>
        <p:nvSpPr>
          <p:cNvPr id="19" name="TextBox 18"/>
          <p:cNvSpPr txBox="1"/>
          <p:nvPr/>
        </p:nvSpPr>
        <p:spPr>
          <a:xfrm>
            <a:off x="8372246" y="4901184"/>
            <a:ext cx="3082442" cy="548640"/>
          </a:xfrm>
          <a:prstGeom prst="rect">
            <a:avLst/>
          </a:prstGeom>
          <a:noFill/>
        </p:spPr>
        <p:txBody>
          <a:bodyPr wrap="square" lIns="0" rIns="0" tIns="0" bIns="0" anchor="t">
            <a:spAutoFit/>
          </a:bodyPr>
          <a:lstStyle/>
          <a:p>
            <a:pPr algn="l"/>
            <a:r>
              <a:rPr sz="3000" b="1">
                <a:solidFill>
                  <a:srgbClr val="000000"/>
                </a:solidFill>
                <a:latin typeface="Arial"/>
              </a:rPr>
              <a:t>6 sur 100</a:t>
            </a:r>
          </a:p>
        </p:txBody>
      </p:sp>
      <p:sp>
        <p:nvSpPr>
          <p:cNvPr id="20" name="TextBox 19"/>
          <p:cNvSpPr txBox="1"/>
          <p:nvPr/>
        </p:nvSpPr>
        <p:spPr>
          <a:xfrm>
            <a:off x="8372246" y="5468112"/>
            <a:ext cx="3082442" cy="411480"/>
          </a:xfrm>
          <a:prstGeom prst="rect">
            <a:avLst/>
          </a:prstGeom>
          <a:noFill/>
        </p:spPr>
        <p:txBody>
          <a:bodyPr wrap="square" lIns="0" rIns="0" tIns="0" bIns="0" anchor="t">
            <a:spAutoFit/>
          </a:bodyPr>
          <a:lstStyle/>
          <a:p>
            <a:pPr algn="l"/>
            <a:r>
              <a:rPr sz="1300" b="0">
                <a:solidFill>
                  <a:srgbClr val="444444"/>
                </a:solidFill>
                <a:latin typeface="Arial"/>
              </a:rPr>
              <a:t>approches inutiles, environ 250 € pour 1 000 passagers</a:t>
            </a:r>
          </a:p>
        </p:txBody>
      </p:sp>
      <p:sp>
        <p:nvSpPr>
          <p:cNvPr id="21" name="TextBox 2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2 — Prédire · Jeanne · évaluation finale sur 25 976 passagers jamais vus, mineurs exclus</a:t>
            </a:r>
          </a:p>
        </p:txBody>
      </p:sp>
      <p:sp>
        <p:nvSpPr>
          <p:cNvPr id="22" name="Oval 2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494568"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81460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Sur des passagers jamais vus, le modèle bat les règles</a:t>
            </a:r>
          </a:p>
        </p:txBody>
      </p:sp>
      <p:sp>
        <p:nvSpPr>
          <p:cNvPr id="5" name="Rounded Rectangle 4"/>
          <p:cNvSpPr/>
          <p:nvPr/>
        </p:nvSpPr>
        <p:spPr>
          <a:xfrm>
            <a:off x="508406" y="1828800"/>
            <a:ext cx="7589520"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782726" y="2103120"/>
          <a:ext cx="7040880" cy="3611880"/>
        </p:xfrm>
        <a:graphic>
          <a:graphicData uri="http://schemas.openxmlformats.org/drawingml/2006/chart">
            <c:chart xmlns:c="http://schemas.openxmlformats.org/drawingml/2006/chart" r:id="rId2"/>
          </a:graphicData>
        </a:graphic>
      </p:graphicFrame>
      <p:sp>
        <p:nvSpPr>
          <p:cNvPr id="7" name="Rounded Rectangle 6"/>
          <p:cNvSpPr/>
          <p:nvPr/>
        </p:nvSpPr>
        <p:spPr>
          <a:xfrm>
            <a:off x="8417966" y="1828800"/>
            <a:ext cx="3265322" cy="4160520"/>
          </a:xfrm>
          <a:prstGeom prst="roundRect">
            <a:avLst>
              <a:gd name="adj" fmla="val 6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8006" y="2148840"/>
            <a:ext cx="2926080" cy="640080"/>
          </a:xfrm>
          <a:prstGeom prst="rect">
            <a:avLst/>
          </a:prstGeom>
          <a:noFill/>
        </p:spPr>
        <p:txBody>
          <a:bodyPr wrap="square" lIns="0" rIns="0" tIns="0" bIns="0" anchor="t">
            <a:spAutoFit/>
          </a:bodyPr>
          <a:lstStyle/>
          <a:p>
            <a:pPr algn="l"/>
            <a:r>
              <a:rPr sz="4000" b="1">
                <a:solidFill>
                  <a:srgbClr val="0055FF"/>
                </a:solidFill>
                <a:latin typeface="Arial"/>
              </a:rPr>
              <a:t>+916 €</a:t>
            </a:r>
          </a:p>
        </p:txBody>
      </p:sp>
      <p:sp>
        <p:nvSpPr>
          <p:cNvPr id="9" name="TextBox 8"/>
          <p:cNvSpPr txBox="1"/>
          <p:nvPr/>
        </p:nvSpPr>
        <p:spPr>
          <a:xfrm>
            <a:off x="8738006" y="2788920"/>
            <a:ext cx="2926080" cy="548640"/>
          </a:xfrm>
          <a:prstGeom prst="rect">
            <a:avLst/>
          </a:prstGeom>
          <a:noFill/>
        </p:spPr>
        <p:txBody>
          <a:bodyPr wrap="square" lIns="0" rIns="0" tIns="0" bIns="0" anchor="t">
            <a:spAutoFit/>
          </a:bodyPr>
          <a:lstStyle/>
          <a:p>
            <a:pPr algn="l"/>
            <a:r>
              <a:rPr sz="1400" b="0">
                <a:solidFill>
                  <a:srgbClr val="444444"/>
                </a:solidFill>
                <a:latin typeface="Arial"/>
              </a:rPr>
              <a:t>par rapport à la meilleure règle simple</a:t>
            </a:r>
          </a:p>
        </p:txBody>
      </p:sp>
      <p:sp>
        <p:nvSpPr>
          <p:cNvPr id="10" name="TextBox 9"/>
          <p:cNvSpPr txBox="1"/>
          <p:nvPr/>
        </p:nvSpPr>
        <p:spPr>
          <a:xfrm>
            <a:off x="8738006" y="3611880"/>
            <a:ext cx="2926080" cy="365760"/>
          </a:xfrm>
          <a:prstGeom prst="rect">
            <a:avLst/>
          </a:prstGeom>
          <a:noFill/>
        </p:spPr>
        <p:txBody>
          <a:bodyPr wrap="square" lIns="0" rIns="0" tIns="0" bIns="0" anchor="t">
            <a:spAutoFit/>
          </a:bodyPr>
          <a:lstStyle/>
          <a:p>
            <a:pPr algn="l"/>
            <a:r>
              <a:rPr sz="1700" b="1">
                <a:solidFill>
                  <a:srgbClr val="000000"/>
                </a:solidFill>
                <a:latin typeface="Arial"/>
              </a:rPr>
              <a:t>Un résultat stable</a:t>
            </a:r>
          </a:p>
        </p:txBody>
      </p:sp>
      <p:sp>
        <p:nvSpPr>
          <p:cNvPr id="11" name="TextBox 10"/>
          <p:cNvSpPr txBox="1"/>
          <p:nvPr/>
        </p:nvSpPr>
        <p:spPr>
          <a:xfrm>
            <a:off x="8738006" y="4023360"/>
            <a:ext cx="2926080" cy="1737360"/>
          </a:xfrm>
          <a:prstGeom prst="rect">
            <a:avLst/>
          </a:prstGeom>
          <a:noFill/>
        </p:spPr>
        <p:txBody>
          <a:bodyPr wrap="square" lIns="0" rIns="0" tIns="0" bIns="0" anchor="t">
            <a:spAutoFit/>
          </a:bodyPr>
          <a:lstStyle/>
          <a:p>
            <a:pPr algn="l"/>
            <a:r>
              <a:rPr sz="1300" b="1">
                <a:solidFill>
                  <a:srgbClr val="444444"/>
                </a:solidFill>
                <a:latin typeface="Arial"/>
              </a:rPr>
              <a:t>Validation croisée : </a:t>
            </a:r>
            <a:r>
              <a:rPr sz="1300" b="0">
                <a:solidFill>
                  <a:srgbClr val="444444"/>
                </a:solidFill>
                <a:latin typeface="Arial"/>
              </a:rPr>
              <a:t>5 386 €, 93,9 %</a:t>
            </a:r>
          </a:p>
          <a:p>
            <a:pPr algn="l">
              <a:spcBef>
                <a:spcPts val="600"/>
              </a:spcBef>
            </a:pPr>
            <a:r>
              <a:rPr sz="1300" b="1">
                <a:solidFill>
                  <a:srgbClr val="444444"/>
                </a:solidFill>
                <a:latin typeface="Arial"/>
              </a:rPr>
              <a:t>Test final : </a:t>
            </a:r>
            <a:r>
              <a:rPr sz="1300" b="0">
                <a:solidFill>
                  <a:srgbClr val="444444"/>
                </a:solidFill>
                <a:latin typeface="Arial"/>
              </a:rPr>
              <a:t>5 375 €, 93,8 %</a:t>
            </a:r>
          </a:p>
          <a:p>
            <a:pPr algn="l">
              <a:spcBef>
                <a:spcPts val="600"/>
              </a:spcBef>
            </a:pPr>
            <a:r>
              <a:rPr sz="1300" b="0">
                <a:solidFill>
                  <a:srgbClr val="444444"/>
                </a:solidFill>
                <a:latin typeface="Arial"/>
              </a:rPr>
              <a:t>Le chiffre annoncé est fiable.</a:t>
            </a:r>
          </a:p>
        </p:txBody>
      </p:sp>
      <p:sp>
        <p:nvSpPr>
          <p:cNvPr id="12" name="TextBox 11"/>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2 — Prédire · Jeanne · gain net pour 1 000 passagers arrivants, test.csv utilisé une seule fois</a:t>
            </a:r>
          </a:p>
        </p:txBody>
      </p:sp>
      <p:sp>
        <p:nvSpPr>
          <p:cNvPr id="13" name="Oval 12"/>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650016"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970056"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Aucun enfant n'est jamais signalé aux équipes</a:t>
            </a:r>
          </a:p>
        </p:txBody>
      </p:sp>
      <p:sp>
        <p:nvSpPr>
          <p:cNvPr id="5" name="Rounded Rectangle 4"/>
          <p:cNvSpPr/>
          <p:nvPr/>
        </p:nvSpPr>
        <p:spPr>
          <a:xfrm>
            <a:off x="508406" y="1828800"/>
            <a:ext cx="3511600" cy="3246120"/>
          </a:xfrm>
          <a:prstGeom prst="roundRect">
            <a:avLst>
              <a:gd name="adj" fmla="val 6197"/>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4166" y="2148840"/>
            <a:ext cx="685800" cy="6858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4166" y="2148840"/>
            <a:ext cx="685800" cy="685800"/>
          </a:xfrm>
          <a:prstGeom prst="rect">
            <a:avLst/>
          </a:prstGeom>
          <a:noFill/>
        </p:spPr>
        <p:txBody>
          <a:bodyPr wrap="square" lIns="0" rIns="0" tIns="0" bIns="0" anchor="ctr">
            <a:spAutoFit/>
          </a:bodyPr>
          <a:lstStyle/>
          <a:p>
            <a:pPr algn="ctr"/>
            <a:r>
              <a:rPr sz="3000" b="1">
                <a:solidFill>
                  <a:srgbClr val="FFDC00"/>
                </a:solidFill>
                <a:latin typeface="Arial"/>
              </a:rPr>
              <a:t>!</a:t>
            </a:r>
          </a:p>
        </p:txBody>
      </p:sp>
      <p:sp>
        <p:nvSpPr>
          <p:cNvPr id="8" name="TextBox 7"/>
          <p:cNvSpPr txBox="1"/>
          <p:nvPr/>
        </p:nvSpPr>
        <p:spPr>
          <a:xfrm>
            <a:off x="874166" y="2971800"/>
            <a:ext cx="2780080" cy="914400"/>
          </a:xfrm>
          <a:prstGeom prst="rect">
            <a:avLst/>
          </a:prstGeom>
          <a:noFill/>
        </p:spPr>
        <p:txBody>
          <a:bodyPr wrap="square" lIns="0" rIns="0" tIns="0" bIns="0" anchor="t">
            <a:spAutoFit/>
          </a:bodyPr>
          <a:lstStyle/>
          <a:p>
            <a:pPr algn="l"/>
            <a:r>
              <a:rPr sz="5400" b="1">
                <a:solidFill>
                  <a:srgbClr val="000000"/>
                </a:solidFill>
                <a:latin typeface="Arial"/>
              </a:rPr>
              <a:t>23,7 %</a:t>
            </a:r>
          </a:p>
        </p:txBody>
      </p:sp>
      <p:sp>
        <p:nvSpPr>
          <p:cNvPr id="9" name="TextBox 8"/>
          <p:cNvSpPr txBox="1"/>
          <p:nvPr/>
        </p:nvSpPr>
        <p:spPr>
          <a:xfrm>
            <a:off x="874166" y="3931920"/>
            <a:ext cx="2780080" cy="1005840"/>
          </a:xfrm>
          <a:prstGeom prst="rect">
            <a:avLst/>
          </a:prstGeom>
          <a:noFill/>
        </p:spPr>
        <p:txBody>
          <a:bodyPr wrap="square" lIns="0" rIns="0" tIns="0" bIns="0" anchor="t">
            <a:spAutoFit/>
          </a:bodyPr>
          <a:lstStyle/>
          <a:p>
            <a:pPr algn="l"/>
            <a:r>
              <a:rPr sz="1500" b="0">
                <a:solidFill>
                  <a:srgbClr val="000000"/>
                </a:solidFill>
                <a:latin typeface="Arial"/>
              </a:rPr>
              <a:t>des passagers signalés seraient mineurs sans précaution, contre 7,6 % des passagers</a:t>
            </a:r>
          </a:p>
        </p:txBody>
      </p:sp>
      <p:sp>
        <p:nvSpPr>
          <p:cNvPr id="10" name="Rounded Rectangle 9"/>
          <p:cNvSpPr/>
          <p:nvPr/>
        </p:nvSpPr>
        <p:spPr>
          <a:xfrm>
            <a:off x="4340047" y="1828800"/>
            <a:ext cx="3511600" cy="3246120"/>
          </a:xfrm>
          <a:prstGeom prst="roundRect">
            <a:avLst>
              <a:gd name="adj" fmla="val 61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mille.png"/>
          <p:cNvPicPr>
            <a:picLocks noChangeAspect="1"/>
          </p:cNvPicPr>
          <p:nvPr/>
        </p:nvPicPr>
        <p:blipFill>
          <a:blip r:embed="rId2"/>
          <a:stretch>
            <a:fillRect/>
          </a:stretch>
        </p:blipFill>
        <p:spPr>
          <a:xfrm>
            <a:off x="4705807" y="2148840"/>
            <a:ext cx="685800" cy="685800"/>
          </a:xfrm>
          <a:prstGeom prst="rect">
            <a:avLst/>
          </a:prstGeom>
        </p:spPr>
      </p:pic>
      <p:sp>
        <p:nvSpPr>
          <p:cNvPr id="12" name="TextBox 11"/>
          <p:cNvSpPr txBox="1"/>
          <p:nvPr/>
        </p:nvSpPr>
        <p:spPr>
          <a:xfrm>
            <a:off x="4705807" y="2971800"/>
            <a:ext cx="2780080" cy="914400"/>
          </a:xfrm>
          <a:prstGeom prst="rect">
            <a:avLst/>
          </a:prstGeom>
          <a:noFill/>
        </p:spPr>
        <p:txBody>
          <a:bodyPr wrap="square" lIns="0" rIns="0" tIns="0" bIns="0" anchor="t">
            <a:spAutoFit/>
          </a:bodyPr>
          <a:lstStyle/>
          <a:p>
            <a:pPr algn="l"/>
            <a:r>
              <a:rPr sz="5400" b="1">
                <a:solidFill>
                  <a:srgbClr val="000000"/>
                </a:solidFill>
                <a:latin typeface="Arial"/>
              </a:rPr>
              <a:t>0 %</a:t>
            </a:r>
          </a:p>
        </p:txBody>
      </p:sp>
      <p:sp>
        <p:nvSpPr>
          <p:cNvPr id="13" name="TextBox 12"/>
          <p:cNvSpPr txBox="1"/>
          <p:nvPr/>
        </p:nvSpPr>
        <p:spPr>
          <a:xfrm>
            <a:off x="4705807" y="3931920"/>
            <a:ext cx="2780080" cy="1005840"/>
          </a:xfrm>
          <a:prstGeom prst="rect">
            <a:avLst/>
          </a:prstGeom>
          <a:noFill/>
        </p:spPr>
        <p:txBody>
          <a:bodyPr wrap="square" lIns="0" rIns="0" tIns="0" bIns="0" anchor="t">
            <a:spAutoFit/>
          </a:bodyPr>
          <a:lstStyle/>
          <a:p>
            <a:pPr algn="l"/>
            <a:r>
              <a:rPr sz="1500" b="0">
                <a:solidFill>
                  <a:srgbClr val="000000"/>
                </a:solidFill>
                <a:latin typeface="Arial"/>
              </a:rPr>
              <a:t>après exclusion des mineurs du signalement</a:t>
            </a:r>
          </a:p>
        </p:txBody>
      </p:sp>
      <p:sp>
        <p:nvSpPr>
          <p:cNvPr id="14" name="Rounded Rectangle 13"/>
          <p:cNvSpPr/>
          <p:nvPr/>
        </p:nvSpPr>
        <p:spPr>
          <a:xfrm>
            <a:off x="8171688" y="1828800"/>
            <a:ext cx="3511600" cy="3246120"/>
          </a:xfrm>
          <a:prstGeom prst="roundRect">
            <a:avLst>
              <a:gd name="adj" fmla="val 61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ouclier.png"/>
          <p:cNvPicPr>
            <a:picLocks noChangeAspect="1"/>
          </p:cNvPicPr>
          <p:nvPr/>
        </p:nvPicPr>
        <p:blipFill>
          <a:blip r:embed="rId3"/>
          <a:stretch>
            <a:fillRect/>
          </a:stretch>
        </p:blipFill>
        <p:spPr>
          <a:xfrm>
            <a:off x="8537448" y="2148840"/>
            <a:ext cx="685800" cy="685800"/>
          </a:xfrm>
          <a:prstGeom prst="rect">
            <a:avLst/>
          </a:prstGeom>
        </p:spPr>
      </p:pic>
      <p:sp>
        <p:nvSpPr>
          <p:cNvPr id="16" name="TextBox 15"/>
          <p:cNvSpPr txBox="1"/>
          <p:nvPr/>
        </p:nvSpPr>
        <p:spPr>
          <a:xfrm>
            <a:off x="8537448" y="2971800"/>
            <a:ext cx="2780080" cy="914400"/>
          </a:xfrm>
          <a:prstGeom prst="rect">
            <a:avLst/>
          </a:prstGeom>
          <a:noFill/>
        </p:spPr>
        <p:txBody>
          <a:bodyPr wrap="square" lIns="0" rIns="0" tIns="0" bIns="0" anchor="t">
            <a:spAutoFit/>
          </a:bodyPr>
          <a:lstStyle/>
          <a:p>
            <a:pPr algn="l"/>
            <a:r>
              <a:rPr sz="5400" b="1">
                <a:solidFill>
                  <a:srgbClr val="000000"/>
                </a:solidFill>
                <a:latin typeface="Arial"/>
              </a:rPr>
              <a:t>−2 %</a:t>
            </a:r>
          </a:p>
        </p:txBody>
      </p:sp>
      <p:sp>
        <p:nvSpPr>
          <p:cNvPr id="17" name="TextBox 16"/>
          <p:cNvSpPr txBox="1"/>
          <p:nvPr/>
        </p:nvSpPr>
        <p:spPr>
          <a:xfrm>
            <a:off x="8537448" y="3931920"/>
            <a:ext cx="2780080" cy="1005840"/>
          </a:xfrm>
          <a:prstGeom prst="rect">
            <a:avLst/>
          </a:prstGeom>
          <a:noFill/>
        </p:spPr>
        <p:txBody>
          <a:bodyPr wrap="square" lIns="0" rIns="0" tIns="0" bIns="0" anchor="t">
            <a:spAutoFit/>
          </a:bodyPr>
          <a:lstStyle/>
          <a:p>
            <a:pPr algn="l"/>
            <a:r>
              <a:rPr sz="1500" b="0">
                <a:solidFill>
                  <a:srgbClr val="000000"/>
                </a:solidFill>
                <a:latin typeface="Arial"/>
              </a:rPr>
              <a:t>de gain seulement : 5 386 € au lieu de 5 512 € pour 1 000 passagers</a:t>
            </a:r>
          </a:p>
        </p:txBody>
      </p:sp>
      <p:sp>
        <p:nvSpPr>
          <p:cNvPr id="18" name="Rounded Rectangle 17"/>
          <p:cNvSpPr/>
          <p:nvPr/>
        </p:nvSpPr>
        <p:spPr>
          <a:xfrm>
            <a:off x="508406" y="5303520"/>
            <a:ext cx="11174882" cy="685800"/>
          </a:xfrm>
          <a:prstGeom prst="roundRect">
            <a:avLst>
              <a:gd name="adj" fmla="val 29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xclu.png"/>
          <p:cNvPicPr>
            <a:picLocks noChangeAspect="1"/>
          </p:cNvPicPr>
          <p:nvPr/>
        </p:nvPicPr>
        <p:blipFill>
          <a:blip r:embed="rId4"/>
          <a:stretch>
            <a:fillRect/>
          </a:stretch>
        </p:blipFill>
        <p:spPr>
          <a:xfrm>
            <a:off x="782726" y="5413248"/>
            <a:ext cx="457200" cy="457200"/>
          </a:xfrm>
          <a:prstGeom prst="rect">
            <a:avLst/>
          </a:prstGeom>
        </p:spPr>
      </p:pic>
      <p:sp>
        <p:nvSpPr>
          <p:cNvPr id="20" name="TextBox 19"/>
          <p:cNvSpPr txBox="1"/>
          <p:nvPr/>
        </p:nvSpPr>
        <p:spPr>
          <a:xfrm>
            <a:off x="1422806" y="5303520"/>
            <a:ext cx="9986162" cy="685800"/>
          </a:xfrm>
          <a:prstGeom prst="rect">
            <a:avLst/>
          </a:prstGeom>
          <a:noFill/>
        </p:spPr>
        <p:txBody>
          <a:bodyPr wrap="square" lIns="0" rIns="0" tIns="0" bIns="0" anchor="ctr">
            <a:spAutoFit/>
          </a:bodyPr>
          <a:lstStyle/>
          <a:p>
            <a:pPr algn="l"/>
            <a:r>
              <a:rPr sz="1500" b="1">
                <a:solidFill>
                  <a:srgbClr val="000000"/>
                </a:solidFill>
                <a:latin typeface="Arial"/>
              </a:rPr>
              <a:t>Retirer l'âge du modèle ne suffirait pas : </a:t>
            </a:r>
            <a:r>
              <a:rPr sz="1500" b="0">
                <a:solidFill>
                  <a:srgbClr val="000000"/>
                </a:solidFill>
                <a:latin typeface="Arial"/>
              </a:rPr>
              <a:t>−539 € et encore 11,6 % de mineurs signalés.</a:t>
            </a:r>
          </a:p>
        </p:txBody>
      </p:sp>
      <p:sp>
        <p:nvSpPr>
          <p:cNvPr id="21" name="TextBox 2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3 — Encadrer · Côme</a:t>
            </a:r>
          </a:p>
        </p:txBody>
      </p:sp>
      <p:sp>
        <p:nvSpPr>
          <p:cNvPr id="22" name="Oval 2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65001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805464"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25504"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5606" y="457200"/>
            <a:ext cx="164592" cy="164592"/>
          </a:xfrm>
          <a:prstGeom prst="ellipse">
            <a:avLst/>
          </a:prstGeom>
          <a:solidFill>
            <a:srgbClr val="FFB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Un nouvel usage des données, sous quatre conditions</a:t>
            </a:r>
          </a:p>
        </p:txBody>
      </p:sp>
      <p:sp>
        <p:nvSpPr>
          <p:cNvPr id="6" name="Rounded Rectangle 5"/>
          <p:cNvSpPr/>
          <p:nvPr/>
        </p:nvSpPr>
        <p:spPr>
          <a:xfrm>
            <a:off x="508406" y="1828800"/>
            <a:ext cx="5427421" cy="1920240"/>
          </a:xfrm>
          <a:prstGeom prst="roundRect">
            <a:avLst>
              <a:gd name="adj" fmla="val 104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logue.png"/>
          <p:cNvPicPr>
            <a:picLocks noChangeAspect="1"/>
          </p:cNvPicPr>
          <p:nvPr/>
        </p:nvPicPr>
        <p:blipFill>
          <a:blip r:embed="rId2"/>
          <a:stretch>
            <a:fillRect/>
          </a:stretch>
        </p:blipFill>
        <p:spPr>
          <a:xfrm>
            <a:off x="874166" y="2176272"/>
            <a:ext cx="685800" cy="685800"/>
          </a:xfrm>
          <a:prstGeom prst="rect">
            <a:avLst/>
          </a:prstGeom>
        </p:spPr>
      </p:pic>
      <p:sp>
        <p:nvSpPr>
          <p:cNvPr id="8" name="TextBox 7"/>
          <p:cNvSpPr txBox="1"/>
          <p:nvPr/>
        </p:nvSpPr>
        <p:spPr>
          <a:xfrm>
            <a:off x="1788566" y="2148840"/>
            <a:ext cx="3781501" cy="411480"/>
          </a:xfrm>
          <a:prstGeom prst="rect">
            <a:avLst/>
          </a:prstGeom>
          <a:noFill/>
        </p:spPr>
        <p:txBody>
          <a:bodyPr wrap="square" lIns="0" rIns="0" tIns="0" bIns="0" anchor="t">
            <a:spAutoFit/>
          </a:bodyPr>
          <a:lstStyle/>
          <a:p>
            <a:pPr algn="l"/>
            <a:r>
              <a:rPr sz="1900" b="1">
                <a:solidFill>
                  <a:srgbClr val="000000"/>
                </a:solidFill>
                <a:latin typeface="Arial"/>
              </a:rPr>
              <a:t>Informer et permettre de refuser</a:t>
            </a:r>
          </a:p>
        </p:txBody>
      </p:sp>
      <p:sp>
        <p:nvSpPr>
          <p:cNvPr id="9" name="TextBox 8"/>
          <p:cNvSpPr txBox="1"/>
          <p:nvPr/>
        </p:nvSpPr>
        <p:spPr>
          <a:xfrm>
            <a:off x="1788566" y="2606040"/>
            <a:ext cx="3781501" cy="1005840"/>
          </a:xfrm>
          <a:prstGeom prst="rect">
            <a:avLst/>
          </a:prstGeom>
          <a:noFill/>
        </p:spPr>
        <p:txBody>
          <a:bodyPr wrap="square" lIns="0" rIns="0" tIns="0" bIns="0" anchor="t">
            <a:spAutoFit/>
          </a:bodyPr>
          <a:lstStyle/>
          <a:p>
            <a:pPr algn="l"/>
            <a:r>
              <a:rPr sz="1400" b="0">
                <a:solidFill>
                  <a:srgbClr val="444444"/>
                </a:solidFill>
                <a:latin typeface="Arial"/>
              </a:rPr>
              <a:t>Nouvelle finalité : mise à jour de la politique de confidentialité, intérêt légitime, droit d'opposition simple, analyse d'impact.</a:t>
            </a:r>
          </a:p>
        </p:txBody>
      </p:sp>
      <p:sp>
        <p:nvSpPr>
          <p:cNvPr id="10" name="Rounded Rectangle 9"/>
          <p:cNvSpPr/>
          <p:nvPr/>
        </p:nvSpPr>
        <p:spPr>
          <a:xfrm>
            <a:off x="6255867" y="1828800"/>
            <a:ext cx="5427421" cy="1920240"/>
          </a:xfrm>
          <a:prstGeom prst="roundRect">
            <a:avLst>
              <a:gd name="adj" fmla="val 104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mille.png"/>
          <p:cNvPicPr>
            <a:picLocks noChangeAspect="1"/>
          </p:cNvPicPr>
          <p:nvPr/>
        </p:nvPicPr>
        <p:blipFill>
          <a:blip r:embed="rId3"/>
          <a:stretch>
            <a:fillRect/>
          </a:stretch>
        </p:blipFill>
        <p:spPr>
          <a:xfrm>
            <a:off x="6621627" y="2176272"/>
            <a:ext cx="685800" cy="685800"/>
          </a:xfrm>
          <a:prstGeom prst="rect">
            <a:avLst/>
          </a:prstGeom>
        </p:spPr>
      </p:pic>
      <p:sp>
        <p:nvSpPr>
          <p:cNvPr id="12" name="TextBox 11"/>
          <p:cNvSpPr txBox="1"/>
          <p:nvPr/>
        </p:nvSpPr>
        <p:spPr>
          <a:xfrm>
            <a:off x="7536027" y="2148840"/>
            <a:ext cx="3781501" cy="411480"/>
          </a:xfrm>
          <a:prstGeom prst="rect">
            <a:avLst/>
          </a:prstGeom>
          <a:noFill/>
        </p:spPr>
        <p:txBody>
          <a:bodyPr wrap="square" lIns="0" rIns="0" tIns="0" bIns="0" anchor="t">
            <a:spAutoFit/>
          </a:bodyPr>
          <a:lstStyle/>
          <a:p>
            <a:pPr algn="l"/>
            <a:r>
              <a:rPr sz="1900" b="1">
                <a:solidFill>
                  <a:srgbClr val="000000"/>
                </a:solidFill>
                <a:latin typeface="Arial"/>
              </a:rPr>
              <a:t>Protéger les enfants</a:t>
            </a:r>
          </a:p>
        </p:txBody>
      </p:sp>
      <p:sp>
        <p:nvSpPr>
          <p:cNvPr id="13" name="TextBox 12"/>
          <p:cNvSpPr txBox="1"/>
          <p:nvPr/>
        </p:nvSpPr>
        <p:spPr>
          <a:xfrm>
            <a:off x="7536027" y="2606040"/>
            <a:ext cx="3781501" cy="1005840"/>
          </a:xfrm>
          <a:prstGeom prst="rect">
            <a:avLst/>
          </a:prstGeom>
          <a:noFill/>
        </p:spPr>
        <p:txBody>
          <a:bodyPr wrap="square" lIns="0" rIns="0" tIns="0" bIns="0" anchor="t">
            <a:spAutoFit/>
          </a:bodyPr>
          <a:lstStyle/>
          <a:p>
            <a:pPr algn="l"/>
            <a:r>
              <a:rPr sz="1400" b="0">
                <a:solidFill>
                  <a:srgbClr val="444444"/>
                </a:solidFill>
                <a:latin typeface="Arial"/>
              </a:rPr>
              <a:t>Aucun mineur signalé. Le profilage des enfants appelle une protection renforcée.</a:t>
            </a:r>
          </a:p>
        </p:txBody>
      </p:sp>
      <p:sp>
        <p:nvSpPr>
          <p:cNvPr id="14" name="Rounded Rectangle 13"/>
          <p:cNvSpPr/>
          <p:nvPr/>
        </p:nvSpPr>
        <p:spPr>
          <a:xfrm>
            <a:off x="508406" y="4069080"/>
            <a:ext cx="5427421" cy="1920240"/>
          </a:xfrm>
          <a:prstGeom prst="roundRect">
            <a:avLst>
              <a:gd name="adj" fmla="val 104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ible.png"/>
          <p:cNvPicPr>
            <a:picLocks noChangeAspect="1"/>
          </p:cNvPicPr>
          <p:nvPr/>
        </p:nvPicPr>
        <p:blipFill>
          <a:blip r:embed="rId4"/>
          <a:stretch>
            <a:fillRect/>
          </a:stretch>
        </p:blipFill>
        <p:spPr>
          <a:xfrm>
            <a:off x="874166" y="4416552"/>
            <a:ext cx="685800" cy="685800"/>
          </a:xfrm>
          <a:prstGeom prst="rect">
            <a:avLst/>
          </a:prstGeom>
        </p:spPr>
      </p:pic>
      <p:sp>
        <p:nvSpPr>
          <p:cNvPr id="16" name="TextBox 15"/>
          <p:cNvSpPr txBox="1"/>
          <p:nvPr/>
        </p:nvSpPr>
        <p:spPr>
          <a:xfrm>
            <a:off x="1788566" y="4389120"/>
            <a:ext cx="3781501" cy="411480"/>
          </a:xfrm>
          <a:prstGeom prst="rect">
            <a:avLst/>
          </a:prstGeom>
          <a:noFill/>
        </p:spPr>
        <p:txBody>
          <a:bodyPr wrap="square" lIns="0" rIns="0" tIns="0" bIns="0" anchor="t">
            <a:spAutoFit/>
          </a:bodyPr>
          <a:lstStyle/>
          <a:p>
            <a:pPr algn="l"/>
            <a:r>
              <a:rPr sz="1900" b="1">
                <a:solidFill>
                  <a:srgbClr val="000000"/>
                </a:solidFill>
                <a:latin typeface="Arial"/>
              </a:rPr>
              <a:t>Limiter les informations utilisées</a:t>
            </a:r>
          </a:p>
        </p:txBody>
      </p:sp>
      <p:sp>
        <p:nvSpPr>
          <p:cNvPr id="17" name="TextBox 16"/>
          <p:cNvSpPr txBox="1"/>
          <p:nvPr/>
        </p:nvSpPr>
        <p:spPr>
          <a:xfrm>
            <a:off x="1788566" y="4846320"/>
            <a:ext cx="3781501" cy="1005840"/>
          </a:xfrm>
          <a:prstGeom prst="rect">
            <a:avLst/>
          </a:prstGeom>
          <a:noFill/>
        </p:spPr>
        <p:txBody>
          <a:bodyPr wrap="square" lIns="0" rIns="0" tIns="0" bIns="0" anchor="t">
            <a:spAutoFit/>
          </a:bodyPr>
          <a:lstStyle/>
          <a:p>
            <a:pPr algn="l"/>
            <a:r>
              <a:rPr sz="1400" b="0">
                <a:solidFill>
                  <a:srgbClr val="444444"/>
                </a:solidFill>
                <a:latin typeface="Arial"/>
              </a:rPr>
              <a:t>Classe, fidélité, distance, retards et âge. Genre et motif du voyage exclus.</a:t>
            </a:r>
          </a:p>
        </p:txBody>
      </p:sp>
      <p:sp>
        <p:nvSpPr>
          <p:cNvPr id="18" name="Rounded Rectangle 17"/>
          <p:cNvSpPr/>
          <p:nvPr/>
        </p:nvSpPr>
        <p:spPr>
          <a:xfrm>
            <a:off x="6255867" y="4069080"/>
            <a:ext cx="5427421" cy="1920240"/>
          </a:xfrm>
          <a:prstGeom prst="roundRect">
            <a:avLst>
              <a:gd name="adj" fmla="val 104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nfidentiel.png"/>
          <p:cNvPicPr>
            <a:picLocks noChangeAspect="1"/>
          </p:cNvPicPr>
          <p:nvPr/>
        </p:nvPicPr>
        <p:blipFill>
          <a:blip r:embed="rId5"/>
          <a:stretch>
            <a:fillRect/>
          </a:stretch>
        </p:blipFill>
        <p:spPr>
          <a:xfrm>
            <a:off x="6621627" y="4416552"/>
            <a:ext cx="685800" cy="685800"/>
          </a:xfrm>
          <a:prstGeom prst="rect">
            <a:avLst/>
          </a:prstGeom>
        </p:spPr>
      </p:pic>
      <p:sp>
        <p:nvSpPr>
          <p:cNvPr id="20" name="TextBox 19"/>
          <p:cNvSpPr txBox="1"/>
          <p:nvPr/>
        </p:nvSpPr>
        <p:spPr>
          <a:xfrm>
            <a:off x="7536027" y="4389120"/>
            <a:ext cx="3781501" cy="411480"/>
          </a:xfrm>
          <a:prstGeom prst="rect">
            <a:avLst/>
          </a:prstGeom>
          <a:noFill/>
        </p:spPr>
        <p:txBody>
          <a:bodyPr wrap="square" lIns="0" rIns="0" tIns="0" bIns="0" anchor="t">
            <a:spAutoFit/>
          </a:bodyPr>
          <a:lstStyle/>
          <a:p>
            <a:pPr algn="l"/>
            <a:r>
              <a:rPr sz="1900" b="1">
                <a:solidFill>
                  <a:srgbClr val="000000"/>
                </a:solidFill>
                <a:latin typeface="Arial"/>
              </a:rPr>
              <a:t>Montrer le minimum aux agents</a:t>
            </a:r>
          </a:p>
        </p:txBody>
      </p:sp>
      <p:sp>
        <p:nvSpPr>
          <p:cNvPr id="21" name="TextBox 20"/>
          <p:cNvSpPr txBox="1"/>
          <p:nvPr/>
        </p:nvSpPr>
        <p:spPr>
          <a:xfrm>
            <a:off x="7536027" y="4846320"/>
            <a:ext cx="3781501" cy="1005840"/>
          </a:xfrm>
          <a:prstGeom prst="rect">
            <a:avLst/>
          </a:prstGeom>
          <a:noFill/>
        </p:spPr>
        <p:txBody>
          <a:bodyPr wrap="square" lIns="0" rIns="0" tIns="0" bIns="0" anchor="t">
            <a:spAutoFit/>
          </a:bodyPr>
          <a:lstStyle/>
          <a:p>
            <a:pPr algn="l"/>
            <a:r>
              <a:rPr sz="1400" b="0">
                <a:solidFill>
                  <a:srgbClr val="444444"/>
                </a:solidFill>
                <a:latin typeface="Arial"/>
              </a:rPr>
              <a:t>Ni score, ni âge, ni étiquette « mécontent » ; signalements effacés après le vol.</a:t>
            </a:r>
          </a:p>
        </p:txBody>
      </p:sp>
      <p:sp>
        <p:nvSpPr>
          <p:cNvPr id="22" name="TextBox 21"/>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3 — Encadrer · Côme</a:t>
            </a:r>
          </a:p>
        </p:txBody>
      </p:sp>
      <p:sp>
        <p:nvSpPr>
          <p:cNvPr id="23" name="Oval 22"/>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65001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80546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960912"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280952"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Ce que l'agent voit, et ce qu'il ne voit jamais</a:t>
            </a:r>
          </a:p>
        </p:txBody>
      </p:sp>
      <p:sp>
        <p:nvSpPr>
          <p:cNvPr id="5" name="Rounded Rectangle 4"/>
          <p:cNvSpPr/>
          <p:nvPr/>
        </p:nvSpPr>
        <p:spPr>
          <a:xfrm>
            <a:off x="508406" y="1828800"/>
            <a:ext cx="5486400" cy="4160520"/>
          </a:xfrm>
          <a:prstGeom prst="roundRect">
            <a:avLst>
              <a:gd name="adj" fmla="val 7692"/>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7006" y="2057400"/>
            <a:ext cx="5029200" cy="3703320"/>
          </a:xfrm>
          <a:prstGeom prst="roundRect">
            <a:avLst>
              <a:gd name="adj" fmla="val 543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046" y="2286000"/>
            <a:ext cx="4389120" cy="320040"/>
          </a:xfrm>
          <a:prstGeom prst="rect">
            <a:avLst/>
          </a:prstGeom>
          <a:noFill/>
        </p:spPr>
        <p:txBody>
          <a:bodyPr wrap="square" lIns="0" rIns="0" tIns="0" bIns="0" anchor="t">
            <a:spAutoFit/>
          </a:bodyPr>
          <a:lstStyle/>
          <a:p>
            <a:pPr algn="l"/>
            <a:r>
              <a:rPr sz="1300" b="0">
                <a:solidFill>
                  <a:srgbClr val="8A8A8A"/>
                </a:solidFill>
                <a:latin typeface="Arial"/>
              </a:rPr>
              <a:t>Vol 1234 · arrivée 14:35 · porte 21</a:t>
            </a:r>
          </a:p>
        </p:txBody>
      </p:sp>
      <p:pic>
        <p:nvPicPr>
          <p:cNvPr id="8" name="Picture 7" descr="dialogue.png"/>
          <p:cNvPicPr>
            <a:picLocks noChangeAspect="1"/>
          </p:cNvPicPr>
          <p:nvPr/>
        </p:nvPicPr>
        <p:blipFill>
          <a:blip r:embed="rId2"/>
          <a:stretch>
            <a:fillRect/>
          </a:stretch>
        </p:blipFill>
        <p:spPr>
          <a:xfrm>
            <a:off x="1057046" y="2743200"/>
            <a:ext cx="640080" cy="640080"/>
          </a:xfrm>
          <a:prstGeom prst="rect">
            <a:avLst/>
          </a:prstGeom>
        </p:spPr>
      </p:pic>
      <p:sp>
        <p:nvSpPr>
          <p:cNvPr id="9" name="TextBox 8"/>
          <p:cNvSpPr txBox="1"/>
          <p:nvPr/>
        </p:nvSpPr>
        <p:spPr>
          <a:xfrm>
            <a:off x="1925726" y="2724912"/>
            <a:ext cx="3566160" cy="685800"/>
          </a:xfrm>
          <a:prstGeom prst="rect">
            <a:avLst/>
          </a:prstGeom>
          <a:noFill/>
        </p:spPr>
        <p:txBody>
          <a:bodyPr wrap="square" lIns="0" rIns="0" tIns="0" bIns="0" anchor="t">
            <a:spAutoFit/>
          </a:bodyPr>
          <a:lstStyle/>
          <a:p>
            <a:pPr algn="l"/>
            <a:r>
              <a:rPr sz="2400" b="1">
                <a:solidFill>
                  <a:srgbClr val="000000"/>
                </a:solidFill>
                <a:latin typeface="Arial"/>
              </a:rPr>
              <a:t>Siège 12B</a:t>
            </a:r>
          </a:p>
          <a:p>
            <a:pPr algn="l"/>
            <a:r>
              <a:rPr sz="1500" b="0">
                <a:solidFill>
                  <a:srgbClr val="444444"/>
                </a:solidFill>
                <a:latin typeface="Arial"/>
              </a:rPr>
              <a:t>À accueillir en priorité</a:t>
            </a:r>
          </a:p>
        </p:txBody>
      </p:sp>
      <p:pic>
        <p:nvPicPr>
          <p:cNvPr id="10" name="Picture 9" descr="horloge.png"/>
          <p:cNvPicPr>
            <a:picLocks noChangeAspect="1"/>
          </p:cNvPicPr>
          <p:nvPr/>
        </p:nvPicPr>
        <p:blipFill>
          <a:blip r:embed="rId3"/>
          <a:stretch>
            <a:fillRect/>
          </a:stretch>
        </p:blipFill>
        <p:spPr>
          <a:xfrm>
            <a:off x="1057046" y="3703320"/>
            <a:ext cx="457200" cy="457200"/>
          </a:xfrm>
          <a:prstGeom prst="rect">
            <a:avLst/>
          </a:prstGeom>
        </p:spPr>
      </p:pic>
      <p:sp>
        <p:nvSpPr>
          <p:cNvPr id="11" name="TextBox 10"/>
          <p:cNvSpPr txBox="1"/>
          <p:nvPr/>
        </p:nvSpPr>
        <p:spPr>
          <a:xfrm>
            <a:off x="1742846" y="3703320"/>
            <a:ext cx="3749039" cy="457200"/>
          </a:xfrm>
          <a:prstGeom prst="rect">
            <a:avLst/>
          </a:prstGeom>
          <a:noFill/>
        </p:spPr>
        <p:txBody>
          <a:bodyPr wrap="square" lIns="0" rIns="0" tIns="0" bIns="0" anchor="ctr">
            <a:spAutoFit/>
          </a:bodyPr>
          <a:lstStyle/>
          <a:p>
            <a:pPr algn="l"/>
            <a:r>
              <a:rPr sz="1600" b="1">
                <a:solidFill>
                  <a:srgbClr val="000000"/>
                </a:solidFill>
                <a:latin typeface="Arial"/>
              </a:rPr>
              <a:t>Motif : retard de 45 minutes</a:t>
            </a:r>
          </a:p>
        </p:txBody>
      </p:sp>
      <p:sp>
        <p:nvSpPr>
          <p:cNvPr id="12" name="TextBox 11"/>
          <p:cNvSpPr txBox="1"/>
          <p:nvPr/>
        </p:nvSpPr>
        <p:spPr>
          <a:xfrm>
            <a:off x="1057046" y="4434840"/>
            <a:ext cx="4389120" cy="1097280"/>
          </a:xfrm>
          <a:prstGeom prst="rect">
            <a:avLst/>
          </a:prstGeom>
          <a:noFill/>
        </p:spPr>
        <p:txBody>
          <a:bodyPr wrap="square" lIns="0" rIns="0" tIns="0" bIns="0" anchor="t">
            <a:spAutoFit/>
          </a:bodyPr>
          <a:lstStyle/>
          <a:p>
            <a:pPr algn="l"/>
            <a:r>
              <a:rPr sz="1500" b="1">
                <a:solidFill>
                  <a:srgbClr val="444444"/>
                </a:solidFill>
                <a:latin typeface="Arial"/>
              </a:rPr>
              <a:t>Action suggérée : </a:t>
            </a:r>
            <a:r>
              <a:rPr sz="1500" b="0">
                <a:solidFill>
                  <a:srgbClr val="444444"/>
                </a:solidFill>
                <a:latin typeface="Arial"/>
              </a:rPr>
              <a:t>demander comment s'est passé le vol, proposer une collation ou une aide pour la correspondance.</a:t>
            </a:r>
          </a:p>
        </p:txBody>
      </p:sp>
      <p:sp>
        <p:nvSpPr>
          <p:cNvPr id="13" name="Rounded Rectangle 12"/>
          <p:cNvSpPr/>
          <p:nvPr/>
        </p:nvSpPr>
        <p:spPr>
          <a:xfrm>
            <a:off x="6314846" y="1828800"/>
            <a:ext cx="5368442" cy="4160520"/>
          </a:xfrm>
          <a:prstGeom prst="roundRect">
            <a:avLst>
              <a:gd name="adj" fmla="val 483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80606" y="2103120"/>
            <a:ext cx="4572000" cy="457200"/>
          </a:xfrm>
          <a:prstGeom prst="rect">
            <a:avLst/>
          </a:prstGeom>
          <a:noFill/>
        </p:spPr>
        <p:txBody>
          <a:bodyPr wrap="square" lIns="0" rIns="0" tIns="0" bIns="0" anchor="t">
            <a:spAutoFit/>
          </a:bodyPr>
          <a:lstStyle/>
          <a:p>
            <a:pPr algn="l"/>
            <a:r>
              <a:rPr sz="2200" b="1">
                <a:solidFill>
                  <a:srgbClr val="000000"/>
                </a:solidFill>
                <a:latin typeface="Arial"/>
              </a:rPr>
              <a:t>Jamais affiché</a:t>
            </a:r>
          </a:p>
        </p:txBody>
      </p:sp>
      <p:pic>
        <p:nvPicPr>
          <p:cNvPr id="15" name="Picture 14" descr="exclu.png"/>
          <p:cNvPicPr>
            <a:picLocks noChangeAspect="1"/>
          </p:cNvPicPr>
          <p:nvPr/>
        </p:nvPicPr>
        <p:blipFill>
          <a:blip r:embed="rId4"/>
          <a:stretch>
            <a:fillRect/>
          </a:stretch>
        </p:blipFill>
        <p:spPr>
          <a:xfrm>
            <a:off x="6680606" y="2743200"/>
            <a:ext cx="457200" cy="457200"/>
          </a:xfrm>
          <a:prstGeom prst="rect">
            <a:avLst/>
          </a:prstGeom>
        </p:spPr>
      </p:pic>
      <p:sp>
        <p:nvSpPr>
          <p:cNvPr id="16" name="TextBox 15"/>
          <p:cNvSpPr txBox="1"/>
          <p:nvPr/>
        </p:nvSpPr>
        <p:spPr>
          <a:xfrm>
            <a:off x="7366406" y="2743200"/>
            <a:ext cx="4114800" cy="457200"/>
          </a:xfrm>
          <a:prstGeom prst="rect">
            <a:avLst/>
          </a:prstGeom>
          <a:noFill/>
        </p:spPr>
        <p:txBody>
          <a:bodyPr wrap="square" lIns="0" rIns="0" tIns="0" bIns="0" anchor="ctr">
            <a:spAutoFit/>
          </a:bodyPr>
          <a:lstStyle/>
          <a:p>
            <a:pPr algn="l"/>
            <a:r>
              <a:rPr sz="1700" b="1">
                <a:solidFill>
                  <a:srgbClr val="000000"/>
                </a:solidFill>
                <a:latin typeface="Arial"/>
              </a:rPr>
              <a:t>Le score de risque</a:t>
            </a:r>
          </a:p>
        </p:txBody>
      </p:sp>
      <p:pic>
        <p:nvPicPr>
          <p:cNvPr id="17" name="Picture 16" descr="exclu.png"/>
          <p:cNvPicPr>
            <a:picLocks noChangeAspect="1"/>
          </p:cNvPicPr>
          <p:nvPr/>
        </p:nvPicPr>
        <p:blipFill>
          <a:blip r:embed="rId4"/>
          <a:stretch>
            <a:fillRect/>
          </a:stretch>
        </p:blipFill>
        <p:spPr>
          <a:xfrm>
            <a:off x="6680606" y="3474720"/>
            <a:ext cx="457200" cy="457200"/>
          </a:xfrm>
          <a:prstGeom prst="rect">
            <a:avLst/>
          </a:prstGeom>
        </p:spPr>
      </p:pic>
      <p:sp>
        <p:nvSpPr>
          <p:cNvPr id="18" name="TextBox 17"/>
          <p:cNvSpPr txBox="1"/>
          <p:nvPr/>
        </p:nvSpPr>
        <p:spPr>
          <a:xfrm>
            <a:off x="7366406" y="3474720"/>
            <a:ext cx="4114800" cy="457200"/>
          </a:xfrm>
          <a:prstGeom prst="rect">
            <a:avLst/>
          </a:prstGeom>
          <a:noFill/>
        </p:spPr>
        <p:txBody>
          <a:bodyPr wrap="square" lIns="0" rIns="0" tIns="0" bIns="0" anchor="ctr">
            <a:spAutoFit/>
          </a:bodyPr>
          <a:lstStyle/>
          <a:p>
            <a:pPr algn="l"/>
            <a:r>
              <a:rPr sz="1700" b="1">
                <a:solidFill>
                  <a:srgbClr val="000000"/>
                </a:solidFill>
                <a:latin typeface="Arial"/>
              </a:rPr>
              <a:t>L'âge ou le genre</a:t>
            </a:r>
          </a:p>
        </p:txBody>
      </p:sp>
      <p:pic>
        <p:nvPicPr>
          <p:cNvPr id="19" name="Picture 18" descr="exclu.png"/>
          <p:cNvPicPr>
            <a:picLocks noChangeAspect="1"/>
          </p:cNvPicPr>
          <p:nvPr/>
        </p:nvPicPr>
        <p:blipFill>
          <a:blip r:embed="rId4"/>
          <a:stretch>
            <a:fillRect/>
          </a:stretch>
        </p:blipFill>
        <p:spPr>
          <a:xfrm>
            <a:off x="6680606" y="4206240"/>
            <a:ext cx="457200" cy="457200"/>
          </a:xfrm>
          <a:prstGeom prst="rect">
            <a:avLst/>
          </a:prstGeom>
        </p:spPr>
      </p:pic>
      <p:sp>
        <p:nvSpPr>
          <p:cNvPr id="20" name="TextBox 19"/>
          <p:cNvSpPr txBox="1"/>
          <p:nvPr/>
        </p:nvSpPr>
        <p:spPr>
          <a:xfrm>
            <a:off x="7366406" y="4206240"/>
            <a:ext cx="4114800" cy="457200"/>
          </a:xfrm>
          <a:prstGeom prst="rect">
            <a:avLst/>
          </a:prstGeom>
          <a:noFill/>
        </p:spPr>
        <p:txBody>
          <a:bodyPr wrap="square" lIns="0" rIns="0" tIns="0" bIns="0" anchor="ctr">
            <a:spAutoFit/>
          </a:bodyPr>
          <a:lstStyle/>
          <a:p>
            <a:pPr algn="l"/>
            <a:r>
              <a:rPr sz="1700" b="1">
                <a:solidFill>
                  <a:srgbClr val="000000"/>
                </a:solidFill>
                <a:latin typeface="Arial"/>
              </a:rPr>
              <a:t>Une étiquette « mécontent »</a:t>
            </a:r>
          </a:p>
        </p:txBody>
      </p:sp>
      <p:pic>
        <p:nvPicPr>
          <p:cNvPr id="21" name="Picture 20" descr="exclu.png"/>
          <p:cNvPicPr>
            <a:picLocks noChangeAspect="1"/>
          </p:cNvPicPr>
          <p:nvPr/>
        </p:nvPicPr>
        <p:blipFill>
          <a:blip r:embed="rId4"/>
          <a:stretch>
            <a:fillRect/>
          </a:stretch>
        </p:blipFill>
        <p:spPr>
          <a:xfrm>
            <a:off x="6680606" y="4937760"/>
            <a:ext cx="457200" cy="457200"/>
          </a:xfrm>
          <a:prstGeom prst="rect">
            <a:avLst/>
          </a:prstGeom>
        </p:spPr>
      </p:pic>
      <p:sp>
        <p:nvSpPr>
          <p:cNvPr id="22" name="TextBox 21"/>
          <p:cNvSpPr txBox="1"/>
          <p:nvPr/>
        </p:nvSpPr>
        <p:spPr>
          <a:xfrm>
            <a:off x="7366406" y="4937760"/>
            <a:ext cx="4114800" cy="457200"/>
          </a:xfrm>
          <a:prstGeom prst="rect">
            <a:avLst/>
          </a:prstGeom>
          <a:noFill/>
        </p:spPr>
        <p:txBody>
          <a:bodyPr wrap="square" lIns="0" rIns="0" tIns="0" bIns="0" anchor="ctr">
            <a:spAutoFit/>
          </a:bodyPr>
          <a:lstStyle/>
          <a:p>
            <a:pPr algn="l"/>
            <a:r>
              <a:rPr sz="1700" b="1">
                <a:solidFill>
                  <a:srgbClr val="000000"/>
                </a:solidFill>
                <a:latin typeface="Arial"/>
              </a:rPr>
              <a:t>Les réponses à l'enquête</a:t>
            </a:r>
          </a:p>
        </p:txBody>
      </p:sp>
      <p:sp>
        <p:nvSpPr>
          <p:cNvPr id="23" name="TextBox 22"/>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3 — Encadrer · Côme · exemple d'écran (vol fictif)</a:t>
            </a:r>
          </a:p>
        </p:txBody>
      </p:sp>
      <p:sp>
        <p:nvSpPr>
          <p:cNvPr id="24" name="Oval 23"/>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65001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80546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96091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1116360"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436400"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5606" y="457200"/>
            <a:ext cx="164592" cy="164592"/>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Où investir : le service atteint ceux qu'on n'aborde pas</a:t>
            </a:r>
          </a:p>
        </p:txBody>
      </p:sp>
      <p:sp>
        <p:nvSpPr>
          <p:cNvPr id="6" name="Rounded Rectangle 5"/>
          <p:cNvSpPr/>
          <p:nvPr/>
        </p:nvSpPr>
        <p:spPr>
          <a:xfrm>
            <a:off x="508406" y="1828800"/>
            <a:ext cx="7589520" cy="9144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2726" y="2075688"/>
            <a:ext cx="411480" cy="411480"/>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2726" y="2075688"/>
            <a:ext cx="411480" cy="411480"/>
          </a:xfrm>
          <a:prstGeom prst="rect">
            <a:avLst/>
          </a:prstGeom>
          <a:noFill/>
        </p:spPr>
        <p:txBody>
          <a:bodyPr wrap="square" lIns="0" rIns="0" tIns="0" bIns="0" anchor="ctr">
            <a:spAutoFit/>
          </a:bodyPr>
          <a:lstStyle/>
          <a:p>
            <a:pPr algn="ctr"/>
            <a:r>
              <a:rPr sz="1600" b="1">
                <a:solidFill>
                  <a:srgbClr val="FFFFFF"/>
                </a:solidFill>
                <a:latin typeface="Arial"/>
              </a:rPr>
              <a:t>1</a:t>
            </a:r>
          </a:p>
        </p:txBody>
      </p:sp>
      <p:pic>
        <p:nvPicPr>
          <p:cNvPr id="9" name="Picture 8" descr="cible.png"/>
          <p:cNvPicPr>
            <a:picLocks noChangeAspect="1"/>
          </p:cNvPicPr>
          <p:nvPr/>
        </p:nvPicPr>
        <p:blipFill>
          <a:blip r:embed="rId2"/>
          <a:stretch>
            <a:fillRect/>
          </a:stretch>
        </p:blipFill>
        <p:spPr>
          <a:xfrm>
            <a:off x="7320686" y="2029968"/>
            <a:ext cx="502920" cy="502920"/>
          </a:xfrm>
          <a:prstGeom prst="rect">
            <a:avLst/>
          </a:prstGeom>
        </p:spPr>
      </p:pic>
      <p:sp>
        <p:nvSpPr>
          <p:cNvPr id="10" name="TextBox 9"/>
          <p:cNvSpPr txBox="1"/>
          <p:nvPr/>
        </p:nvSpPr>
        <p:spPr>
          <a:xfrm>
            <a:off x="1422806" y="1965960"/>
            <a:ext cx="5760720" cy="640080"/>
          </a:xfrm>
          <a:prstGeom prst="rect">
            <a:avLst/>
          </a:prstGeom>
          <a:noFill/>
        </p:spPr>
        <p:txBody>
          <a:bodyPr wrap="square" lIns="0" rIns="0" tIns="0" bIns="0" anchor="ctr">
            <a:spAutoFit/>
          </a:bodyPr>
          <a:lstStyle/>
          <a:p>
            <a:pPr algn="l"/>
            <a:r>
              <a:rPr sz="1700" b="1">
                <a:solidFill>
                  <a:srgbClr val="000000"/>
                </a:solidFill>
                <a:latin typeface="Arial"/>
              </a:rPr>
              <a:t>Parcours numérique</a:t>
            </a:r>
          </a:p>
          <a:p>
            <a:pPr algn="l"/>
            <a:r>
              <a:rPr sz="1300" b="0">
                <a:solidFill>
                  <a:srgbClr val="444444"/>
                </a:solidFill>
                <a:latin typeface="Arial"/>
              </a:rPr>
              <a:t>embarquement en ligne (voyage pro), réservation en ligne (voyage perso)</a:t>
            </a:r>
          </a:p>
        </p:txBody>
      </p:sp>
      <p:sp>
        <p:nvSpPr>
          <p:cNvPr id="11" name="Rounded Rectangle 10"/>
          <p:cNvSpPr/>
          <p:nvPr/>
        </p:nvSpPr>
        <p:spPr>
          <a:xfrm>
            <a:off x="508406" y="2907791"/>
            <a:ext cx="7589520" cy="9144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2726" y="3154679"/>
            <a:ext cx="411480" cy="411480"/>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 y="3154679"/>
            <a:ext cx="411480" cy="411480"/>
          </a:xfrm>
          <a:prstGeom prst="rect">
            <a:avLst/>
          </a:prstGeom>
          <a:noFill/>
        </p:spPr>
        <p:txBody>
          <a:bodyPr wrap="square" lIns="0" rIns="0" tIns="0" bIns="0" anchor="ctr">
            <a:spAutoFit/>
          </a:bodyPr>
          <a:lstStyle/>
          <a:p>
            <a:pPr algn="ctr"/>
            <a:r>
              <a:rPr sz="1600" b="1">
                <a:solidFill>
                  <a:srgbClr val="FFFFFF"/>
                </a:solidFill>
                <a:latin typeface="Arial"/>
              </a:rPr>
              <a:t>2</a:t>
            </a:r>
          </a:p>
        </p:txBody>
      </p:sp>
      <p:pic>
        <p:nvPicPr>
          <p:cNvPr id="14" name="Picture 13" descr="wifi.png"/>
          <p:cNvPicPr>
            <a:picLocks noChangeAspect="1"/>
          </p:cNvPicPr>
          <p:nvPr/>
        </p:nvPicPr>
        <p:blipFill>
          <a:blip r:embed="rId3"/>
          <a:stretch>
            <a:fillRect/>
          </a:stretch>
        </p:blipFill>
        <p:spPr>
          <a:xfrm>
            <a:off x="7320686" y="3108960"/>
            <a:ext cx="502920" cy="502920"/>
          </a:xfrm>
          <a:prstGeom prst="rect">
            <a:avLst/>
          </a:prstGeom>
        </p:spPr>
      </p:pic>
      <p:sp>
        <p:nvSpPr>
          <p:cNvPr id="15" name="TextBox 14"/>
          <p:cNvSpPr txBox="1"/>
          <p:nvPr/>
        </p:nvSpPr>
        <p:spPr>
          <a:xfrm>
            <a:off x="1422806" y="3044951"/>
            <a:ext cx="5760720" cy="640080"/>
          </a:xfrm>
          <a:prstGeom prst="rect">
            <a:avLst/>
          </a:prstGeom>
          <a:noFill/>
        </p:spPr>
        <p:txBody>
          <a:bodyPr wrap="square" lIns="0" rIns="0" tIns="0" bIns="0" anchor="ctr">
            <a:spAutoFit/>
          </a:bodyPr>
          <a:lstStyle/>
          <a:p>
            <a:pPr algn="l"/>
            <a:r>
              <a:rPr sz="1700" b="1">
                <a:solidFill>
                  <a:srgbClr val="000000"/>
                </a:solidFill>
                <a:latin typeface="Arial"/>
              </a:rPr>
              <a:t>Wi-Fi en vol</a:t>
            </a:r>
          </a:p>
          <a:p>
            <a:pPr algn="l"/>
            <a:r>
              <a:rPr sz="1300" b="0">
                <a:solidFill>
                  <a:srgbClr val="444444"/>
                </a:solidFill>
                <a:latin typeface="Arial"/>
              </a:rPr>
              <a:t>le service le plus pénalisant pour les voyageurs perso (écart de 2,10)</a:t>
            </a:r>
          </a:p>
        </p:txBody>
      </p:sp>
      <p:sp>
        <p:nvSpPr>
          <p:cNvPr id="16" name="Rounded Rectangle 15"/>
          <p:cNvSpPr/>
          <p:nvPr/>
        </p:nvSpPr>
        <p:spPr>
          <a:xfrm>
            <a:off x="508406" y="3986783"/>
            <a:ext cx="7589520" cy="9144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2726" y="4233671"/>
            <a:ext cx="411480" cy="411480"/>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 y="4233671"/>
            <a:ext cx="411480" cy="411480"/>
          </a:xfrm>
          <a:prstGeom prst="rect">
            <a:avLst/>
          </a:prstGeom>
          <a:noFill/>
        </p:spPr>
        <p:txBody>
          <a:bodyPr wrap="square" lIns="0" rIns="0" tIns="0" bIns="0" anchor="ctr">
            <a:spAutoFit/>
          </a:bodyPr>
          <a:lstStyle/>
          <a:p>
            <a:pPr algn="ctr"/>
            <a:r>
              <a:rPr sz="1600" b="1">
                <a:solidFill>
                  <a:srgbClr val="FFFFFF"/>
                </a:solidFill>
                <a:latin typeface="Arial"/>
              </a:rPr>
              <a:t>3</a:t>
            </a:r>
          </a:p>
        </p:txBody>
      </p:sp>
      <p:pic>
        <p:nvPicPr>
          <p:cNvPr id="19" name="Picture 18" descr="siege.png"/>
          <p:cNvPicPr>
            <a:picLocks noChangeAspect="1"/>
          </p:cNvPicPr>
          <p:nvPr/>
        </p:nvPicPr>
        <p:blipFill>
          <a:blip r:embed="rId4"/>
          <a:stretch>
            <a:fillRect/>
          </a:stretch>
        </p:blipFill>
        <p:spPr>
          <a:xfrm>
            <a:off x="7320686" y="4187951"/>
            <a:ext cx="502920" cy="502920"/>
          </a:xfrm>
          <a:prstGeom prst="rect">
            <a:avLst/>
          </a:prstGeom>
        </p:spPr>
      </p:pic>
      <p:sp>
        <p:nvSpPr>
          <p:cNvPr id="20" name="TextBox 19"/>
          <p:cNvSpPr txBox="1"/>
          <p:nvPr/>
        </p:nvSpPr>
        <p:spPr>
          <a:xfrm>
            <a:off x="1422806" y="4123944"/>
            <a:ext cx="5760720" cy="640080"/>
          </a:xfrm>
          <a:prstGeom prst="rect">
            <a:avLst/>
          </a:prstGeom>
          <a:noFill/>
        </p:spPr>
        <p:txBody>
          <a:bodyPr wrap="square" lIns="0" rIns="0" tIns="0" bIns="0" anchor="ctr">
            <a:spAutoFit/>
          </a:bodyPr>
          <a:lstStyle/>
          <a:p>
            <a:pPr algn="l"/>
            <a:r>
              <a:rPr sz="1700" b="1">
                <a:solidFill>
                  <a:srgbClr val="000000"/>
                </a:solidFill>
                <a:latin typeface="Arial"/>
              </a:rPr>
              <a:t>Cabines</a:t>
            </a:r>
          </a:p>
          <a:p>
            <a:pPr algn="l"/>
            <a:r>
              <a:rPr sz="1300" b="0">
                <a:solidFill>
                  <a:srgbClr val="444444"/>
                </a:solidFill>
                <a:latin typeface="Arial"/>
              </a:rPr>
              <a:t>confort du siège et divertissement, d'abord sur les lignes affaires</a:t>
            </a:r>
          </a:p>
        </p:txBody>
      </p:sp>
      <p:sp>
        <p:nvSpPr>
          <p:cNvPr id="21" name="Rounded Rectangle 20"/>
          <p:cNvSpPr/>
          <p:nvPr/>
        </p:nvSpPr>
        <p:spPr>
          <a:xfrm>
            <a:off x="508406" y="5065776"/>
            <a:ext cx="7589520" cy="9144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2726" y="5312664"/>
            <a:ext cx="411480" cy="41148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726" y="5312664"/>
            <a:ext cx="411480" cy="411480"/>
          </a:xfrm>
          <a:prstGeom prst="rect">
            <a:avLst/>
          </a:prstGeom>
          <a:noFill/>
        </p:spPr>
        <p:txBody>
          <a:bodyPr wrap="square" lIns="0" rIns="0" tIns="0" bIns="0" anchor="ctr">
            <a:spAutoFit/>
          </a:bodyPr>
          <a:lstStyle/>
          <a:p>
            <a:pPr algn="ctr"/>
            <a:r>
              <a:rPr sz="1600" b="1">
                <a:solidFill>
                  <a:srgbClr val="000000"/>
                </a:solidFill>
                <a:latin typeface="Arial"/>
              </a:rPr>
              <a:t>–</a:t>
            </a:r>
          </a:p>
        </p:txBody>
      </p:sp>
      <p:pic>
        <p:nvPicPr>
          <p:cNvPr id="24" name="Picture 23" descr="exclu.png"/>
          <p:cNvPicPr>
            <a:picLocks noChangeAspect="1"/>
          </p:cNvPicPr>
          <p:nvPr/>
        </p:nvPicPr>
        <p:blipFill>
          <a:blip r:embed="rId5"/>
          <a:stretch>
            <a:fillRect/>
          </a:stretch>
        </p:blipFill>
        <p:spPr>
          <a:xfrm>
            <a:off x="7320686" y="5266944"/>
            <a:ext cx="502920" cy="502920"/>
          </a:xfrm>
          <a:prstGeom prst="rect">
            <a:avLst/>
          </a:prstGeom>
        </p:spPr>
      </p:pic>
      <p:sp>
        <p:nvSpPr>
          <p:cNvPr id="25" name="TextBox 24"/>
          <p:cNvSpPr txBox="1"/>
          <p:nvPr/>
        </p:nvSpPr>
        <p:spPr>
          <a:xfrm>
            <a:off x="1422806" y="5202936"/>
            <a:ext cx="5760720" cy="640080"/>
          </a:xfrm>
          <a:prstGeom prst="rect">
            <a:avLst/>
          </a:prstGeom>
          <a:noFill/>
        </p:spPr>
        <p:txBody>
          <a:bodyPr wrap="square" lIns="0" rIns="0" tIns="0" bIns="0" anchor="ctr">
            <a:spAutoFit/>
          </a:bodyPr>
          <a:lstStyle/>
          <a:p>
            <a:pPr algn="l"/>
            <a:r>
              <a:rPr sz="1700" b="1">
                <a:solidFill>
                  <a:srgbClr val="000000"/>
                </a:solidFill>
                <a:latin typeface="Arial"/>
              </a:rPr>
              <a:t>Pas de budget</a:t>
            </a:r>
          </a:p>
          <a:p>
            <a:pPr algn="l"/>
            <a:r>
              <a:rPr sz="1300" b="0">
                <a:solidFill>
                  <a:srgbClr val="444444"/>
                </a:solidFill>
                <a:latin typeface="Arial"/>
              </a:rPr>
              <a:t>pour l'emplacement des portes et les horaires, sans lien avec la satisfaction</a:t>
            </a:r>
          </a:p>
        </p:txBody>
      </p:sp>
      <p:sp>
        <p:nvSpPr>
          <p:cNvPr id="26" name="Rounded Rectangle 25"/>
          <p:cNvSpPr/>
          <p:nvPr/>
        </p:nvSpPr>
        <p:spPr>
          <a:xfrm>
            <a:off x="8417966" y="1828800"/>
            <a:ext cx="3265322" cy="4151376"/>
          </a:xfrm>
          <a:prstGeom prst="roundRect">
            <a:avLst>
              <a:gd name="adj" fmla="val 6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econtent.png"/>
          <p:cNvPicPr>
            <a:picLocks noChangeAspect="1"/>
          </p:cNvPicPr>
          <p:nvPr/>
        </p:nvPicPr>
        <p:blipFill>
          <a:blip r:embed="rId6"/>
          <a:stretch>
            <a:fillRect/>
          </a:stretch>
        </p:blipFill>
        <p:spPr>
          <a:xfrm>
            <a:off x="8783726" y="2148840"/>
            <a:ext cx="685800" cy="685800"/>
          </a:xfrm>
          <a:prstGeom prst="rect">
            <a:avLst/>
          </a:prstGeom>
        </p:spPr>
      </p:pic>
      <p:sp>
        <p:nvSpPr>
          <p:cNvPr id="28" name="TextBox 27"/>
          <p:cNvSpPr txBox="1"/>
          <p:nvPr/>
        </p:nvSpPr>
        <p:spPr>
          <a:xfrm>
            <a:off x="8783726" y="3017520"/>
            <a:ext cx="2926080" cy="822960"/>
          </a:xfrm>
          <a:prstGeom prst="rect">
            <a:avLst/>
          </a:prstGeom>
          <a:noFill/>
        </p:spPr>
        <p:txBody>
          <a:bodyPr wrap="square" lIns="0" rIns="0" tIns="0" bIns="0" anchor="t">
            <a:spAutoFit/>
          </a:bodyPr>
          <a:lstStyle/>
          <a:p>
            <a:pPr algn="l"/>
            <a:r>
              <a:rPr sz="5400" b="1">
                <a:solidFill>
                  <a:srgbClr val="000000"/>
                </a:solidFill>
                <a:latin typeface="Arial"/>
              </a:rPr>
              <a:t>470</a:t>
            </a:r>
          </a:p>
        </p:txBody>
      </p:sp>
      <p:sp>
        <p:nvSpPr>
          <p:cNvPr id="29" name="TextBox 28"/>
          <p:cNvSpPr txBox="1"/>
          <p:nvPr/>
        </p:nvSpPr>
        <p:spPr>
          <a:xfrm>
            <a:off x="8783726" y="3886200"/>
            <a:ext cx="2926080" cy="1280160"/>
          </a:xfrm>
          <a:prstGeom prst="rect">
            <a:avLst/>
          </a:prstGeom>
          <a:noFill/>
        </p:spPr>
        <p:txBody>
          <a:bodyPr wrap="square" lIns="0" rIns="0" tIns="0" bIns="0" anchor="t">
            <a:spAutoFit/>
          </a:bodyPr>
          <a:lstStyle/>
          <a:p>
            <a:pPr algn="l"/>
            <a:r>
              <a:rPr sz="1400" b="0">
                <a:solidFill>
                  <a:srgbClr val="444444"/>
                </a:solidFill>
                <a:latin typeface="Arial"/>
              </a:rPr>
              <a:t>mécontents sur 1 000 passagers ne pourront pas être abordés : seule l'amélioration du service les atteint.</a:t>
            </a:r>
          </a:p>
        </p:txBody>
      </p:sp>
      <p:sp>
        <p:nvSpPr>
          <p:cNvPr id="30" name="TextBox 29"/>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Volet 1 — Expliquer · Léa</a:t>
            </a:r>
          </a:p>
        </p:txBody>
      </p:sp>
      <p:sp>
        <p:nvSpPr>
          <p:cNvPr id="31" name="Oval 30"/>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65001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80546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96091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11636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1271808"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91848" y="6419088"/>
            <a:ext cx="91440" cy="914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Oval 1"/>
          <p:cNvSpPr/>
          <p:nvPr/>
        </p:nvSpPr>
        <p:spPr>
          <a:xfrm>
            <a:off x="508406" y="457200"/>
            <a:ext cx="164592" cy="164592"/>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7006" y="457200"/>
            <a:ext cx="164592" cy="164592"/>
          </a:xfrm>
          <a:prstGeom prst="ellipse">
            <a:avLst/>
          </a:prstGeom>
          <a:solidFill>
            <a:srgbClr val="009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5606" y="457200"/>
            <a:ext cx="164592" cy="16459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 y="777240"/>
            <a:ext cx="11174882" cy="914400"/>
          </a:xfrm>
          <a:prstGeom prst="rect">
            <a:avLst/>
          </a:prstGeom>
          <a:noFill/>
        </p:spPr>
        <p:txBody>
          <a:bodyPr wrap="square" lIns="0" rIns="0" tIns="0" bIns="0" anchor="t">
            <a:spAutoFit/>
          </a:bodyPr>
          <a:lstStyle/>
          <a:p>
            <a:pPr algn="l">
              <a:lnSpc>
                <a:spcPct val="95000"/>
              </a:lnSpc>
            </a:pPr>
            <a:r>
              <a:rPr sz="3000" b="1">
                <a:solidFill>
                  <a:srgbClr val="000000"/>
                </a:solidFill>
                <a:latin typeface="Arial"/>
              </a:rPr>
              <a:t>Ce que nous vous proposons</a:t>
            </a:r>
          </a:p>
        </p:txBody>
      </p:sp>
      <p:sp>
        <p:nvSpPr>
          <p:cNvPr id="6" name="Rounded Rectangle 5"/>
          <p:cNvSpPr/>
          <p:nvPr/>
        </p:nvSpPr>
        <p:spPr>
          <a:xfrm>
            <a:off x="508406" y="1828800"/>
            <a:ext cx="1117488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4166" y="2130552"/>
            <a:ext cx="603504" cy="603504"/>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4166" y="2130552"/>
            <a:ext cx="603504" cy="603504"/>
          </a:xfrm>
          <a:prstGeom prst="rect">
            <a:avLst/>
          </a:prstGeom>
          <a:noFill/>
        </p:spPr>
        <p:txBody>
          <a:bodyPr wrap="square" lIns="0" rIns="0" tIns="0" bIns="0" anchor="ctr">
            <a:spAutoFit/>
          </a:bodyPr>
          <a:lstStyle/>
          <a:p>
            <a:pPr algn="ctr"/>
            <a:r>
              <a:rPr sz="2400" b="1">
                <a:solidFill>
                  <a:srgbClr val="FFFFFF"/>
                </a:solidFill>
                <a:latin typeface="Arial"/>
              </a:rPr>
              <a:t>1</a:t>
            </a:r>
          </a:p>
        </p:txBody>
      </p:sp>
      <p:sp>
        <p:nvSpPr>
          <p:cNvPr id="9" name="TextBox 8"/>
          <p:cNvSpPr txBox="1"/>
          <p:nvPr/>
        </p:nvSpPr>
        <p:spPr>
          <a:xfrm>
            <a:off x="1742846" y="1993392"/>
            <a:ext cx="8778240" cy="914400"/>
          </a:xfrm>
          <a:prstGeom prst="rect">
            <a:avLst/>
          </a:prstGeom>
          <a:noFill/>
        </p:spPr>
        <p:txBody>
          <a:bodyPr wrap="square" lIns="0" rIns="0" tIns="0" bIns="0" anchor="ctr">
            <a:spAutoFit/>
          </a:bodyPr>
          <a:lstStyle/>
          <a:p>
            <a:pPr algn="l"/>
            <a:r>
              <a:rPr sz="2200" b="1">
                <a:solidFill>
                  <a:srgbClr val="000000"/>
                </a:solidFill>
                <a:latin typeface="Arial"/>
              </a:rPr>
              <a:t>Financer le parcours numérique, le wi-fi et les cabines</a:t>
            </a:r>
          </a:p>
          <a:p>
            <a:pPr algn="l"/>
            <a:r>
              <a:rPr sz="1500" b="0">
                <a:solidFill>
                  <a:srgbClr val="444444"/>
                </a:solidFill>
                <a:latin typeface="Arial"/>
              </a:rPr>
              <a:t>priorités issues de l'analyse de satisfaction</a:t>
            </a:r>
          </a:p>
        </p:txBody>
      </p:sp>
      <p:pic>
        <p:nvPicPr>
          <p:cNvPr id="10" name="Picture 9" descr="satisfait.png"/>
          <p:cNvPicPr>
            <a:picLocks noChangeAspect="1"/>
          </p:cNvPicPr>
          <p:nvPr/>
        </p:nvPicPr>
        <p:blipFill>
          <a:blip r:embed="rId2"/>
          <a:stretch>
            <a:fillRect/>
          </a:stretch>
        </p:blipFill>
        <p:spPr>
          <a:xfrm>
            <a:off x="10586008" y="2048256"/>
            <a:ext cx="777240" cy="777240"/>
          </a:xfrm>
          <a:prstGeom prst="rect">
            <a:avLst/>
          </a:prstGeom>
        </p:spPr>
      </p:pic>
      <p:sp>
        <p:nvSpPr>
          <p:cNvPr id="11" name="Rounded Rectangle 10"/>
          <p:cNvSpPr/>
          <p:nvPr/>
        </p:nvSpPr>
        <p:spPr>
          <a:xfrm>
            <a:off x="508406" y="3218688"/>
            <a:ext cx="1117488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4166" y="3520440"/>
            <a:ext cx="603504" cy="603504"/>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4166" y="3520440"/>
            <a:ext cx="603504" cy="603504"/>
          </a:xfrm>
          <a:prstGeom prst="rect">
            <a:avLst/>
          </a:prstGeom>
          <a:noFill/>
        </p:spPr>
        <p:txBody>
          <a:bodyPr wrap="square" lIns="0" rIns="0" tIns="0" bIns="0" anchor="ctr">
            <a:spAutoFit/>
          </a:bodyPr>
          <a:lstStyle/>
          <a:p>
            <a:pPr algn="ctr"/>
            <a:r>
              <a:rPr sz="2400" b="1">
                <a:solidFill>
                  <a:srgbClr val="FFFFFF"/>
                </a:solidFill>
                <a:latin typeface="Arial"/>
              </a:rPr>
              <a:t>2</a:t>
            </a:r>
          </a:p>
        </p:txBody>
      </p:sp>
      <p:sp>
        <p:nvSpPr>
          <p:cNvPr id="14" name="TextBox 13"/>
          <p:cNvSpPr txBox="1"/>
          <p:nvPr/>
        </p:nvSpPr>
        <p:spPr>
          <a:xfrm>
            <a:off x="1742846" y="3383280"/>
            <a:ext cx="8778240" cy="914400"/>
          </a:xfrm>
          <a:prstGeom prst="rect">
            <a:avLst/>
          </a:prstGeom>
          <a:noFill/>
        </p:spPr>
        <p:txBody>
          <a:bodyPr wrap="square" lIns="0" rIns="0" tIns="0" bIns="0" anchor="ctr">
            <a:spAutoFit/>
          </a:bodyPr>
          <a:lstStyle/>
          <a:p>
            <a:pPr algn="l"/>
            <a:r>
              <a:rPr sz="2200" b="1">
                <a:solidFill>
                  <a:srgbClr val="000000"/>
                </a:solidFill>
                <a:latin typeface="Arial"/>
              </a:rPr>
              <a:t>Lancer un pilote d'accueil à l'arrivée sur quelques aéroports</a:t>
            </a:r>
          </a:p>
          <a:p>
            <a:pPr algn="l"/>
            <a:r>
              <a:rPr sz="1500" b="0">
                <a:solidFill>
                  <a:srgbClr val="444444"/>
                </a:solidFill>
                <a:latin typeface="Arial"/>
              </a:rPr>
              <a:t>avec un groupe témoin non abordé, pour mesurer combien de clients reviennent vraiment</a:t>
            </a:r>
          </a:p>
        </p:txBody>
      </p:sp>
      <p:pic>
        <p:nvPicPr>
          <p:cNvPr id="15" name="Picture 14" descr="dialogue.png"/>
          <p:cNvPicPr>
            <a:picLocks noChangeAspect="1"/>
          </p:cNvPicPr>
          <p:nvPr/>
        </p:nvPicPr>
        <p:blipFill>
          <a:blip r:embed="rId3"/>
          <a:stretch>
            <a:fillRect/>
          </a:stretch>
        </p:blipFill>
        <p:spPr>
          <a:xfrm>
            <a:off x="10586008" y="3438144"/>
            <a:ext cx="777240" cy="777240"/>
          </a:xfrm>
          <a:prstGeom prst="rect">
            <a:avLst/>
          </a:prstGeom>
        </p:spPr>
      </p:pic>
      <p:sp>
        <p:nvSpPr>
          <p:cNvPr id="16" name="Rounded Rectangle 15"/>
          <p:cNvSpPr/>
          <p:nvPr/>
        </p:nvSpPr>
        <p:spPr>
          <a:xfrm>
            <a:off x="508406" y="4608576"/>
            <a:ext cx="1117488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4166" y="4910328"/>
            <a:ext cx="603504" cy="603504"/>
          </a:xfrm>
          <a:prstGeom prst="ellipse">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4166" y="4910328"/>
            <a:ext cx="603504" cy="603504"/>
          </a:xfrm>
          <a:prstGeom prst="rect">
            <a:avLst/>
          </a:prstGeom>
          <a:noFill/>
        </p:spPr>
        <p:txBody>
          <a:bodyPr wrap="square" lIns="0" rIns="0" tIns="0" bIns="0" anchor="ctr">
            <a:spAutoFit/>
          </a:bodyPr>
          <a:lstStyle/>
          <a:p>
            <a:pPr algn="ctr"/>
            <a:r>
              <a:rPr sz="2400" b="1">
                <a:solidFill>
                  <a:srgbClr val="FFFFFF"/>
                </a:solidFill>
                <a:latin typeface="Arial"/>
              </a:rPr>
              <a:t>3</a:t>
            </a:r>
          </a:p>
        </p:txBody>
      </p:sp>
      <p:sp>
        <p:nvSpPr>
          <p:cNvPr id="19" name="TextBox 18"/>
          <p:cNvSpPr txBox="1"/>
          <p:nvPr/>
        </p:nvSpPr>
        <p:spPr>
          <a:xfrm>
            <a:off x="1742846" y="4773168"/>
            <a:ext cx="8778240" cy="914400"/>
          </a:xfrm>
          <a:prstGeom prst="rect">
            <a:avLst/>
          </a:prstGeom>
          <a:noFill/>
        </p:spPr>
        <p:txBody>
          <a:bodyPr wrap="square" lIns="0" rIns="0" tIns="0" bIns="0" anchor="ctr">
            <a:spAutoFit/>
          </a:bodyPr>
          <a:lstStyle/>
          <a:p>
            <a:pPr algn="l"/>
            <a:r>
              <a:rPr sz="2200" b="1">
                <a:solidFill>
                  <a:srgbClr val="000000"/>
                </a:solidFill>
                <a:latin typeface="Arial"/>
              </a:rPr>
              <a:t>Encadrer l'usage des données avant tout déploiement</a:t>
            </a:r>
          </a:p>
          <a:p>
            <a:pPr algn="l"/>
            <a:r>
              <a:rPr sz="1500" b="0">
                <a:solidFill>
                  <a:srgbClr val="444444"/>
                </a:solidFill>
                <a:latin typeface="Arial"/>
              </a:rPr>
              <a:t>analyse d'impact, information des passagers, aucun mineur signalé, écran agent minimal</a:t>
            </a:r>
          </a:p>
        </p:txBody>
      </p:sp>
      <p:pic>
        <p:nvPicPr>
          <p:cNvPr id="20" name="Picture 19" descr="bouclier.png"/>
          <p:cNvPicPr>
            <a:picLocks noChangeAspect="1"/>
          </p:cNvPicPr>
          <p:nvPr/>
        </p:nvPicPr>
        <p:blipFill>
          <a:blip r:embed="rId4"/>
          <a:stretch>
            <a:fillRect/>
          </a:stretch>
        </p:blipFill>
        <p:spPr>
          <a:xfrm>
            <a:off x="10586008" y="4828032"/>
            <a:ext cx="777240" cy="777240"/>
          </a:xfrm>
          <a:prstGeom prst="rect">
            <a:avLst/>
          </a:prstGeom>
        </p:spPr>
      </p:pic>
      <p:sp>
        <p:nvSpPr>
          <p:cNvPr id="21" name="TextBox 20"/>
          <p:cNvSpPr txBox="1"/>
          <p:nvPr/>
        </p:nvSpPr>
        <p:spPr>
          <a:xfrm>
            <a:off x="508406" y="6327648"/>
            <a:ext cx="8229600" cy="274320"/>
          </a:xfrm>
          <a:prstGeom prst="rect">
            <a:avLst/>
          </a:prstGeom>
          <a:noFill/>
        </p:spPr>
        <p:txBody>
          <a:bodyPr wrap="square" lIns="0" rIns="0" tIns="0" bIns="0" anchor="ctr">
            <a:spAutoFit/>
          </a:bodyPr>
          <a:lstStyle/>
          <a:p>
            <a:pPr algn="l"/>
            <a:r>
              <a:rPr sz="1100" b="0">
                <a:solidFill>
                  <a:srgbClr val="8A8A8A"/>
                </a:solidFill>
                <a:latin typeface="Arial"/>
              </a:rPr>
              <a:t>Décisions demandées à la direction Expérience Client — Côme</a:t>
            </a:r>
          </a:p>
        </p:txBody>
      </p:sp>
      <p:sp>
        <p:nvSpPr>
          <p:cNvPr id="22" name="Oval 21"/>
          <p:cNvSpPr/>
          <p:nvPr/>
        </p:nvSpPr>
        <p:spPr>
          <a:xfrm>
            <a:off x="909553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5098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643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56188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1732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277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2822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8367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3912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49456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650016"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805464"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60912"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16360"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271808" y="6419088"/>
            <a:ext cx="91440" cy="9144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1427256" y="6419088"/>
            <a:ext cx="256032" cy="91440"/>
          </a:xfrm>
          <a:prstGeom prst="roundRect">
            <a:avLst>
              <a:gd name="adj" fmla="val 50000"/>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